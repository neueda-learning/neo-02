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19088"/>
            <a:ext cx="12191695" cy="54864"/>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E2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31720"/>
            <a:ext cx="10515600" cy="320040"/>
          </a:xfrm>
          <a:prstGeom prst="rect">
            <a:avLst/>
          </a:prstGeom>
          <a:noFill/>
        </p:spPr>
        <p:txBody>
          <a:bodyPr wrap="square" lIns="0" rIns="0" tIns="0" bIns="0">
            <a:spAutoFit/>
          </a:bodyPr>
          <a:lstStyle/>
          <a:p>
            <a:pPr algn="l">
              <a:lnSpc>
                <a:spcPct val="100000"/>
              </a:lnSpc>
            </a:pPr>
            <a:r>
              <a:rPr sz="1600" b="1" i="0">
                <a:solidFill>
                  <a:srgbClr val="2EA98D"/>
                </a:solidFill>
                <a:latin typeface="Calibri"/>
              </a:rPr>
              <a:t>MODULE 2 · RULE</a:t>
            </a:r>
          </a:p>
        </p:txBody>
      </p:sp>
      <p:sp>
        <p:nvSpPr>
          <p:cNvPr id="6" name="TextBox 5"/>
          <p:cNvSpPr txBox="1"/>
          <p:nvPr/>
        </p:nvSpPr>
        <p:spPr>
          <a:xfrm>
            <a:off x="822960" y="2697480"/>
            <a:ext cx="10515600" cy="914400"/>
          </a:xfrm>
          <a:prstGeom prst="rect">
            <a:avLst/>
          </a:prstGeom>
          <a:noFill/>
        </p:spPr>
        <p:txBody>
          <a:bodyPr wrap="square" lIns="0" rIns="0" tIns="0" bIns="0">
            <a:spAutoFit/>
          </a:bodyPr>
          <a:lstStyle/>
          <a:p>
            <a:pPr algn="l">
              <a:lnSpc>
                <a:spcPct val="100000"/>
              </a:lnSpc>
            </a:pPr>
            <a:r>
              <a:rPr sz="4800" b="1" i="0">
                <a:solidFill>
                  <a:srgbClr val="FFFFFF"/>
                </a:solidFill>
                <a:latin typeface="Calibri"/>
              </a:rPr>
              <a:t>Customer Policy — Use-Case Details</a:t>
            </a:r>
          </a:p>
        </p:txBody>
      </p:sp>
      <p:sp>
        <p:nvSpPr>
          <p:cNvPr id="7" name="TextBox 6"/>
          <p:cNvSpPr txBox="1"/>
          <p:nvPr/>
        </p:nvSpPr>
        <p:spPr>
          <a:xfrm>
            <a:off x="822960" y="3703320"/>
            <a:ext cx="10515600" cy="365760"/>
          </a:xfrm>
          <a:prstGeom prst="rect">
            <a:avLst/>
          </a:prstGeom>
          <a:noFill/>
        </p:spPr>
        <p:txBody>
          <a:bodyPr wrap="square" lIns="0" rIns="0" tIns="0" bIns="0">
            <a:spAutoFit/>
          </a:bodyPr>
          <a:lstStyle/>
          <a:p>
            <a:pPr algn="l">
              <a:lnSpc>
                <a:spcPct val="100000"/>
              </a:lnSpc>
            </a:pPr>
            <a:r>
              <a:rPr sz="1700" b="0" i="0">
                <a:solidFill>
                  <a:srgbClr val="C5DAD2"/>
                </a:solidFill>
                <a:latin typeface="Calibri"/>
              </a:rPr>
              <a:t>INSTRUCTOR EDITION companion — one specification + one sequence/data slide per use case</a:t>
            </a:r>
          </a:p>
        </p:txBody>
      </p:sp>
      <p:sp>
        <p:nvSpPr>
          <p:cNvPr id="8" name="TextBox 7"/>
          <p:cNvSpPr txBox="1"/>
          <p:nvPr/>
        </p:nvSpPr>
        <p:spPr>
          <a:xfrm>
            <a:off x="822960" y="5989320"/>
            <a:ext cx="10515600" cy="274320"/>
          </a:xfrm>
          <a:prstGeom prst="rect">
            <a:avLst/>
          </a:prstGeom>
          <a:noFill/>
        </p:spPr>
        <p:txBody>
          <a:bodyPr wrap="square" lIns="0" rIns="0" tIns="0" bIns="0">
            <a:spAutoFit/>
          </a:bodyPr>
          <a:lstStyle/>
          <a:p>
            <a:pPr algn="l">
              <a:lnSpc>
                <a:spcPct val="100000"/>
              </a:lnSpc>
            </a:pPr>
            <a:r>
              <a:rPr sz="1200" b="0" i="0">
                <a:solidFill>
                  <a:srgbClr val="94A9A1"/>
                </a:solidFill>
                <a:latin typeface="Calibri"/>
              </a:rPr>
              <a:t>Customer Digital Journey · neo-capstone · Module 2 of 10 · requirements v5 · use-case details · instructor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Use-case index</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two slides per use case</a:t>
            </a:r>
          </a:p>
        </p:txBody>
      </p:sp>
      <p:sp>
        <p:nvSpPr>
          <p:cNvPr id="7" name="Rectangle 6"/>
          <p:cNvSpPr/>
          <p:nvPr/>
        </p:nvSpPr>
        <p:spPr>
          <a:xfrm>
            <a:off x="548640" y="1371600"/>
            <a:ext cx="50292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FFFFFF"/>
                </a:solidFill>
                <a:latin typeface="Calibri"/>
              </a:rPr>
              <a:t>#</a:t>
            </a:r>
          </a:p>
        </p:txBody>
      </p:sp>
      <p:sp>
        <p:nvSpPr>
          <p:cNvPr id="8" name="Rectangle 7"/>
          <p:cNvSpPr/>
          <p:nvPr/>
        </p:nvSpPr>
        <p:spPr>
          <a:xfrm>
            <a:off x="1051560" y="1371600"/>
            <a:ext cx="310896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FFFFFF"/>
                </a:solidFill>
                <a:latin typeface="Calibri"/>
              </a:rPr>
              <a:t>use case</a:t>
            </a:r>
          </a:p>
        </p:txBody>
      </p:sp>
      <p:sp>
        <p:nvSpPr>
          <p:cNvPr id="9" name="Rectangle 8"/>
          <p:cNvSpPr/>
          <p:nvPr/>
        </p:nvSpPr>
        <p:spPr>
          <a:xfrm>
            <a:off x="4160520" y="1371600"/>
            <a:ext cx="246888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FFFFFF"/>
                </a:solidFill>
                <a:latin typeface="Calibri"/>
              </a:rPr>
              <a:t>primary screen</a:t>
            </a:r>
          </a:p>
        </p:txBody>
      </p:sp>
      <p:sp>
        <p:nvSpPr>
          <p:cNvPr id="10" name="Rectangle 9"/>
          <p:cNvSpPr/>
          <p:nvPr/>
        </p:nvSpPr>
        <p:spPr>
          <a:xfrm>
            <a:off x="6629400" y="1371600"/>
            <a:ext cx="219456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FFFFFF"/>
                </a:solidFill>
                <a:latin typeface="Calibri"/>
              </a:rPr>
              <a:t>build shape</a:t>
            </a:r>
          </a:p>
        </p:txBody>
      </p:sp>
      <p:sp>
        <p:nvSpPr>
          <p:cNvPr id="11" name="Rectangle 10"/>
          <p:cNvSpPr/>
          <p:nvPr/>
        </p:nvSpPr>
        <p:spPr>
          <a:xfrm>
            <a:off x="8823960" y="1371600"/>
            <a:ext cx="274320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FFFFFF"/>
                </a:solidFill>
                <a:latin typeface="Calibri"/>
              </a:rPr>
              <a:t>track · prerequisite</a:t>
            </a:r>
          </a:p>
        </p:txBody>
      </p:sp>
      <p:sp>
        <p:nvSpPr>
          <p:cNvPr id="12" name="Rectangle 11"/>
          <p:cNvSpPr/>
          <p:nvPr/>
        </p:nvSpPr>
        <p:spPr>
          <a:xfrm>
            <a:off x="548640" y="1700784"/>
            <a:ext cx="50292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00</a:t>
            </a:r>
          </a:p>
        </p:txBody>
      </p:sp>
      <p:sp>
        <p:nvSpPr>
          <p:cNvPr id="13" name="Rectangle 12"/>
          <p:cNvSpPr/>
          <p:nvPr/>
        </p:nvSpPr>
        <p:spPr>
          <a:xfrm>
            <a:off x="1051560" y="1700784"/>
            <a:ext cx="31089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Process Application</a:t>
            </a:r>
          </a:p>
        </p:txBody>
      </p:sp>
      <p:sp>
        <p:nvSpPr>
          <p:cNvPr id="14" name="Rectangle 13"/>
          <p:cNvSpPr/>
          <p:nvPr/>
        </p:nvSpPr>
        <p:spPr>
          <a:xfrm>
            <a:off x="4160520" y="1700784"/>
            <a:ext cx="246888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 feeds every screen (row visible on the board)</a:t>
            </a:r>
          </a:p>
        </p:txBody>
      </p:sp>
      <p:sp>
        <p:nvSpPr>
          <p:cNvPr id="15" name="Rectangle 14"/>
          <p:cNvSpPr/>
          <p:nvPr/>
        </p:nvSpPr>
        <p:spPr>
          <a:xfrm>
            <a:off x="6629400" y="1700784"/>
            <a:ext cx="21945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API→DB</a:t>
            </a:r>
          </a:p>
        </p:txBody>
      </p:sp>
      <p:sp>
        <p:nvSpPr>
          <p:cNvPr id="16" name="Rectangle 15"/>
          <p:cNvSpPr/>
          <p:nvPr/>
        </p:nvSpPr>
        <p:spPr>
          <a:xfrm>
            <a:off x="8823960" y="1700784"/>
            <a:ext cx="274320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B · none (foundation)</a:t>
            </a:r>
          </a:p>
        </p:txBody>
      </p:sp>
      <p:sp>
        <p:nvSpPr>
          <p:cNvPr id="17" name="Rectangle 16"/>
          <p:cNvSpPr/>
          <p:nvPr/>
        </p:nvSpPr>
        <p:spPr>
          <a:xfrm>
            <a:off x="548640" y="2084832"/>
            <a:ext cx="50292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01</a:t>
            </a:r>
          </a:p>
        </p:txBody>
      </p:sp>
      <p:sp>
        <p:nvSpPr>
          <p:cNvPr id="18" name="Rectangle 17"/>
          <p:cNvSpPr/>
          <p:nvPr/>
        </p:nvSpPr>
        <p:spPr>
          <a:xfrm>
            <a:off x="1051560" y="2084832"/>
            <a:ext cx="31089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Search Cases</a:t>
            </a:r>
          </a:p>
        </p:txBody>
      </p:sp>
      <p:sp>
        <p:nvSpPr>
          <p:cNvPr id="19" name="Rectangle 18"/>
          <p:cNvSpPr/>
          <p:nvPr/>
        </p:nvSpPr>
        <p:spPr>
          <a:xfrm>
            <a:off x="4160520" y="2084832"/>
            <a:ext cx="246888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Policy Board</a:t>
            </a:r>
          </a:p>
        </p:txBody>
      </p:sp>
      <p:sp>
        <p:nvSpPr>
          <p:cNvPr id="20" name="Rectangle 19"/>
          <p:cNvSpPr/>
          <p:nvPr/>
        </p:nvSpPr>
        <p:spPr>
          <a:xfrm>
            <a:off x="6629400" y="2084832"/>
            <a:ext cx="21945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DB→API→FE</a:t>
            </a:r>
          </a:p>
        </p:txBody>
      </p:sp>
      <p:sp>
        <p:nvSpPr>
          <p:cNvPr id="21" name="Rectangle 20"/>
          <p:cNvSpPr/>
          <p:nvPr/>
        </p:nvSpPr>
        <p:spPr>
          <a:xfrm>
            <a:off x="8823960" y="2084832"/>
            <a:ext cx="274320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A · after 00 — the rows it lists come from intake</a:t>
            </a:r>
          </a:p>
        </p:txBody>
      </p:sp>
      <p:sp>
        <p:nvSpPr>
          <p:cNvPr id="22" name="Rectangle 21"/>
          <p:cNvSpPr/>
          <p:nvPr/>
        </p:nvSpPr>
        <p:spPr>
          <a:xfrm>
            <a:off x="548640" y="2468879"/>
            <a:ext cx="50292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02</a:t>
            </a:r>
          </a:p>
        </p:txBody>
      </p:sp>
      <p:sp>
        <p:nvSpPr>
          <p:cNvPr id="23" name="Rectangle 22"/>
          <p:cNvSpPr/>
          <p:nvPr/>
        </p:nvSpPr>
        <p:spPr>
          <a:xfrm>
            <a:off x="1051560" y="2468879"/>
            <a:ext cx="31089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Review Decision</a:t>
            </a:r>
          </a:p>
        </p:txBody>
      </p:sp>
      <p:sp>
        <p:nvSpPr>
          <p:cNvPr id="24" name="Rectangle 23"/>
          <p:cNvSpPr/>
          <p:nvPr/>
        </p:nvSpPr>
        <p:spPr>
          <a:xfrm>
            <a:off x="4160520" y="2468879"/>
            <a:ext cx="246888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Decision Detail</a:t>
            </a:r>
          </a:p>
        </p:txBody>
      </p:sp>
      <p:sp>
        <p:nvSpPr>
          <p:cNvPr id="25" name="Rectangle 24"/>
          <p:cNvSpPr/>
          <p:nvPr/>
        </p:nvSpPr>
        <p:spPr>
          <a:xfrm>
            <a:off x="6629400" y="2468879"/>
            <a:ext cx="21945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API+FE (engine: DB)</a:t>
            </a:r>
          </a:p>
        </p:txBody>
      </p:sp>
      <p:sp>
        <p:nvSpPr>
          <p:cNvPr id="26" name="Rectangle 25"/>
          <p:cNvSpPr/>
          <p:nvPr/>
        </p:nvSpPr>
        <p:spPr>
          <a:xfrm>
            <a:off x="8823960" y="2468879"/>
            <a:ext cx="274320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B · after 00 + 07 — the engine decides against PolicyConfig</a:t>
            </a:r>
          </a:p>
        </p:txBody>
      </p:sp>
      <p:sp>
        <p:nvSpPr>
          <p:cNvPr id="27" name="Rectangle 26"/>
          <p:cNvSpPr/>
          <p:nvPr/>
        </p:nvSpPr>
        <p:spPr>
          <a:xfrm>
            <a:off x="548640" y="2852927"/>
            <a:ext cx="50292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03</a:t>
            </a:r>
          </a:p>
        </p:txBody>
      </p:sp>
      <p:sp>
        <p:nvSpPr>
          <p:cNvPr id="28" name="Rectangle 27"/>
          <p:cNvSpPr/>
          <p:nvPr/>
        </p:nvSpPr>
        <p:spPr>
          <a:xfrm>
            <a:off x="1051560" y="2852927"/>
            <a:ext cx="31089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View Applicant</a:t>
            </a:r>
          </a:p>
        </p:txBody>
      </p:sp>
      <p:sp>
        <p:nvSpPr>
          <p:cNvPr id="29" name="Rectangle 28"/>
          <p:cNvSpPr/>
          <p:nvPr/>
        </p:nvSpPr>
        <p:spPr>
          <a:xfrm>
            <a:off x="4160520" y="2852927"/>
            <a:ext cx="246888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Decision Detail sidebar</a:t>
            </a:r>
          </a:p>
        </p:txBody>
      </p:sp>
      <p:sp>
        <p:nvSpPr>
          <p:cNvPr id="30" name="Rectangle 29"/>
          <p:cNvSpPr/>
          <p:nvPr/>
        </p:nvSpPr>
        <p:spPr>
          <a:xfrm>
            <a:off x="6629400" y="2852927"/>
            <a:ext cx="21945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API+FE</a:t>
            </a:r>
          </a:p>
        </p:txBody>
      </p:sp>
      <p:sp>
        <p:nvSpPr>
          <p:cNvPr id="31" name="Rectangle 30"/>
          <p:cNvSpPr/>
          <p:nvPr/>
        </p:nvSpPr>
        <p:spPr>
          <a:xfrm>
            <a:off x="8823960" y="2852927"/>
            <a:ext cx="274320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 · screen shell from 02</a:t>
            </a:r>
          </a:p>
        </p:txBody>
      </p:sp>
      <p:sp>
        <p:nvSpPr>
          <p:cNvPr id="32" name="Rectangle 31"/>
          <p:cNvSpPr/>
          <p:nvPr/>
        </p:nvSpPr>
        <p:spPr>
          <a:xfrm>
            <a:off x="548640" y="3236975"/>
            <a:ext cx="50292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04</a:t>
            </a:r>
          </a:p>
        </p:txBody>
      </p:sp>
      <p:sp>
        <p:nvSpPr>
          <p:cNvPr id="33" name="Rectangle 32"/>
          <p:cNvSpPr/>
          <p:nvPr/>
        </p:nvSpPr>
        <p:spPr>
          <a:xfrm>
            <a:off x="1051560" y="3236975"/>
            <a:ext cx="31089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Work Referral Queue</a:t>
            </a:r>
          </a:p>
        </p:txBody>
      </p:sp>
      <p:sp>
        <p:nvSpPr>
          <p:cNvPr id="34" name="Rectangle 33"/>
          <p:cNvSpPr/>
          <p:nvPr/>
        </p:nvSpPr>
        <p:spPr>
          <a:xfrm>
            <a:off x="4160520" y="3236975"/>
            <a:ext cx="246888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Referral Queue</a:t>
            </a:r>
          </a:p>
        </p:txBody>
      </p:sp>
      <p:sp>
        <p:nvSpPr>
          <p:cNvPr id="35" name="Rectangle 34"/>
          <p:cNvSpPr/>
          <p:nvPr/>
        </p:nvSpPr>
        <p:spPr>
          <a:xfrm>
            <a:off x="6629400" y="3236975"/>
            <a:ext cx="21945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DB-write→API→FE</a:t>
            </a:r>
          </a:p>
        </p:txBody>
      </p:sp>
      <p:sp>
        <p:nvSpPr>
          <p:cNvPr id="36" name="Rectangle 35"/>
          <p:cNvSpPr/>
          <p:nvPr/>
        </p:nvSpPr>
        <p:spPr>
          <a:xfrm>
            <a:off x="8823960" y="3236975"/>
            <a:ext cx="274320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B · after 02 is wired</a:t>
            </a:r>
          </a:p>
        </p:txBody>
      </p:sp>
      <p:sp>
        <p:nvSpPr>
          <p:cNvPr id="37" name="Rectangle 36"/>
          <p:cNvSpPr/>
          <p:nvPr/>
        </p:nvSpPr>
        <p:spPr>
          <a:xfrm>
            <a:off x="548640" y="3621022"/>
            <a:ext cx="50292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05</a:t>
            </a:r>
          </a:p>
        </p:txBody>
      </p:sp>
      <p:sp>
        <p:nvSpPr>
          <p:cNvPr id="38" name="Rectangle 37"/>
          <p:cNvSpPr/>
          <p:nvPr/>
        </p:nvSpPr>
        <p:spPr>
          <a:xfrm>
            <a:off x="1051560" y="3621022"/>
            <a:ext cx="31089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Rejection Patterns</a:t>
            </a:r>
          </a:p>
        </p:txBody>
      </p:sp>
      <p:sp>
        <p:nvSpPr>
          <p:cNvPr id="39" name="Rectangle 38"/>
          <p:cNvSpPr/>
          <p:nvPr/>
        </p:nvSpPr>
        <p:spPr>
          <a:xfrm>
            <a:off x="4160520" y="3621022"/>
            <a:ext cx="246888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Rejection Patterns</a:t>
            </a:r>
          </a:p>
        </p:txBody>
      </p:sp>
      <p:sp>
        <p:nvSpPr>
          <p:cNvPr id="40" name="Rectangle 39"/>
          <p:cNvSpPr/>
          <p:nvPr/>
        </p:nvSpPr>
        <p:spPr>
          <a:xfrm>
            <a:off x="6629400" y="3621022"/>
            <a:ext cx="21945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API+FE</a:t>
            </a:r>
          </a:p>
        </p:txBody>
      </p:sp>
      <p:sp>
        <p:nvSpPr>
          <p:cNvPr id="41" name="Rectangle 40"/>
          <p:cNvSpPr/>
          <p:nvPr/>
        </p:nvSpPr>
        <p:spPr>
          <a:xfrm>
            <a:off x="8823960" y="3621022"/>
            <a:ext cx="274320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A · after 01</a:t>
            </a:r>
          </a:p>
        </p:txBody>
      </p:sp>
      <p:sp>
        <p:nvSpPr>
          <p:cNvPr id="42" name="Rectangle 41"/>
          <p:cNvSpPr/>
          <p:nvPr/>
        </p:nvSpPr>
        <p:spPr>
          <a:xfrm>
            <a:off x="548640" y="4005070"/>
            <a:ext cx="50292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06</a:t>
            </a:r>
          </a:p>
        </p:txBody>
      </p:sp>
      <p:sp>
        <p:nvSpPr>
          <p:cNvPr id="43" name="Rectangle 42"/>
          <p:cNvSpPr/>
          <p:nvPr/>
        </p:nvSpPr>
        <p:spPr>
          <a:xfrm>
            <a:off x="1051560" y="4005070"/>
            <a:ext cx="31089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Override Case</a:t>
            </a:r>
          </a:p>
        </p:txBody>
      </p:sp>
      <p:sp>
        <p:nvSpPr>
          <p:cNvPr id="44" name="Rectangle 43"/>
          <p:cNvSpPr/>
          <p:nvPr/>
        </p:nvSpPr>
        <p:spPr>
          <a:xfrm>
            <a:off x="4160520" y="4005070"/>
            <a:ext cx="246888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Override modal</a:t>
            </a:r>
          </a:p>
        </p:txBody>
      </p:sp>
      <p:sp>
        <p:nvSpPr>
          <p:cNvPr id="45" name="Rectangle 44"/>
          <p:cNvSpPr/>
          <p:nvPr/>
        </p:nvSpPr>
        <p:spPr>
          <a:xfrm>
            <a:off x="6629400" y="4005070"/>
            <a:ext cx="21945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DB-write→API→FE</a:t>
            </a:r>
          </a:p>
        </p:txBody>
      </p:sp>
      <p:sp>
        <p:nvSpPr>
          <p:cNvPr id="46" name="Rectangle 45"/>
          <p:cNvSpPr/>
          <p:nvPr/>
        </p:nvSpPr>
        <p:spPr>
          <a:xfrm>
            <a:off x="8823960" y="4005070"/>
            <a:ext cx="274320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B · after 02 is wired</a:t>
            </a:r>
          </a:p>
        </p:txBody>
      </p:sp>
      <p:sp>
        <p:nvSpPr>
          <p:cNvPr id="47" name="Rectangle 46"/>
          <p:cNvSpPr/>
          <p:nvPr/>
        </p:nvSpPr>
        <p:spPr>
          <a:xfrm>
            <a:off x="548640" y="4389118"/>
            <a:ext cx="50292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07</a:t>
            </a:r>
          </a:p>
        </p:txBody>
      </p:sp>
      <p:sp>
        <p:nvSpPr>
          <p:cNvPr id="48" name="Rectangle 47"/>
          <p:cNvSpPr/>
          <p:nvPr/>
        </p:nvSpPr>
        <p:spPr>
          <a:xfrm>
            <a:off x="1051560" y="4389118"/>
            <a:ext cx="31089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Edit Policy Config</a:t>
            </a:r>
          </a:p>
        </p:txBody>
      </p:sp>
      <p:sp>
        <p:nvSpPr>
          <p:cNvPr id="49" name="Rectangle 48"/>
          <p:cNvSpPr/>
          <p:nvPr/>
        </p:nvSpPr>
        <p:spPr>
          <a:xfrm>
            <a:off x="4160520" y="4389118"/>
            <a:ext cx="246888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Policy Configuration</a:t>
            </a:r>
          </a:p>
        </p:txBody>
      </p:sp>
      <p:sp>
        <p:nvSpPr>
          <p:cNvPr id="50" name="Rectangle 49"/>
          <p:cNvSpPr/>
          <p:nvPr/>
        </p:nvSpPr>
        <p:spPr>
          <a:xfrm>
            <a:off x="6629400" y="4389118"/>
            <a:ext cx="21945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DB-write→API→FE</a:t>
            </a:r>
          </a:p>
        </p:txBody>
      </p:sp>
      <p:sp>
        <p:nvSpPr>
          <p:cNvPr id="51" name="Rectangle 50"/>
          <p:cNvSpPr/>
          <p:nvPr/>
        </p:nvSpPr>
        <p:spPr>
          <a:xfrm>
            <a:off x="8823960" y="4389118"/>
            <a:ext cx="274320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C · none (independent)</a:t>
            </a:r>
          </a:p>
        </p:txBody>
      </p:sp>
      <p:sp>
        <p:nvSpPr>
          <p:cNvPr id="52" name="Rectangle 51"/>
          <p:cNvSpPr/>
          <p:nvPr/>
        </p:nvSpPr>
        <p:spPr>
          <a:xfrm>
            <a:off x="548640" y="4773166"/>
            <a:ext cx="50292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08</a:t>
            </a:r>
          </a:p>
        </p:txBody>
      </p:sp>
      <p:sp>
        <p:nvSpPr>
          <p:cNvPr id="53" name="Rectangle 52"/>
          <p:cNvSpPr/>
          <p:nvPr/>
        </p:nvSpPr>
        <p:spPr>
          <a:xfrm>
            <a:off x="1051560" y="4773166"/>
            <a:ext cx="31089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View Config History</a:t>
            </a:r>
          </a:p>
        </p:txBody>
      </p:sp>
      <p:sp>
        <p:nvSpPr>
          <p:cNvPr id="54" name="Rectangle 53"/>
          <p:cNvSpPr/>
          <p:nvPr/>
        </p:nvSpPr>
        <p:spPr>
          <a:xfrm>
            <a:off x="4160520" y="4773166"/>
            <a:ext cx="246888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Policy Configuration</a:t>
            </a:r>
          </a:p>
        </p:txBody>
      </p:sp>
      <p:sp>
        <p:nvSpPr>
          <p:cNvPr id="55" name="Rectangle 54"/>
          <p:cNvSpPr/>
          <p:nvPr/>
        </p:nvSpPr>
        <p:spPr>
          <a:xfrm>
            <a:off x="6629400" y="4773166"/>
            <a:ext cx="21945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API+FE</a:t>
            </a:r>
          </a:p>
        </p:txBody>
      </p:sp>
      <p:sp>
        <p:nvSpPr>
          <p:cNvPr id="56" name="Rectangle 55"/>
          <p:cNvSpPr/>
          <p:nvPr/>
        </p:nvSpPr>
        <p:spPr>
          <a:xfrm>
            <a:off x="8823960" y="4773166"/>
            <a:ext cx="274320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C · after 07</a:t>
            </a:r>
          </a:p>
        </p:txBody>
      </p:sp>
      <p:sp>
        <p:nvSpPr>
          <p:cNvPr id="57" name="Rectangle 56"/>
          <p:cNvSpPr/>
          <p:nvPr/>
        </p:nvSpPr>
        <p:spPr>
          <a:xfrm>
            <a:off x="548640" y="5157214"/>
            <a:ext cx="50292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B7791F"/>
                </a:solidFill>
                <a:latin typeface="Calibri"/>
              </a:rPr>
              <a:t>09</a:t>
            </a:r>
          </a:p>
        </p:txBody>
      </p:sp>
      <p:sp>
        <p:nvSpPr>
          <p:cNvPr id="58" name="Rectangle 57"/>
          <p:cNvSpPr/>
          <p:nvPr/>
        </p:nvSpPr>
        <p:spPr>
          <a:xfrm>
            <a:off x="1051560" y="5157214"/>
            <a:ext cx="31089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B7791F"/>
                </a:solidFill>
                <a:latin typeface="Calibri"/>
              </a:rPr>
              <a:t>Minimum relationship tenure — CANDIDATE</a:t>
            </a:r>
          </a:p>
        </p:txBody>
      </p:sp>
      <p:sp>
        <p:nvSpPr>
          <p:cNvPr id="59" name="Rectangle 58"/>
          <p:cNvSpPr/>
          <p:nvPr/>
        </p:nvSpPr>
        <p:spPr>
          <a:xfrm>
            <a:off x="4160520" y="5157214"/>
            <a:ext cx="246888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Decision Detail (rule 5)</a:t>
            </a:r>
          </a:p>
        </p:txBody>
      </p:sp>
      <p:sp>
        <p:nvSpPr>
          <p:cNvPr id="60" name="Rectangle 59"/>
          <p:cNvSpPr/>
          <p:nvPr/>
        </p:nvSpPr>
        <p:spPr>
          <a:xfrm>
            <a:off x="6629400" y="5157214"/>
            <a:ext cx="219456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rule engine ext.</a:t>
            </a:r>
          </a:p>
        </p:txBody>
      </p:sp>
      <p:sp>
        <p:nvSpPr>
          <p:cNvPr id="61" name="Rectangle 60"/>
          <p:cNvSpPr/>
          <p:nvPr/>
        </p:nvSpPr>
        <p:spPr>
          <a:xfrm>
            <a:off x="8823960" y="5157214"/>
            <a:ext cx="2743200" cy="38404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B · after 01–08</a:t>
            </a:r>
          </a:p>
        </p:txBody>
      </p:sp>
      <p:sp>
        <p:nvSpPr>
          <p:cNvPr id="62" name="Rectangle 61"/>
          <p:cNvSpPr/>
          <p:nvPr/>
        </p:nvSpPr>
        <p:spPr>
          <a:xfrm>
            <a:off x="548640" y="5541262"/>
            <a:ext cx="50292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B7791F"/>
                </a:solidFill>
                <a:latin typeface="Calibri"/>
              </a:rPr>
              <a:t>10</a:t>
            </a:r>
          </a:p>
        </p:txBody>
      </p:sp>
      <p:sp>
        <p:nvSpPr>
          <p:cNvPr id="63" name="Rectangle 62"/>
          <p:cNvSpPr/>
          <p:nvPr/>
        </p:nvSpPr>
        <p:spPr>
          <a:xfrm>
            <a:off x="1051560" y="5541262"/>
            <a:ext cx="31089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1" i="0">
                <a:solidFill>
                  <a:srgbClr val="B7791F"/>
                </a:solidFill>
                <a:latin typeface="Calibri"/>
              </a:rPr>
              <a:t>Marketing consent for partner products — CANDIDATE</a:t>
            </a:r>
          </a:p>
        </p:txBody>
      </p:sp>
      <p:sp>
        <p:nvSpPr>
          <p:cNvPr id="64" name="Rectangle 63"/>
          <p:cNvSpPr/>
          <p:nvPr/>
        </p:nvSpPr>
        <p:spPr>
          <a:xfrm>
            <a:off x="4160520" y="5541262"/>
            <a:ext cx="246888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Decision Detail (rule 6)</a:t>
            </a:r>
          </a:p>
        </p:txBody>
      </p:sp>
      <p:sp>
        <p:nvSpPr>
          <p:cNvPr id="65" name="Rectangle 64"/>
          <p:cNvSpPr/>
          <p:nvPr/>
        </p:nvSpPr>
        <p:spPr>
          <a:xfrm>
            <a:off x="6629400" y="5541262"/>
            <a:ext cx="219456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config field + engine branch</a:t>
            </a:r>
          </a:p>
        </p:txBody>
      </p:sp>
      <p:sp>
        <p:nvSpPr>
          <p:cNvPr id="66" name="Rectangle 65"/>
          <p:cNvSpPr/>
          <p:nvPr/>
        </p:nvSpPr>
        <p:spPr>
          <a:xfrm>
            <a:off x="8823960" y="5541262"/>
            <a:ext cx="2743200" cy="38404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50" b="0" i="0">
                <a:solidFill>
                  <a:srgbClr val="22302B"/>
                </a:solidFill>
                <a:latin typeface="Calibri"/>
              </a:rPr>
              <a:t>C · after 01–08</a:t>
            </a:r>
          </a:p>
        </p:txBody>
      </p:sp>
      <p:sp>
        <p:nvSpPr>
          <p:cNvPr id="67" name="TextBox 66"/>
          <p:cNvSpPr txBox="1"/>
          <p:nvPr/>
        </p:nvSpPr>
        <p:spPr>
          <a:xfrm>
            <a:off x="548640" y="6300216"/>
            <a:ext cx="11064240" cy="731520"/>
          </a:xfrm>
          <a:prstGeom prst="rect">
            <a:avLst/>
          </a:prstGeom>
          <a:noFill/>
        </p:spPr>
        <p:txBody>
          <a:bodyPr wrap="square" lIns="0" rIns="0" tIns="0" bIns="0">
            <a:spAutoFit/>
          </a:bodyPr>
          <a:lstStyle/>
          <a:p>
            <a:pPr algn="l">
              <a:lnSpc>
                <a:spcPct val="100000"/>
              </a:lnSpc>
            </a:pPr>
            <a:r>
              <a:rPr sz="1250" b="0" i="0">
                <a:solidFill>
                  <a:srgbClr val="5E736B"/>
                </a:solidFill>
                <a:latin typeface="Calibri"/>
              </a:rPr>
              <a:t>Every specification slide ends with the same per-use-case Definition of Done. The dependency graph, parallel tracks and state diagrams live in the main requirements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1">
                <a:solidFill>
                  <a:srgbClr val="86DFC6"/>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00</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Process Application</a:t>
            </a:r>
            <a:r>
              <a:rPr sz="1250" b="0" i="1">
                <a:solidFill>
                  <a:srgbClr val="A5BDB4"/>
                </a:solidFill>
                <a:latin typeface="Calibri"/>
              </a:rPr>
              <a:t>   —   Specification · story, contract, acceptance criteria · [API→DB] · Track B — none (foundation)</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00 of 09 · Process Application</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the orchestrator I need every execute request acknowledged immediately and recorded durably, so the journey can advance and every other use case has a row to work on.</a:t>
            </a:r>
          </a:p>
        </p:txBody>
      </p:sp>
      <p:sp>
        <p:nvSpPr>
          <p:cNvPr id="10" name="TextBox 9"/>
          <p:cNvSpPr txBox="1"/>
          <p:nvPr/>
        </p:nvSpPr>
        <p:spPr>
          <a:xfrm>
            <a:off x="548640" y="216712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423160"/>
            <a:ext cx="4846320" cy="164592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POST /api/v1/policy/execute</a:t>
            </a:r>
          </a:p>
          <a:p>
            <a:pPr algn="l">
              <a:lnSpc>
                <a:spcPct val="105000"/>
              </a:lnSpc>
            </a:pPr>
            <a:r>
              <a:rPr sz="950" b="0" i="0">
                <a:solidFill>
                  <a:srgbClr val="D8EAE2"/>
                </a:solidFill>
                <a:latin typeface="Consolas"/>
              </a:rPr>
              <a:t>{ applicationId, correlationId,</a:t>
            </a:r>
          </a:p>
          <a:p>
            <a:pPr algn="l">
              <a:lnSpc>
                <a:spcPct val="105000"/>
              </a:lnSpc>
            </a:pPr>
            <a:r>
              <a:rPr sz="950" b="0" i="0">
                <a:solidFill>
                  <a:srgbClr val="D8EAE2"/>
                </a:solidFill>
                <a:latin typeface="Consolas"/>
              </a:rPr>
              <a:t>  command: "check-policy",</a:t>
            </a:r>
          </a:p>
          <a:p>
            <a:pPr algn="l">
              <a:lnSpc>
                <a:spcPct val="105000"/>
              </a:lnSpc>
            </a:pPr>
            <a:r>
              <a:rPr sz="950" b="0" i="0">
                <a:solidFill>
                  <a:srgbClr val="D8EAE2"/>
                </a:solidFill>
                <a:latin typeface="Consolas"/>
              </a:rPr>
              <a:t>  application: { … }, outputs: { … } }</a:t>
            </a:r>
          </a:p>
          <a:p>
            <a:pPr algn="l">
              <a:lnSpc>
                <a:spcPct val="105000"/>
              </a:lnSpc>
            </a:pPr>
            <a:r>
              <a:rPr sz="950" b="0" i="0">
                <a:solidFill>
                  <a:srgbClr val="D8EAE2"/>
                </a:solidFill>
                <a:latin typeface="Consolas"/>
              </a:rPr>
              <a:t>→ 202 Accepted</a:t>
            </a:r>
          </a:p>
          <a:p>
            <a:pPr algn="l">
              <a:lnSpc>
                <a:spcPct val="105000"/>
              </a:lnSpc>
            </a:pPr>
            <a:r>
              <a:rPr sz="950" b="0" i="0">
                <a:solidFill>
                  <a:srgbClr val="D8EAE2"/>
                </a:solidFill>
                <a:latin typeface="Consolas"/>
              </a:rPr>
              <a:t>{ "status": "in-progress",</a:t>
            </a:r>
          </a:p>
          <a:p>
            <a:pPr algn="l">
              <a:lnSpc>
                <a:spcPct val="105000"/>
              </a:lnSpc>
            </a:pPr>
            <a:r>
              <a:rPr sz="950" b="0" i="0">
                <a:solidFill>
                  <a:srgbClr val="D8EAE2"/>
                </a:solidFill>
                <a:latin typeface="Consolas"/>
              </a:rPr>
              <a:t>  "applicationId": "app-1234",</a:t>
            </a:r>
          </a:p>
          <a:p>
            <a:pPr algn="l">
              <a:lnSpc>
                <a:spcPct val="105000"/>
              </a:lnSpc>
            </a:pPr>
            <a:r>
              <a:rPr sz="950" b="0" i="0">
                <a:solidFill>
                  <a:srgbClr val="D8EAE2"/>
                </a:solidFill>
                <a:latin typeface="Consolas"/>
              </a:rPr>
              <a:t>  "command": "check-policy" }</a:t>
            </a:r>
          </a:p>
        </p:txBody>
      </p:sp>
      <p:sp>
        <p:nvSpPr>
          <p:cNvPr id="12" name="TextBox 11"/>
          <p:cNvSpPr txBox="1"/>
          <p:nvPr/>
        </p:nvSpPr>
        <p:spPr>
          <a:xfrm>
            <a:off x="548640" y="414223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437997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Deciding anything (that is the engine use case, which runs off-thread AFTER this row exists); the callback content.</a:t>
            </a:r>
          </a:p>
        </p:txBody>
      </p:sp>
      <p:sp>
        <p:nvSpPr>
          <p:cNvPr id="14" name="TextBox 13"/>
          <p:cNvSpPr txBox="1"/>
          <p:nvPr/>
        </p:nvSpPr>
        <p:spPr>
          <a:xfrm>
            <a:off x="548640" y="480060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5038344"/>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Partially implemented by the template — the 202-then-callback controller is given. Your work: the durable PolicyRecord row, idempotency by applicationId, and the async hand-off. EVERY other use case depends on this one: no row, no review, no queue, no override, no report.</a:t>
            </a:r>
          </a:p>
        </p:txBody>
      </p:sp>
      <p:sp>
        <p:nvSpPr>
          <p:cNvPr id="16" name="TextBox 15"/>
          <p:cNvSpPr txBox="1"/>
          <p:nvPr/>
        </p:nvSpPr>
        <p:spPr>
          <a:xfrm>
            <a:off x="548640" y="600760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6245352"/>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Slice test: 202 shape + row inserted before the ack returns; repeated /execute → one row; malformed envelope → 400 and nothing stored.</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POST /api/v1/policy/execute with a valid envelope → 202 Accepted immediately — no rule or provider work happens on the request thread; body carries status "in-progress", the applicationId and the command.</a:t>
            </a:r>
          </a:p>
          <a:p>
            <a:pPr>
              <a:lnSpc>
                <a:spcPct val="102000"/>
              </a:lnSpc>
              <a:spcAft>
                <a:spcPts val="600"/>
              </a:spcAft>
            </a:pPr>
            <a:r>
              <a:rPr sz="1200" b="1">
                <a:solidFill>
                  <a:srgbClr val="2EA98D"/>
                </a:solidFill>
                <a:latin typeface="Calibri"/>
              </a:rPr>
              <a:t>AC2  </a:t>
            </a:r>
            <a:r>
              <a:rPr sz="1200">
                <a:solidFill>
                  <a:srgbClr val="22302B"/>
                </a:solidFill>
                <a:latin typeface="Calibri"/>
              </a:rPr>
              <a:t>Before the 202 is sent, exactly ONE PolicyRecord row exists, keyed by applicationId, in an in-progress state — a crash right after the ack loses nothing.</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AC3  </a:t>
            </a:r>
            <a:r>
              <a:rPr sz="1200">
                <a:solidFill>
                  <a:srgbClr val="22302B"/>
                </a:solidFill>
                <a:latin typeface="Calibri"/>
              </a:rPr>
              <a:t>Only the applicationId is persisted from the envelope — zero payload columns; the application object is handed to the off-thread worker, never stored.</a:t>
            </a:r>
          </a:p>
          <a:p>
            <a:pPr>
              <a:lnSpc>
                <a:spcPct val="102000"/>
              </a:lnSpc>
              <a:spcAft>
                <a:spcPts val="600"/>
              </a:spcAft>
            </a:pPr>
            <a:r>
              <a:rPr sz="1200" b="1">
                <a:solidFill>
                  <a:srgbClr val="2EA98D"/>
                </a:solidFill>
                <a:latin typeface="Calibri"/>
              </a:rPr>
              <a:t>AC4  </a:t>
            </a:r>
            <a:r>
              <a:rPr sz="1200">
                <a:solidFill>
                  <a:srgbClr val="22302B"/>
                </a:solidFill>
                <a:latin typeface="Calibri"/>
              </a:rPr>
              <a:t>Repeated /execute for the same applicationId → 202 again, still one row, no re-processing; once decided, the callback replays the stored outcome.</a:t>
            </a:r>
          </a:p>
          <a:p>
            <a:pPr>
              <a:lnSpc>
                <a:spcPct val="102000"/>
              </a:lnSpc>
              <a:spcAft>
                <a:spcPts val="600"/>
              </a:spcAft>
            </a:pPr>
            <a:r>
              <a:rPr sz="1200" b="1">
                <a:solidFill>
                  <a:srgbClr val="2EA98D"/>
                </a:solidFill>
                <a:latin typeface="Calibri"/>
              </a:rPr>
              <a:t>AC5  </a:t>
            </a:r>
            <a:r>
              <a:rPr sz="1200">
                <a:solidFill>
                  <a:srgbClr val="22302B"/>
                </a:solidFill>
                <a:latin typeface="Calibri"/>
              </a:rPr>
              <a:t>A malformed envelope (missing applicationId or command) → 400 with a JSON error body, and nothing is stored.</a:t>
            </a:r>
          </a:p>
          <a:p>
            <a:pPr>
              <a:lnSpc>
                <a:spcPct val="102000"/>
              </a:lnSpc>
              <a:spcAft>
                <a:spcPts val="600"/>
              </a:spcAft>
            </a:pPr>
            <a:r>
              <a:rPr sz="1200" b="1">
                <a:solidFill>
                  <a:srgbClr val="2EA98D"/>
                </a:solidFill>
                <a:latin typeface="Calibri"/>
              </a:rPr>
              <a:t>AC6  </a:t>
            </a:r>
            <a:r>
              <a:rPr sz="1200">
                <a:solidFill>
                  <a:srgbClr val="22302B"/>
                </a:solidFill>
                <a:latin typeface="Calibri"/>
              </a:rPr>
              <a:t>The off-thread decision starts only after the row is committed — everything in this module triggers from this row.</a:t>
            </a:r>
          </a:p>
          <a:p>
            <a:pPr>
              <a:lnSpc>
                <a:spcPct val="102000"/>
              </a:lnSpc>
              <a:spcAft>
                <a:spcPts val="600"/>
              </a:spcAft>
            </a:pPr>
            <a:r>
              <a:rPr sz="1200" b="1">
                <a:solidFill>
                  <a:srgbClr val="2EA98D"/>
                </a:solidFill>
                <a:latin typeface="Calibri"/>
              </a:rPr>
              <a:t>AC7  </a:t>
            </a:r>
            <a:r>
              <a:rPr sz="1200">
                <a:solidFill>
                  <a:srgbClr val="22302B"/>
                </a:solidFill>
                <a:latin typeface="Calibri"/>
              </a:rPr>
              <a:t>The new row is immediately visible to the search and case endpoints as an in-progress case.</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1">
                <a:solidFill>
                  <a:srgbClr val="86DFC6"/>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00</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Process Application</a:t>
            </a:r>
            <a:r>
              <a:rPr sz="1250" b="0" i="1">
                <a:solidFill>
                  <a:srgbClr val="A5BDB4"/>
                </a:solidFill>
                <a:latin typeface="Calibri"/>
              </a:rPr>
              <a:t>   —   Sequence Diagram + Data Changes · one INSERT + 202 ack</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00 · Process Application</a:t>
            </a:r>
          </a:p>
        </p:txBody>
      </p:sp>
      <p:pic>
        <p:nvPicPr>
          <p:cNvPr id="8" name="Picture 7" descr="uc-00-sequence.jpg"/>
          <p:cNvPicPr>
            <a:picLocks noChangeAspect="1"/>
          </p:cNvPicPr>
          <p:nvPr/>
        </p:nvPicPr>
        <p:blipFill>
          <a:blip r:embed="rId2"/>
          <a:stretch>
            <a:fillRect/>
          </a:stretch>
        </p:blipFill>
        <p:spPr>
          <a:xfrm>
            <a:off x="457200" y="1463040"/>
            <a:ext cx="7863840" cy="2397267"/>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INSERT one PolicyRecord row</a:t>
            </a:r>
            <a:r>
              <a:rPr sz="1100" b="0" i="0">
                <a:solidFill>
                  <a:srgbClr val="22302B"/>
                </a:solidFill>
                <a:latin typeface="Calibri"/>
              </a:rPr>
              <a:t> keyed by applicationId — the ONLY applicant data ever stored.</a:t>
            </a:r>
          </a:p>
          <a:p>
            <a:pPr algn="l">
              <a:lnSpc>
                <a:spcPct val="102000"/>
              </a:lnSpc>
              <a:spcAft>
                <a:spcPts val="700"/>
              </a:spcAft>
            </a:pPr>
            <a:r>
              <a:rPr sz="1100">
                <a:solidFill>
                  <a:srgbClr val="22302B"/>
                </a:solidFill>
                <a:latin typeface="Calibri"/>
              </a:rPr>
              <a:t>•  </a:t>
            </a:r>
            <a:r>
              <a:rPr sz="1100" b="0" i="0">
                <a:solidFill>
                  <a:srgbClr val="22302B"/>
                </a:solidFill>
                <a:latin typeface="Calibri"/>
              </a:rPr>
              <a:t>The row starts in-progress; every later use case UPDATEs or reads this same row.</a:t>
            </a:r>
          </a:p>
          <a:p>
            <a:pPr algn="l">
              <a:lnSpc>
                <a:spcPct val="102000"/>
              </a:lnSpc>
              <a:spcAft>
                <a:spcPts val="700"/>
              </a:spcAft>
            </a:pPr>
            <a:r>
              <a:rPr sz="1100">
                <a:solidFill>
                  <a:srgbClr val="22302B"/>
                </a:solidFill>
                <a:latin typeface="Calibri"/>
              </a:rPr>
              <a:t>•  </a:t>
            </a:r>
            <a:r>
              <a:rPr sz="1100" b="0" i="0">
                <a:solidFill>
                  <a:srgbClr val="22302B"/>
                </a:solidFill>
                <a:latin typeface="Calibri"/>
              </a:rPr>
              <a:t>Idempotency = the unique key on applicationId; the trigger point = the commit.</a:t>
            </a:r>
          </a:p>
        </p:txBody>
      </p:sp>
      <p:sp>
        <p:nvSpPr>
          <p:cNvPr id="12" name="TextBox 11"/>
          <p:cNvSpPr txBox="1"/>
          <p:nvPr/>
        </p:nvSpPr>
        <p:spPr>
          <a:xfrm>
            <a:off x="548640" y="6108192"/>
            <a:ext cx="7589520" cy="548640"/>
          </a:xfrm>
          <a:prstGeom prst="rect">
            <a:avLst/>
          </a:prstGeom>
          <a:noFill/>
        </p:spPr>
        <p:txBody>
          <a:bodyPr wrap="square" lIns="0" rIns="0" tIns="0" bIns="0">
            <a:spAutoFit/>
          </a:bodyPr>
          <a:lstStyle/>
          <a:p>
            <a:pPr algn="l">
              <a:lnSpc>
                <a:spcPct val="100000"/>
              </a:lnSpc>
            </a:pPr>
            <a:r>
              <a:rPr sz="1050" b="0" i="1">
                <a:solidFill>
                  <a:srgbClr val="5E736B"/>
                </a:solidFill>
                <a:latin typeface="Calibri"/>
              </a:rPr>
              <a:t>The ack never waits for a decision — the row is the hand-off point between the request thread and the worker that does the real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1">
                <a:solidFill>
                  <a:srgbClr val="86DFC6"/>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00</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Process Application</a:t>
            </a:r>
            <a:r>
              <a:rPr sz="1250" b="0" i="1">
                <a:solidFill>
                  <a:srgbClr val="A5BDB4"/>
                </a:solidFill>
                <a:latin typeface="Calibri"/>
              </a:rPr>
              <a:t>   —   The Application entity — every field that arrives in the API (1/2)</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00 · the whole Application arrives in the envelope; fields this module reads are marked ● · payload NEVER stored</a:t>
            </a:r>
          </a:p>
        </p:txBody>
      </p:sp>
      <p:sp>
        <p:nvSpPr>
          <p:cNvPr id="8" name="Rectangle 7"/>
          <p:cNvSpPr/>
          <p:nvPr/>
        </p:nvSpPr>
        <p:spPr>
          <a:xfrm>
            <a:off x="548640" y="1371600"/>
            <a:ext cx="3017520" cy="310896"/>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field</a:t>
            </a:r>
          </a:p>
        </p:txBody>
      </p:sp>
      <p:sp>
        <p:nvSpPr>
          <p:cNvPr id="9" name="Rectangle 8"/>
          <p:cNvSpPr/>
          <p:nvPr/>
        </p:nvSpPr>
        <p:spPr>
          <a:xfrm>
            <a:off x="3566160" y="1371600"/>
            <a:ext cx="1920240" cy="310896"/>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example</a:t>
            </a:r>
          </a:p>
        </p:txBody>
      </p:sp>
      <p:sp>
        <p:nvSpPr>
          <p:cNvPr id="10" name="Rectangle 9"/>
          <p:cNvSpPr/>
          <p:nvPr/>
        </p:nvSpPr>
        <p:spPr>
          <a:xfrm>
            <a:off x="5486400" y="1371600"/>
            <a:ext cx="6629400" cy="310896"/>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meaning</a:t>
            </a:r>
          </a:p>
        </p:txBody>
      </p:sp>
      <p:sp>
        <p:nvSpPr>
          <p:cNvPr id="11" name="Rectangle 10"/>
          <p:cNvSpPr/>
          <p:nvPr/>
        </p:nvSpPr>
        <p:spPr>
          <a:xfrm>
            <a:off x="548640" y="16824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22302B"/>
                </a:solidFill>
                <a:latin typeface="Calibri"/>
              </a:rPr>
              <a:t>● applicationId</a:t>
            </a:r>
          </a:p>
        </p:txBody>
      </p:sp>
      <p:sp>
        <p:nvSpPr>
          <p:cNvPr id="12" name="Rectangle 11"/>
          <p:cNvSpPr/>
          <p:nvPr/>
        </p:nvSpPr>
        <p:spPr>
          <a:xfrm>
            <a:off x="3566160" y="16824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app-1234</a:t>
            </a:r>
          </a:p>
        </p:txBody>
      </p:sp>
      <p:sp>
        <p:nvSpPr>
          <p:cNvPr id="13" name="Rectangle 12"/>
          <p:cNvSpPr/>
          <p:nvPr/>
        </p:nvSpPr>
        <p:spPr>
          <a:xfrm>
            <a:off x="5486400" y="16824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journey key — every record this module stores is keyed by it, and the registry read quotes it in its audit trail</a:t>
            </a:r>
          </a:p>
        </p:txBody>
      </p:sp>
      <p:sp>
        <p:nvSpPr>
          <p:cNvPr id="14" name="Rectangle 13"/>
          <p:cNvSpPr/>
          <p:nvPr/>
        </p:nvSpPr>
        <p:spPr>
          <a:xfrm>
            <a:off x="548640" y="21396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channel</a:t>
            </a:r>
          </a:p>
        </p:txBody>
      </p:sp>
      <p:sp>
        <p:nvSpPr>
          <p:cNvPr id="15" name="Rectangle 14"/>
          <p:cNvSpPr/>
          <p:nvPr/>
        </p:nvSpPr>
        <p:spPr>
          <a:xfrm>
            <a:off x="3566160" y="21396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MOBILE_APP</a:t>
            </a:r>
          </a:p>
        </p:txBody>
      </p:sp>
      <p:sp>
        <p:nvSpPr>
          <p:cNvPr id="16" name="Rectangle 15"/>
          <p:cNvSpPr/>
          <p:nvPr/>
        </p:nvSpPr>
        <p:spPr>
          <a:xfrm>
            <a:off x="5486400" y="21396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where the application was made — module 1's channel-eligibility input, not policy's business</a:t>
            </a:r>
          </a:p>
        </p:txBody>
      </p:sp>
      <p:sp>
        <p:nvSpPr>
          <p:cNvPr id="17" name="Rectangle 16"/>
          <p:cNvSpPr/>
          <p:nvPr/>
        </p:nvSpPr>
        <p:spPr>
          <a:xfrm>
            <a:off x="548640" y="25968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submittedAt</a:t>
            </a:r>
          </a:p>
        </p:txBody>
      </p:sp>
      <p:sp>
        <p:nvSpPr>
          <p:cNvPr id="18" name="Rectangle 17"/>
          <p:cNvSpPr/>
          <p:nvPr/>
        </p:nvSpPr>
        <p:spPr>
          <a:xfrm>
            <a:off x="3566160" y="25968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2026-07-21T21:40:00Z</a:t>
            </a:r>
          </a:p>
        </p:txBody>
      </p:sp>
      <p:sp>
        <p:nvSpPr>
          <p:cNvPr id="19" name="Rectangle 18"/>
          <p:cNvSpPr/>
          <p:nvPr/>
        </p:nvSpPr>
        <p:spPr>
          <a:xfrm>
            <a:off x="5486400" y="25968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when the customer submitted — timestamps always UTC</a:t>
            </a:r>
          </a:p>
        </p:txBody>
      </p:sp>
      <p:sp>
        <p:nvSpPr>
          <p:cNvPr id="20" name="Rectangle 19"/>
          <p:cNvSpPr/>
          <p:nvPr/>
        </p:nvSpPr>
        <p:spPr>
          <a:xfrm>
            <a:off x="548640" y="30540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22302B"/>
                </a:solidFill>
                <a:latin typeface="Calibri"/>
              </a:rPr>
              <a:t>● applicant.fullName</a:t>
            </a:r>
          </a:p>
        </p:txBody>
      </p:sp>
      <p:sp>
        <p:nvSpPr>
          <p:cNvPr id="21" name="Rectangle 20"/>
          <p:cNvSpPr/>
          <p:nvPr/>
        </p:nvSpPr>
        <p:spPr>
          <a:xfrm>
            <a:off x="3566160" y="30540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Maria Nowak</a:t>
            </a:r>
          </a:p>
        </p:txBody>
      </p:sp>
      <p:sp>
        <p:nvSpPr>
          <p:cNvPr id="22" name="Rectangle 21"/>
          <p:cNvSpPr/>
          <p:nvPr/>
        </p:nvSpPr>
        <p:spPr>
          <a:xfrm>
            <a:off x="5486400" y="30540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rule 1: registry lookup key (with DOB) · rule 3: exact match against the restriction list, normalised the same way</a:t>
            </a:r>
          </a:p>
        </p:txBody>
      </p:sp>
      <p:sp>
        <p:nvSpPr>
          <p:cNvPr id="23" name="Rectangle 22"/>
          <p:cNvSpPr/>
          <p:nvPr/>
        </p:nvSpPr>
        <p:spPr>
          <a:xfrm>
            <a:off x="548640" y="35112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22302B"/>
                </a:solidFill>
                <a:latin typeface="Calibri"/>
              </a:rPr>
              <a:t>● applicant.dateOfBirth</a:t>
            </a:r>
          </a:p>
        </p:txBody>
      </p:sp>
      <p:sp>
        <p:nvSpPr>
          <p:cNvPr id="24" name="Rectangle 23"/>
          <p:cNvSpPr/>
          <p:nvPr/>
        </p:nvSpPr>
        <p:spPr>
          <a:xfrm>
            <a:off x="3566160" y="35112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1996-04-11</a:t>
            </a:r>
          </a:p>
        </p:txBody>
      </p:sp>
      <p:sp>
        <p:nvSpPr>
          <p:cNvPr id="25" name="Rectangle 24"/>
          <p:cNvSpPr/>
          <p:nvPr/>
        </p:nvSpPr>
        <p:spPr>
          <a:xfrm>
            <a:off x="5486400" y="35112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rule 1 + rule 3: the second half of both lookups — names collide, name+DOB almost never does</a:t>
            </a:r>
          </a:p>
        </p:txBody>
      </p:sp>
      <p:sp>
        <p:nvSpPr>
          <p:cNvPr id="26" name="Rectangle 25"/>
          <p:cNvSpPr/>
          <p:nvPr/>
        </p:nvSpPr>
        <p:spPr>
          <a:xfrm>
            <a:off x="548640" y="39684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applicant.email / mobile</a:t>
            </a:r>
          </a:p>
        </p:txBody>
      </p:sp>
      <p:sp>
        <p:nvSpPr>
          <p:cNvPr id="27" name="Rectangle 26"/>
          <p:cNvSpPr/>
          <p:nvPr/>
        </p:nvSpPr>
        <p:spPr>
          <a:xfrm>
            <a:off x="3566160" y="39684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maria@…  +4477…</a:t>
            </a:r>
          </a:p>
        </p:txBody>
      </p:sp>
      <p:sp>
        <p:nvSpPr>
          <p:cNvPr id="28" name="Rectangle 27"/>
          <p:cNvSpPr/>
          <p:nvPr/>
        </p:nvSpPr>
        <p:spPr>
          <a:xfrm>
            <a:off x="5486400" y="39684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contact detail for module 6's agreement — policy never touches it</a:t>
            </a:r>
          </a:p>
        </p:txBody>
      </p:sp>
      <p:sp>
        <p:nvSpPr>
          <p:cNvPr id="29" name="Rectangle 28"/>
          <p:cNvSpPr/>
          <p:nvPr/>
        </p:nvSpPr>
        <p:spPr>
          <a:xfrm>
            <a:off x="548640" y="44256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applicant.nationality</a:t>
            </a:r>
          </a:p>
        </p:txBody>
      </p:sp>
      <p:sp>
        <p:nvSpPr>
          <p:cNvPr id="30" name="Rectangle 29"/>
          <p:cNvSpPr/>
          <p:nvPr/>
        </p:nvSpPr>
        <p:spPr>
          <a:xfrm>
            <a:off x="3566160" y="44256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PL</a:t>
            </a:r>
          </a:p>
        </p:txBody>
      </p:sp>
      <p:sp>
        <p:nvSpPr>
          <p:cNvPr id="31" name="Rectangle 30"/>
          <p:cNvSpPr/>
          <p:nvPr/>
        </p:nvSpPr>
        <p:spPr>
          <a:xfrm>
            <a:off x="5486400" y="44256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3 cross-checks the identity document — NOT a policy input: residency is about tax, not passports</a:t>
            </a:r>
          </a:p>
        </p:txBody>
      </p:sp>
      <p:sp>
        <p:nvSpPr>
          <p:cNvPr id="32" name="Rectangle 31"/>
          <p:cNvSpPr/>
          <p:nvPr/>
        </p:nvSpPr>
        <p:spPr>
          <a:xfrm>
            <a:off x="548640" y="48828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applicant.countryOfResidence</a:t>
            </a:r>
          </a:p>
        </p:txBody>
      </p:sp>
      <p:sp>
        <p:nvSpPr>
          <p:cNvPr id="33" name="Rectangle 32"/>
          <p:cNvSpPr/>
          <p:nvPr/>
        </p:nvSpPr>
        <p:spPr>
          <a:xfrm>
            <a:off x="3566160" y="48828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GB</a:t>
            </a:r>
          </a:p>
        </p:txBody>
      </p:sp>
      <p:sp>
        <p:nvSpPr>
          <p:cNvPr id="34" name="Rectangle 33"/>
          <p:cNvSpPr/>
          <p:nvPr/>
        </p:nvSpPr>
        <p:spPr>
          <a:xfrm>
            <a:off x="5486400" y="48828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4's jurisdiction-risk input — deliberately not read here; tax residency is the policy fact</a:t>
            </a:r>
          </a:p>
        </p:txBody>
      </p:sp>
      <p:sp>
        <p:nvSpPr>
          <p:cNvPr id="35" name="Rectangle 34"/>
          <p:cNvSpPr/>
          <p:nvPr/>
        </p:nvSpPr>
        <p:spPr>
          <a:xfrm>
            <a:off x="548640" y="53400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22302B"/>
                </a:solidFill>
                <a:latin typeface="Calibri"/>
              </a:rPr>
              <a:t>● applicant.taxResidencies</a:t>
            </a:r>
          </a:p>
        </p:txBody>
      </p:sp>
      <p:sp>
        <p:nvSpPr>
          <p:cNvPr id="36" name="Rectangle 35"/>
          <p:cNvSpPr/>
          <p:nvPr/>
        </p:nvSpPr>
        <p:spPr>
          <a:xfrm>
            <a:off x="3566160" y="53400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["GB"]</a:t>
            </a:r>
          </a:p>
        </p:txBody>
      </p:sp>
      <p:sp>
        <p:nvSpPr>
          <p:cNvPr id="37" name="Rectangle 36"/>
          <p:cNvSpPr/>
          <p:nvPr/>
        </p:nvSpPr>
        <p:spPr>
          <a:xfrm>
            <a:off x="5486400" y="53400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rule 2's whole input: at least one on the supported list, none on the excluded list — an exclusion wins</a:t>
            </a:r>
          </a:p>
        </p:txBody>
      </p:sp>
      <p:sp>
        <p:nvSpPr>
          <p:cNvPr id="38" name="Rectangle 37"/>
          <p:cNvSpPr/>
          <p:nvPr/>
        </p:nvSpPr>
        <p:spPr>
          <a:xfrm>
            <a:off x="548640" y="57972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applicant.currentAddress</a:t>
            </a:r>
          </a:p>
        </p:txBody>
      </p:sp>
      <p:sp>
        <p:nvSpPr>
          <p:cNvPr id="39" name="Rectangle 38"/>
          <p:cNvSpPr/>
          <p:nvPr/>
        </p:nvSpPr>
        <p:spPr>
          <a:xfrm>
            <a:off x="3566160" y="57972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42 Hanbury St, E1 5JP</a:t>
            </a:r>
          </a:p>
        </p:txBody>
      </p:sp>
      <p:sp>
        <p:nvSpPr>
          <p:cNvPr id="40" name="Rectangle 39"/>
          <p:cNvSpPr/>
          <p:nvPr/>
        </p:nvSpPr>
        <p:spPr>
          <a:xfrm>
            <a:off x="5486400" y="57972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8 posts the card here — policy ignores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1">
                <a:solidFill>
                  <a:srgbClr val="86DFC6"/>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00</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Process Application</a:t>
            </a:r>
            <a:r>
              <a:rPr sz="1250" b="0" i="1">
                <a:solidFill>
                  <a:srgbClr val="A5BDB4"/>
                </a:solidFill>
                <a:latin typeface="Calibri"/>
              </a:rPr>
              <a:t>   —   The Application entity — every field that arrives in the API (2/2)</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00 · the whole Application arrives in the envelope; fields this module reads are marked ● · payload NEVER stored</a:t>
            </a:r>
          </a:p>
        </p:txBody>
      </p:sp>
      <p:sp>
        <p:nvSpPr>
          <p:cNvPr id="8" name="Rectangle 7"/>
          <p:cNvSpPr/>
          <p:nvPr/>
        </p:nvSpPr>
        <p:spPr>
          <a:xfrm>
            <a:off x="548640" y="1371600"/>
            <a:ext cx="3017520" cy="310896"/>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field</a:t>
            </a:r>
          </a:p>
        </p:txBody>
      </p:sp>
      <p:sp>
        <p:nvSpPr>
          <p:cNvPr id="9" name="Rectangle 8"/>
          <p:cNvSpPr/>
          <p:nvPr/>
        </p:nvSpPr>
        <p:spPr>
          <a:xfrm>
            <a:off x="3566160" y="1371600"/>
            <a:ext cx="1920240" cy="310896"/>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example</a:t>
            </a:r>
          </a:p>
        </p:txBody>
      </p:sp>
      <p:sp>
        <p:nvSpPr>
          <p:cNvPr id="10" name="Rectangle 9"/>
          <p:cNvSpPr/>
          <p:nvPr/>
        </p:nvSpPr>
        <p:spPr>
          <a:xfrm>
            <a:off x="5486400" y="1371600"/>
            <a:ext cx="6629400" cy="310896"/>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meaning</a:t>
            </a:r>
          </a:p>
        </p:txBody>
      </p:sp>
      <p:sp>
        <p:nvSpPr>
          <p:cNvPr id="11" name="Rectangle 10"/>
          <p:cNvSpPr/>
          <p:nvPr/>
        </p:nvSpPr>
        <p:spPr>
          <a:xfrm>
            <a:off x="548640" y="16824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identityDocument.*</a:t>
            </a:r>
          </a:p>
        </p:txBody>
      </p:sp>
      <p:sp>
        <p:nvSpPr>
          <p:cNvPr id="12" name="Rectangle 11"/>
          <p:cNvSpPr/>
          <p:nvPr/>
        </p:nvSpPr>
        <p:spPr>
          <a:xfrm>
            <a:off x="3566160" y="16824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PASSPORT · ZS1234567</a:t>
            </a:r>
          </a:p>
        </p:txBody>
      </p:sp>
      <p:sp>
        <p:nvSpPr>
          <p:cNvPr id="13" name="Rectangle 12"/>
          <p:cNvSpPr/>
          <p:nvPr/>
        </p:nvSpPr>
        <p:spPr>
          <a:xfrm>
            <a:off x="5486400" y="16824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3 sends it to the identity provider — not policy's job</a:t>
            </a:r>
          </a:p>
        </p:txBody>
      </p:sp>
      <p:sp>
        <p:nvSpPr>
          <p:cNvPr id="14" name="Rectangle 13"/>
          <p:cNvSpPr/>
          <p:nvPr/>
        </p:nvSpPr>
        <p:spPr>
          <a:xfrm>
            <a:off x="548640" y="21396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employment.status / employerName / months</a:t>
            </a:r>
          </a:p>
        </p:txBody>
      </p:sp>
      <p:sp>
        <p:nvSpPr>
          <p:cNvPr id="15" name="Rectangle 14"/>
          <p:cNvSpPr/>
          <p:nvPr/>
        </p:nvSpPr>
        <p:spPr>
          <a:xfrm>
            <a:off x="3566160" y="21396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PERMANENT · 11</a:t>
            </a:r>
          </a:p>
        </p:txBody>
      </p:sp>
      <p:sp>
        <p:nvSpPr>
          <p:cNvPr id="16" name="Rectangle 15"/>
          <p:cNvSpPr/>
          <p:nvPr/>
        </p:nvSpPr>
        <p:spPr>
          <a:xfrm>
            <a:off x="5486400" y="21396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5's affordability inputs — policy decides relationship, not repayment</a:t>
            </a:r>
          </a:p>
        </p:txBody>
      </p:sp>
      <p:sp>
        <p:nvSpPr>
          <p:cNvPr id="17" name="Rectangle 16"/>
          <p:cNvSpPr/>
          <p:nvPr/>
        </p:nvSpPr>
        <p:spPr>
          <a:xfrm>
            <a:off x="548640" y="25968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finances.annualIncome</a:t>
            </a:r>
          </a:p>
        </p:txBody>
      </p:sp>
      <p:sp>
        <p:nvSpPr>
          <p:cNvPr id="18" name="Rectangle 17"/>
          <p:cNvSpPr/>
          <p:nvPr/>
        </p:nvSpPr>
        <p:spPr>
          <a:xfrm>
            <a:off x="3566160" y="25968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34000</a:t>
            </a:r>
          </a:p>
        </p:txBody>
      </p:sp>
      <p:sp>
        <p:nvSpPr>
          <p:cNvPr id="19" name="Rectangle 18"/>
          <p:cNvSpPr/>
          <p:nvPr/>
        </p:nvSpPr>
        <p:spPr>
          <a:xfrm>
            <a:off x="5486400" y="25968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5 decides the limit from it — no policy rule reads money</a:t>
            </a:r>
          </a:p>
        </p:txBody>
      </p:sp>
      <p:sp>
        <p:nvSpPr>
          <p:cNvPr id="20" name="Rectangle 19"/>
          <p:cNvSpPr/>
          <p:nvPr/>
        </p:nvSpPr>
        <p:spPr>
          <a:xfrm>
            <a:off x="548640" y="30540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finances.monthlyHousingCost / existingCreditCommitments</a:t>
            </a:r>
          </a:p>
        </p:txBody>
      </p:sp>
      <p:sp>
        <p:nvSpPr>
          <p:cNvPr id="21" name="Rectangle 20"/>
          <p:cNvSpPr/>
          <p:nvPr/>
        </p:nvSpPr>
        <p:spPr>
          <a:xfrm>
            <a:off x="3566160" y="30540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1000 · 180</a:t>
            </a:r>
          </a:p>
        </p:txBody>
      </p:sp>
      <p:sp>
        <p:nvSpPr>
          <p:cNvPr id="22" name="Rectangle 21"/>
          <p:cNvSpPr/>
          <p:nvPr/>
        </p:nvSpPr>
        <p:spPr>
          <a:xfrm>
            <a:off x="5486400" y="30540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5's DTI calculation — ignored here</a:t>
            </a:r>
          </a:p>
        </p:txBody>
      </p:sp>
      <p:sp>
        <p:nvSpPr>
          <p:cNvPr id="23" name="Rectangle 22"/>
          <p:cNvSpPr/>
          <p:nvPr/>
        </p:nvSpPr>
        <p:spPr>
          <a:xfrm>
            <a:off x="548640" y="35112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product.productCode</a:t>
            </a:r>
          </a:p>
        </p:txBody>
      </p:sp>
      <p:sp>
        <p:nvSpPr>
          <p:cNvPr id="24" name="Rectangle 23"/>
          <p:cNvSpPr/>
          <p:nvPr/>
        </p:nvSpPr>
        <p:spPr>
          <a:xfrm>
            <a:off x="3566160" y="35112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CREDIT_CARD_REWARDS</a:t>
            </a:r>
          </a:p>
        </p:txBody>
      </p:sp>
      <p:sp>
        <p:nvSpPr>
          <p:cNvPr id="25" name="Rectangle 24"/>
          <p:cNvSpPr/>
          <p:nvPr/>
        </p:nvSpPr>
        <p:spPr>
          <a:xfrm>
            <a:off x="5486400" y="35112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1 checks it is on sale · rule 1 rejects on ANY product held, so policy does not even read which one is requested — candidate 10 (partner products) would change that</a:t>
            </a:r>
          </a:p>
        </p:txBody>
      </p:sp>
      <p:sp>
        <p:nvSpPr>
          <p:cNvPr id="26" name="Rectangle 25"/>
          <p:cNvSpPr/>
          <p:nvPr/>
        </p:nvSpPr>
        <p:spPr>
          <a:xfrm>
            <a:off x="548640" y="39684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product.requestedCreditLimit</a:t>
            </a:r>
          </a:p>
        </p:txBody>
      </p:sp>
      <p:sp>
        <p:nvSpPr>
          <p:cNvPr id="27" name="Rectangle 26"/>
          <p:cNvSpPr/>
          <p:nvPr/>
        </p:nvSpPr>
        <p:spPr>
          <a:xfrm>
            <a:off x="3566160" y="39684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3000</a:t>
            </a:r>
          </a:p>
        </p:txBody>
      </p:sp>
      <p:sp>
        <p:nvSpPr>
          <p:cNvPr id="28" name="Rectangle 27"/>
          <p:cNvSpPr/>
          <p:nvPr/>
        </p:nvSpPr>
        <p:spPr>
          <a:xfrm>
            <a:off x="5486400" y="39684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5 caps against it — policy has no opinion on amounts</a:t>
            </a:r>
          </a:p>
        </p:txBody>
      </p:sp>
      <p:sp>
        <p:nvSpPr>
          <p:cNvPr id="29" name="Rectangle 28"/>
          <p:cNvSpPr/>
          <p:nvPr/>
        </p:nvSpPr>
        <p:spPr>
          <a:xfrm>
            <a:off x="548640" y="44256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delivery.useCurrentAddress / address</a:t>
            </a:r>
          </a:p>
        </p:txBody>
      </p:sp>
      <p:sp>
        <p:nvSpPr>
          <p:cNvPr id="30" name="Rectangle 29"/>
          <p:cNvSpPr/>
          <p:nvPr/>
        </p:nvSpPr>
        <p:spPr>
          <a:xfrm>
            <a:off x="3566160" y="44256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true · null</a:t>
            </a:r>
          </a:p>
        </p:txBody>
      </p:sp>
      <p:sp>
        <p:nvSpPr>
          <p:cNvPr id="31" name="Rectangle 30"/>
          <p:cNvSpPr/>
          <p:nvPr/>
        </p:nvSpPr>
        <p:spPr>
          <a:xfrm>
            <a:off x="5486400" y="44256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8's delivery decision — ignored here</a:t>
            </a:r>
          </a:p>
        </p:txBody>
      </p:sp>
      <p:sp>
        <p:nvSpPr>
          <p:cNvPr id="32" name="Rectangle 31"/>
          <p:cNvSpPr/>
          <p:nvPr/>
        </p:nvSpPr>
        <p:spPr>
          <a:xfrm>
            <a:off x="548640" y="48828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consents.termsAccepted</a:t>
            </a:r>
          </a:p>
        </p:txBody>
      </p:sp>
      <p:sp>
        <p:nvSpPr>
          <p:cNvPr id="33" name="Rectangle 32"/>
          <p:cNvSpPr/>
          <p:nvPr/>
        </p:nvSpPr>
        <p:spPr>
          <a:xfrm>
            <a:off x="3566160" y="48828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true</a:t>
            </a:r>
          </a:p>
        </p:txBody>
      </p:sp>
      <p:sp>
        <p:nvSpPr>
          <p:cNvPr id="34" name="Rectangle 33"/>
          <p:cNvSpPr/>
          <p:nvPr/>
        </p:nvSpPr>
        <p:spPr>
          <a:xfrm>
            <a:off x="5486400" y="48828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module 1 enforces it, module 6 re-reads it — policy assumes it arrived true</a:t>
            </a:r>
          </a:p>
        </p:txBody>
      </p:sp>
      <p:sp>
        <p:nvSpPr>
          <p:cNvPr id="35" name="Rectangle 34"/>
          <p:cNvSpPr/>
          <p:nvPr/>
        </p:nvSpPr>
        <p:spPr>
          <a:xfrm>
            <a:off x="548640" y="5340096"/>
            <a:ext cx="301752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consents.paperless / marketingConsent</a:t>
            </a:r>
          </a:p>
        </p:txBody>
      </p:sp>
      <p:sp>
        <p:nvSpPr>
          <p:cNvPr id="36" name="Rectangle 35"/>
          <p:cNvSpPr/>
          <p:nvPr/>
        </p:nvSpPr>
        <p:spPr>
          <a:xfrm>
            <a:off x="3566160" y="5340096"/>
            <a:ext cx="192024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true · false</a:t>
            </a:r>
          </a:p>
        </p:txBody>
      </p:sp>
      <p:sp>
        <p:nvSpPr>
          <p:cNvPr id="37" name="Rectangle 36"/>
          <p:cNvSpPr/>
          <p:nvPr/>
        </p:nvSpPr>
        <p:spPr>
          <a:xfrm>
            <a:off x="5486400" y="5340096"/>
            <a:ext cx="6629400" cy="457200"/>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marketingConsent is candidate 10's input — partner products need consent to share data with the partner; not read by any locked rule</a:t>
            </a:r>
          </a:p>
        </p:txBody>
      </p:sp>
      <p:sp>
        <p:nvSpPr>
          <p:cNvPr id="38" name="Rectangle 37"/>
          <p:cNvSpPr/>
          <p:nvPr/>
        </p:nvSpPr>
        <p:spPr>
          <a:xfrm>
            <a:off x="548640" y="5797296"/>
            <a:ext cx="301752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outputs  (v5 · Option A)</a:t>
            </a:r>
          </a:p>
        </p:txBody>
      </p:sp>
      <p:sp>
        <p:nvSpPr>
          <p:cNvPr id="39" name="Rectangle 38"/>
          <p:cNvSpPr/>
          <p:nvPr/>
        </p:nvSpPr>
        <p:spPr>
          <a:xfrm>
            <a:off x="3566160" y="5797296"/>
            <a:ext cx="192024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 }</a:t>
            </a:r>
          </a:p>
        </p:txBody>
      </p:sp>
      <p:sp>
        <p:nvSpPr>
          <p:cNvPr id="40" name="Rectangle 39"/>
          <p:cNvSpPr/>
          <p:nvPr/>
        </p:nvSpPr>
        <p:spPr>
          <a:xfrm>
            <a:off x="5486400" y="5797296"/>
            <a:ext cx="6629400" cy="457200"/>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step results accumulated by the orchestrator as the saga advances — approvedLimit/APR after step 5, agreementId after 6. Nothing policy needs: this module never reads it</a:t>
            </a:r>
          </a:p>
        </p:txBody>
      </p:sp>
      <p:sp>
        <p:nvSpPr>
          <p:cNvPr id="41" name="TextBox 40"/>
          <p:cNvSpPr txBox="1"/>
          <p:nvPr/>
        </p:nvSpPr>
        <p:spPr>
          <a:xfrm>
            <a:off x="548640" y="6345936"/>
            <a:ext cx="11064240" cy="457200"/>
          </a:xfrm>
          <a:prstGeom prst="rect">
            <a:avLst/>
          </a:prstGeom>
          <a:noFill/>
        </p:spPr>
        <p:txBody>
          <a:bodyPr wrap="square" lIns="0" rIns="0" tIns="0" bIns="0">
            <a:spAutoFit/>
          </a:bodyPr>
          <a:lstStyle/>
          <a:p>
            <a:pPr algn="l">
              <a:lnSpc>
                <a:spcPct val="100000"/>
              </a:lnSpc>
            </a:pPr>
            <a:r>
              <a:rPr sz="1050" b="0" i="1">
                <a:solidFill>
                  <a:srgbClr val="5E736B"/>
                </a:solidFill>
                <a:latin typeface="Calibri"/>
              </a:rPr>
              <a:t>Ground rules: unknown fields are ignored on the way in and never emitted on the way out · countries ISO alpha-2 uppercase · dates YYYY-MM-DD · money = integer GBP · optional = null, never "" or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1">
                <a:solidFill>
                  <a:srgbClr val="86DFC6"/>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01</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Search Cases</a:t>
            </a:r>
            <a:r>
              <a:rPr sz="1250" b="0" i="1">
                <a:solidFill>
                  <a:srgbClr val="A5BDB4"/>
                </a:solidFill>
                <a:latin typeface="Calibri"/>
              </a:rPr>
              <a:t>   —   Specification · story, contract, acceptance criteria · [DB→API→FE] · Track A — after 00 — the rows it lists come from intake</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01 of 09 · Search Cases</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a bank employee I want to find a policy case by application id or applicant name — without this module ever storing applicant data.</a:t>
            </a:r>
          </a:p>
        </p:txBody>
      </p:sp>
      <p:sp>
        <p:nvSpPr>
          <p:cNvPr id="10" name="TextBox 9"/>
          <p:cNvSpPr txBox="1"/>
          <p:nvPr/>
        </p:nvSpPr>
        <p:spPr>
          <a:xfrm>
            <a:off x="548640" y="216712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423160"/>
            <a:ext cx="4846320" cy="146304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GET /cases?q={id-or-name}&amp;limit=10 →</a:t>
            </a:r>
          </a:p>
          <a:p>
            <a:pPr algn="l">
              <a:lnSpc>
                <a:spcPct val="105000"/>
              </a:lnSpc>
            </a:pPr>
            <a:r>
              <a:rPr sz="950" b="0" i="0">
                <a:solidFill>
                  <a:srgbClr val="D8EAE2"/>
                </a:solidFill>
                <a:latin typeface="Consolas"/>
              </a:rPr>
              <a:t>[{"applicationId":"app-1234",</a:t>
            </a:r>
          </a:p>
          <a:p>
            <a:pPr algn="l">
              <a:lnSpc>
                <a:spcPct val="105000"/>
              </a:lnSpc>
            </a:pPr>
            <a:r>
              <a:rPr sz="950" b="0" i="0">
                <a:solidFill>
                  <a:srgbClr val="D8EAE2"/>
                </a:solidFill>
                <a:latin typeface="Consolas"/>
              </a:rPr>
              <a:t>  "submittedAt":"2026-07-21T21:40:00Z",</a:t>
            </a:r>
          </a:p>
          <a:p>
            <a:pPr algn="l">
              <a:lnSpc>
                <a:spcPct val="105000"/>
              </a:lnSpc>
            </a:pPr>
            <a:r>
              <a:rPr sz="950" b="0" i="0">
                <a:solidFill>
                  <a:srgbClr val="D8EAE2"/>
                </a:solidFill>
                <a:latin typeface="Consolas"/>
              </a:rPr>
              <a:t>  "outcome":"APPROVED","sampled":false,</a:t>
            </a:r>
          </a:p>
          <a:p>
            <a:pPr algn="l">
              <a:lnSpc>
                <a:spcPct val="105000"/>
              </a:lnSpc>
            </a:pPr>
            <a:r>
              <a:rPr sz="950" b="0" i="0">
                <a:solidFill>
                  <a:srgbClr val="D8EAE2"/>
                </a:solidFill>
                <a:latin typeface="Consolas"/>
              </a:rPr>
              <a:t>  "reasonCount":1}, …]</a:t>
            </a:r>
          </a:p>
          <a:p>
            <a:pPr algn="l">
              <a:lnSpc>
                <a:spcPct val="105000"/>
              </a:lnSpc>
            </a:pPr>
            <a:r>
              <a:rPr sz="950" b="0" i="0">
                <a:solidFill>
                  <a:srgbClr val="D8EAE2"/>
                </a:solidFill>
                <a:latin typeface="Consolas"/>
              </a:rPr>
              <a:t>// applicantName is NOT in the row —</a:t>
            </a:r>
          </a:p>
          <a:p>
            <a:pPr algn="l">
              <a:lnSpc>
                <a:spcPct val="105000"/>
              </a:lnSpc>
            </a:pPr>
            <a:r>
              <a:rPr sz="950" b="0" i="0">
                <a:solidFill>
                  <a:srgbClr val="D8EAE2"/>
                </a:solidFill>
                <a:latin typeface="Consolas"/>
              </a:rPr>
              <a:t>// the UI hydrates ≤10 rows live</a:t>
            </a:r>
          </a:p>
        </p:txBody>
      </p:sp>
      <p:sp>
        <p:nvSpPr>
          <p:cNvPr id="12" name="TextBox 11"/>
          <p:cNvSpPr txBox="1"/>
          <p:nvPr/>
        </p:nvSpPr>
        <p:spPr>
          <a:xfrm>
            <a:off x="548640" y="395935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419709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Pagination beyond the 10-row cap (refine the search instead); free browsing of the whole book.</a:t>
            </a:r>
          </a:p>
        </p:txBody>
      </p:sp>
      <p:sp>
        <p:nvSpPr>
          <p:cNvPr id="14" name="TextBox 13"/>
          <p:cNvSpPr txBox="1"/>
          <p:nvPr/>
        </p:nvSpPr>
        <p:spPr>
          <a:xfrm>
            <a:off x="548640" y="461772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4855464"/>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v5 payload rule: no applicant columns exist, so name search resolves ids via the orchestrator (GET /applications?name= — a v5 contract addition) and id search hits the local table. The board hydrates the applicant-name column live, one GET per visible row, 10 max. The sampled flag comes straight off ruleResults.sampling — the board badges forced-review rows.</a:t>
            </a:r>
          </a:p>
        </p:txBody>
      </p:sp>
      <p:sp>
        <p:nvSpPr>
          <p:cNvPr id="16" name="TextBox 15"/>
          <p:cNvSpPr txBox="1"/>
          <p:nvPr/>
        </p:nvSpPr>
        <p:spPr>
          <a:xfrm>
            <a:off x="548640" y="600760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6245352"/>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Web-slice test: empty default, 10-row cap, id search local, name search via mocked orchestrator client, empty [] case.</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The Policy Board is EMPTY by default — no query, no rows fetched, a hint invites a search.</a:t>
            </a:r>
          </a:p>
          <a:p>
            <a:pPr>
              <a:lnSpc>
                <a:spcPct val="102000"/>
              </a:lnSpc>
              <a:spcAft>
                <a:spcPts val="600"/>
              </a:spcAft>
            </a:pPr>
            <a:r>
              <a:rPr sz="1200" b="1">
                <a:solidFill>
                  <a:srgbClr val="2EA98D"/>
                </a:solidFill>
                <a:latin typeface="Calibri"/>
              </a:rPr>
              <a:t>AC2  </a:t>
            </a:r>
            <a:r>
              <a:rPr sz="1200">
                <a:solidFill>
                  <a:srgbClr val="22302B"/>
                </a:solidFill>
                <a:latin typeface="Calibri"/>
              </a:rPr>
              <a:t>GET /cases?q=… → 200 + at most 10 matches, newest first; an 11th match means the response flags "more — refine your search".</a:t>
            </a:r>
          </a:p>
          <a:p>
            <a:pPr>
              <a:lnSpc>
                <a:spcPct val="102000"/>
              </a:lnSpc>
              <a:spcAft>
                <a:spcPts val="600"/>
              </a:spcAft>
            </a:pPr>
            <a:r>
              <a:rPr sz="1200" b="1">
                <a:solidFill>
                  <a:srgbClr val="2EA98D"/>
                </a:solidFill>
                <a:latin typeface="Calibri"/>
              </a:rPr>
              <a:t>AC3  </a:t>
            </a:r>
            <a:r>
              <a:rPr sz="1200">
                <a:solidFill>
                  <a:srgbClr val="22302B"/>
                </a:solidFill>
                <a:latin typeface="Calibri"/>
              </a:rPr>
              <a:t>Search by applicationId works entirely from the local table; search by name resolves ids through the orchestrator first — nothing about the applicant is ever persisted.</a:t>
            </a:r>
          </a:p>
          <a:p>
            <a:pPr>
              <a:lnSpc>
                <a:spcPct val="102000"/>
              </a:lnSpc>
              <a:spcAft>
                <a:spcPts val="600"/>
              </a:spcAft>
            </a:pPr>
            <a:r>
              <a:rPr sz="1200" b="1">
                <a:solidFill>
                  <a:srgbClr val="2EA98D"/>
                </a:solidFill>
                <a:latin typeface="Calibri"/>
              </a:rPr>
              <a:t>AC4  </a:t>
            </a:r>
            <a:r>
              <a:rPr sz="1200">
                <a:solidFill>
                  <a:srgbClr val="22302B"/>
                </a:solidFill>
                <a:latin typeface="Calibri"/>
              </a:rPr>
              <a:t>The applicant-name column hydrates live via the module's application-fetch GET — at most 10 calls per render, cached per page view.</a:t>
            </a:r>
          </a:p>
          <a:p>
            <a:pPr>
              <a:lnSpc>
                <a:spcPct val="102000"/>
              </a:lnSpc>
              <a:spcAft>
                <a:spcPts val="600"/>
              </a:spcAft>
            </a:pPr>
            <a:r>
              <a:rPr sz="1200" b="1">
                <a:solidFill>
                  <a:srgbClr val="2EA98D"/>
                </a:solidFill>
                <a:latin typeface="Calibri"/>
              </a:rPr>
              <a:t>AC5  </a:t>
            </a:r>
            <a:r>
              <a:rPr sz="1200">
                <a:solidFill>
                  <a:srgbClr val="22302B"/>
                </a:solidFill>
                <a:latin typeface="Calibri"/>
              </a:rPr>
              <a:t>Searching "Maria" shows her case with outcome = "APPROVED" and no sampled badge.</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AC6  </a:t>
            </a:r>
            <a:r>
              <a:rPr sz="1200">
                <a:solidFill>
                  <a:srgbClr val="22302B"/>
                </a:solidFill>
                <a:latin typeface="Calibri"/>
              </a:rPr>
              <a:t>Searching "Sofia" shows her case with outcome = "REJECTED".</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AC7  </a:t>
            </a:r>
            <a:r>
              <a:rPr sz="1200">
                <a:solidFill>
                  <a:srgbClr val="22302B"/>
                </a:solidFill>
                <a:latin typeface="Calibri"/>
              </a:rPr>
              <a:t>No matches → [] and HTTP 200 (never a 500); orchestrator down → rows render with ids, names show a retryable "—".</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1">
                <a:solidFill>
                  <a:srgbClr val="86DFC6"/>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01</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Search Cases</a:t>
            </a:r>
            <a:r>
              <a:rPr sz="1250" b="0" i="1">
                <a:solidFill>
                  <a:srgbClr val="A5BDB4"/>
                </a:solidFill>
                <a:latin typeface="Calibri"/>
              </a:rPr>
              <a:t>   —   Sequence Diagram + Data Changes · read-only · zero payload stored</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01 · Search Cases</a:t>
            </a:r>
          </a:p>
        </p:txBody>
      </p:sp>
      <p:pic>
        <p:nvPicPr>
          <p:cNvPr id="8" name="Picture 7" descr="uc-01-sequence.jpg"/>
          <p:cNvPicPr>
            <a:picLocks noChangeAspect="1"/>
          </p:cNvPicPr>
          <p:nvPr/>
        </p:nvPicPr>
        <p:blipFill>
          <a:blip r:embed="rId2"/>
          <a:stretch>
            <a:fillRect/>
          </a:stretch>
        </p:blipFill>
        <p:spPr>
          <a:xfrm>
            <a:off x="457200" y="1463040"/>
            <a:ext cx="7863840" cy="2106385"/>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No rows change, and no applicant data ever lands in MySQL.</a:t>
            </a:r>
            <a:r>
              <a:rPr sz="1100" b="0" i="0">
                <a:solidFill>
                  <a:srgbClr val="22302B"/>
                </a:solidFill>
                <a:latin typeface="Calibri"/>
              </a:rPr>
              <a:t> The schema has no name column to search.</a:t>
            </a:r>
          </a:p>
          <a:p>
            <a:pPr algn="l">
              <a:lnSpc>
                <a:spcPct val="102000"/>
              </a:lnSpc>
              <a:spcAft>
                <a:spcPts val="700"/>
              </a:spcAft>
            </a:pPr>
            <a:r>
              <a:rPr sz="1100">
                <a:solidFill>
                  <a:srgbClr val="22302B"/>
                </a:solidFill>
                <a:latin typeface="Calibri"/>
              </a:rPr>
              <a:t>•  </a:t>
            </a:r>
            <a:r>
              <a:rPr sz="1100" b="0" i="0">
                <a:solidFill>
                  <a:srgbClr val="22302B"/>
                </a:solidFill>
                <a:latin typeface="Calibri"/>
              </a:rPr>
              <a:t>Name → ids via the orchestrator; ids → local records; names on screen via ≤10 live hydration calls.</a:t>
            </a:r>
          </a:p>
          <a:p>
            <a:pPr algn="l">
              <a:lnSpc>
                <a:spcPct val="102000"/>
              </a:lnSpc>
              <a:spcAft>
                <a:spcPts val="700"/>
              </a:spcAft>
            </a:pPr>
            <a:r>
              <a:rPr sz="1100">
                <a:solidFill>
                  <a:srgbClr val="22302B"/>
                </a:solidFill>
                <a:latin typeface="Calibri"/>
              </a:rPr>
              <a:t>•  </a:t>
            </a:r>
            <a:r>
              <a:rPr sz="1100" b="0" i="0">
                <a:solidFill>
                  <a:srgbClr val="22302B"/>
                </a:solidFill>
                <a:latin typeface="Calibri"/>
              </a:rPr>
              <a:t>Empty by default + LIMIT 10 is what keeps the hydration bill bounded — never 100s of requests.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1">
                <a:solidFill>
                  <a:srgbClr val="86DFC6"/>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02</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Review Decision</a:t>
            </a:r>
            <a:r>
              <a:rPr sz="1250" b="0" i="1">
                <a:solidFill>
                  <a:srgbClr val="A5BDB4"/>
                </a:solidFill>
                <a:latin typeface="Calibri"/>
              </a:rPr>
              <a:t>   —   Specification · story, contract, acceptance criteria · [API+FE (engine: DB)] · Track B — after 00 + 07 — the engine decides against PolicyConfig</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02 of 09 · Review Decision</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a bank employee I want to open a policy decision and see its outcome and full rule breakdown — including what the machine decided before sampling forced it to a person.</a:t>
            </a:r>
          </a:p>
        </p:txBody>
      </p:sp>
      <p:sp>
        <p:nvSpPr>
          <p:cNvPr id="10" name="TextBox 9"/>
          <p:cNvSpPr txBox="1"/>
          <p:nvPr/>
        </p:nvSpPr>
        <p:spPr>
          <a:xfrm>
            <a:off x="548640" y="216712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423160"/>
            <a:ext cx="4846320" cy="146304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GET /cases/{applicationId} →</a:t>
            </a:r>
          </a:p>
          <a:p>
            <a:pPr algn="l">
              <a:lnSpc>
                <a:spcPct val="105000"/>
              </a:lnSpc>
            </a:pPr>
            <a:r>
              <a:rPr sz="950" b="0" i="0">
                <a:solidFill>
                  <a:srgbClr val="D8EAE2"/>
                </a:solidFill>
                <a:latin typeface="Consolas"/>
              </a:rPr>
              <a:t>{"outcome":"REJECTED","machineOutcome":"REJECTED",</a:t>
            </a:r>
          </a:p>
          <a:p>
            <a:pPr algn="l">
              <a:lnSpc>
                <a:spcPct val="105000"/>
              </a:lnSpc>
            </a:pPr>
            <a:r>
              <a:rPr sz="950" b="0" i="0">
                <a:solidFill>
                  <a:srgbClr val="D8EAE2"/>
                </a:solidFill>
                <a:latin typeface="Consolas"/>
              </a:rPr>
              <a:t> "reference":"pol-000214",</a:t>
            </a:r>
          </a:p>
          <a:p>
            <a:pPr algn="l">
              <a:lnSpc>
                <a:spcPct val="105000"/>
              </a:lnSpc>
            </a:pPr>
            <a:r>
              <a:rPr sz="950" b="0" i="0">
                <a:solidFill>
                  <a:srgbClr val="D8EAE2"/>
                </a:solidFill>
                <a:latin typeface="Consolas"/>
              </a:rPr>
              <a:t> "policyConfigVersion":1,</a:t>
            </a:r>
          </a:p>
          <a:p>
            <a:pPr algn="l">
              <a:lnSpc>
                <a:spcPct val="105000"/>
              </a:lnSpc>
            </a:pPr>
            <a:r>
              <a:rPr sz="950" b="0" i="0">
                <a:solidFill>
                  <a:srgbClr val="D8EAE2"/>
                </a:solidFill>
                <a:latin typeface="Consolas"/>
              </a:rPr>
              <a:t> "ruleResults":[{"ruleName":"taxResidency",</a:t>
            </a:r>
          </a:p>
          <a:p>
            <a:pPr algn="l">
              <a:lnSpc>
                <a:spcPct val="105000"/>
              </a:lnSpc>
            </a:pPr>
            <a:r>
              <a:rPr sz="950" b="0" i="0">
                <a:solidFill>
                  <a:srgbClr val="D8EAE2"/>
                </a:solidFill>
                <a:latin typeface="Consolas"/>
              </a:rPr>
              <a:t>   "passed":false,</a:t>
            </a:r>
          </a:p>
          <a:p>
            <a:pPr algn="l">
              <a:lnSpc>
                <a:spcPct val="105000"/>
              </a:lnSpc>
            </a:pPr>
            <a:r>
              <a:rPr sz="950" b="0" i="0">
                <a:solidFill>
                  <a:srgbClr val="D8EAE2"/>
                </a:solidFill>
                <a:latin typeface="Consolas"/>
              </a:rPr>
              <a:t>   "reasonCodes":["POL_TAX_RESIDENCY_EXCLUDED"]},…]}</a:t>
            </a:r>
          </a:p>
        </p:txBody>
      </p:sp>
      <p:sp>
        <p:nvSpPr>
          <p:cNvPr id="12" name="TextBox 11"/>
          <p:cNvSpPr txBox="1"/>
          <p:nvPr/>
        </p:nvSpPr>
        <p:spPr>
          <a:xfrm>
            <a:off x="548640" y="395935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419709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Editing a case (records are immutable — queue decision is UC 04, override is UC 06); the /execute wiring itself (template gives it).</a:t>
            </a:r>
          </a:p>
        </p:txBody>
      </p:sp>
      <p:sp>
        <p:nvSpPr>
          <p:cNvPr id="14" name="TextBox 13"/>
          <p:cNvSpPr txBox="1"/>
          <p:nvPr/>
        </p:nvSpPr>
        <p:spPr>
          <a:xfrm>
            <a:off x="548640" y="480060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5038344"/>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The engine is plain functions over the application object + the current PolicyConfig + a RegistryClient interface — build and unit-test it before any Spring wiring. Precedence: sampling wins over everything → REFERRED; else any rejection → REJECTED with ALL rejection reasons; else APPROVED. The registry client is an interface from day one: in-memory map in tests, orchestrator HTTP in integration.</a:t>
            </a:r>
          </a:p>
        </p:txBody>
      </p:sp>
      <p:sp>
        <p:nvSpPr>
          <p:cNvPr id="16" name="TextBox 15"/>
          <p:cNvSpPr txBox="1"/>
          <p:nvPr/>
        </p:nvSpPr>
        <p:spPr>
          <a:xfrm>
            <a:off x="548640" y="637336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6611112"/>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Engine: table-driven unit tests per rule + precedence (excluded-wins, sampling-wins, multi-rejection) with a mocked registry; slice test for the GET.</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GET /cases/{applicationId} → 200 + outcome, machineOutcome, reference, policyConfigVersion, ruleResults[] (4 sections: existingProduct, taxResidency, restrictionList, sampling — each passed + reasonCodes[]).</a:t>
            </a:r>
          </a:p>
          <a:p>
            <a:pPr>
              <a:lnSpc>
                <a:spcPct val="102000"/>
              </a:lnSpc>
              <a:spcAft>
                <a:spcPts val="600"/>
              </a:spcAft>
            </a:pPr>
            <a:r>
              <a:rPr sz="1200" b="1">
                <a:solidFill>
                  <a:srgbClr val="2EA98D"/>
                </a:solidFill>
                <a:latin typeface="Calibri"/>
              </a:rPr>
              <a:t>AC2  </a:t>
            </a:r>
            <a:r>
              <a:rPr sz="1200">
                <a:solidFill>
                  <a:srgbClr val="22302B"/>
                </a:solidFill>
                <a:latin typeface="Calibri"/>
              </a:rPr>
              <a:t>Maria Nowak (app-1234) → APPROVED, all three rule sections passed, sampling not triggered, reasons = [POL_ALL_CHECKS_PASSED].</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AC3  </a:t>
            </a:r>
            <a:r>
              <a:rPr sz="1200">
                <a:solidFill>
                  <a:srgbClr val="22302B"/>
                </a:solidFill>
                <a:latin typeface="Calibri"/>
              </a:rPr>
              <a:t>Sofia Ruiz (app-1240), tax resident GB + US → REJECTED with POL_TAX_RESIDENCY_EXCLUDED — the supported GB residency does NOT rescue her; the exclusion wins.</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AC4  </a:t>
            </a:r>
            <a:r>
              <a:rPr sz="1200">
                <a:solidFill>
                  <a:srgbClr val="22302B"/>
                </a:solidFill>
                <a:latin typeface="Calibri"/>
              </a:rPr>
              <a:t>James Whitfield (app-1242), ACTIVE card in the registry → REJECTED with POL_EXISTING_PRODUCT_HELD; ruleResults.existingProduct records registryChecked = true.</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AC5  </a:t>
            </a:r>
            <a:r>
              <a:rPr sz="1200">
                <a:solidFill>
                  <a:srgbClr val="22302B"/>
                </a:solidFill>
                <a:latin typeface="Calibri"/>
              </a:rPr>
              <a:t>An applicant failing two rules at once reports BOTH rejection reasons — never just the first found.</a:t>
            </a:r>
          </a:p>
          <a:p>
            <a:pPr>
              <a:lnSpc>
                <a:spcPct val="102000"/>
              </a:lnSpc>
              <a:spcAft>
                <a:spcPts val="600"/>
              </a:spcAft>
            </a:pPr>
            <a:r>
              <a:rPr sz="1200" b="1">
                <a:solidFill>
                  <a:srgbClr val="2EA98D"/>
                </a:solidFill>
                <a:latin typeface="Calibri"/>
              </a:rPr>
              <a:t>AC6  </a:t>
            </a:r>
            <a:r>
              <a:rPr sz="1200">
                <a:solidFill>
                  <a:srgbClr val="22302B"/>
                </a:solidFill>
                <a:latin typeface="Calibri"/>
              </a:rPr>
              <a:t>The fixture's 21st policy decision (app-1287) → REFERRED with POL_SAMPLED_FOR_REVIEW, machineOutcome APPROVED, sampling.position = 21 — sampling outranks a clean pass.</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AC7  </a:t>
            </a:r>
            <a:r>
              <a:rPr sz="1200">
                <a:solidFill>
                  <a:srgbClr val="22302B"/>
                </a:solidFill>
                <a:latin typeface="Calibri"/>
              </a:rPr>
              <a:t>Registry unreachable after 3 tries → REFERRED with POL_REGISTRY_UNAVAILABLE; the other rules' results are still recorded.</a:t>
            </a:r>
          </a:p>
          <a:p>
            <a:pPr>
              <a:lnSpc>
                <a:spcPct val="102000"/>
              </a:lnSpc>
              <a:spcAft>
                <a:spcPts val="600"/>
              </a:spcAft>
            </a:pPr>
            <a:r>
              <a:rPr sz="1200" b="1">
                <a:solidFill>
                  <a:srgbClr val="2EA98D"/>
                </a:solidFill>
                <a:latin typeface="Calibri"/>
              </a:rPr>
              <a:t>AC8  </a:t>
            </a:r>
            <a:r>
              <a:rPr sz="1200">
                <a:solidFill>
                  <a:srgbClr val="22302B"/>
                </a:solidFill>
                <a:latin typeface="Calibri"/>
              </a:rPr>
              <a:t>Repeated /execute for the same applicationId → still one row, rules NOT re-run, no second registry call, callback replays the stored outcome.</a:t>
            </a:r>
          </a:p>
          <a:p>
            <a:pPr>
              <a:lnSpc>
                <a:spcPct val="102000"/>
              </a:lnSpc>
              <a:spcAft>
                <a:spcPts val="600"/>
              </a:spcAft>
            </a:pPr>
            <a:r>
              <a:rPr sz="1200" b="1">
                <a:solidFill>
                  <a:srgbClr val="2EA98D"/>
                </a:solidFill>
                <a:latin typeface="Calibri"/>
              </a:rPr>
              <a:t>AC9  </a:t>
            </a:r>
            <a:r>
              <a:rPr sz="1200">
                <a:solidFill>
                  <a:srgbClr val="22302B"/>
                </a:solidFill>
                <a:latin typeface="Calibri"/>
              </a:rPr>
              <a:t>Unknown applicationId → 404 with a JSON error body (never a 500).</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1">
                <a:solidFill>
                  <a:srgbClr val="86DFC6"/>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02</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Review Decision</a:t>
            </a:r>
            <a:r>
              <a:rPr sz="1250" b="0" i="1">
                <a:solidFill>
                  <a:srgbClr val="A5BDB4"/>
                </a:solidFill>
                <a:latin typeface="Calibri"/>
              </a:rPr>
              <a:t>   —   Sequence Diagram + Data Changes · read-only (row written earlier)</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02 · Review Decision</a:t>
            </a:r>
          </a:p>
        </p:txBody>
      </p:sp>
      <p:pic>
        <p:nvPicPr>
          <p:cNvPr id="8" name="Picture 7" descr="uc-02-sequence.jpg"/>
          <p:cNvPicPr>
            <a:picLocks noChangeAspect="1"/>
          </p:cNvPicPr>
          <p:nvPr/>
        </p:nvPicPr>
        <p:blipFill>
          <a:blip r:embed="rId2"/>
          <a:stretch>
            <a:fillRect/>
          </a:stretch>
        </p:blipFill>
        <p:spPr>
          <a:xfrm>
            <a:off x="457200" y="1463040"/>
            <a:ext cx="7863840" cy="2046203"/>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This GET changes nothing.</a:t>
            </a:r>
            <a:r>
              <a:rPr sz="1100" b="0" i="0">
                <a:solidFill>
                  <a:srgbClr val="22302B"/>
                </a:solidFill>
                <a:latin typeface="Calibri"/>
              </a:rPr>
              <a:t> The row it reads was written once, off-thread, by /execute.</a:t>
            </a:r>
          </a:p>
          <a:p>
            <a:pPr algn="l">
              <a:lnSpc>
                <a:spcPct val="102000"/>
              </a:lnSpc>
              <a:spcAft>
                <a:spcPts val="700"/>
              </a:spcAft>
            </a:pPr>
            <a:r>
              <a:rPr sz="1100">
                <a:solidFill>
                  <a:srgbClr val="22302B"/>
                </a:solidFill>
                <a:latin typeface="Calibri"/>
              </a:rPr>
              <a:t>•  </a:t>
            </a:r>
            <a:r>
              <a:rPr sz="1100" b="0" i="0">
                <a:solidFill>
                  <a:srgbClr val="22302B"/>
                </a:solidFill>
                <a:latin typeface="Calibri"/>
              </a:rPr>
              <a:t>On /execute: INSERT policy_record (outcome, machineOutcome, ruleResults JSON, policyConfigVersion pinned).</a:t>
            </a:r>
          </a:p>
          <a:p>
            <a:pPr algn="l">
              <a:lnSpc>
                <a:spcPct val="102000"/>
              </a:lnSpc>
              <a:spcAft>
                <a:spcPts val="700"/>
              </a:spcAft>
            </a:pPr>
            <a:r>
              <a:rPr sz="1100">
                <a:solidFill>
                  <a:srgbClr val="22302B"/>
                </a:solidFill>
                <a:latin typeface="Calibri"/>
              </a:rPr>
              <a:t>•  </a:t>
            </a:r>
            <a:r>
              <a:rPr sz="1100" b="0" i="0">
                <a:solidFill>
                  <a:srgbClr val="22302B"/>
                </a:solidFill>
                <a:latin typeface="Calibri"/>
              </a:rPr>
              <a:t>Unique key on application_id is what makes the idempotency AC provable.</a:t>
            </a:r>
          </a:p>
        </p:txBody>
      </p:sp>
      <p:sp>
        <p:nvSpPr>
          <p:cNvPr id="12" name="TextBox 11"/>
          <p:cNvSpPr txBox="1"/>
          <p:nvPr/>
        </p:nvSpPr>
        <p:spPr>
          <a:xfrm>
            <a:off x="548640" y="6108192"/>
            <a:ext cx="7589520" cy="548640"/>
          </a:xfrm>
          <a:prstGeom prst="rect">
            <a:avLst/>
          </a:prstGeom>
          <a:noFill/>
        </p:spPr>
        <p:txBody>
          <a:bodyPr wrap="square" lIns="0" rIns="0" tIns="0" bIns="0">
            <a:spAutoFit/>
          </a:bodyPr>
          <a:lstStyle/>
          <a:p>
            <a:pPr algn="l">
              <a:lnSpc>
                <a:spcPct val="100000"/>
              </a:lnSpc>
            </a:pPr>
            <a:r>
              <a:rPr sz="1050" b="0" i="1">
                <a:solidFill>
                  <a:srgbClr val="5E736B"/>
                </a:solidFill>
                <a:latin typeface="Calibri"/>
              </a:rPr>
              <a:t>The engine — and its one registry call — runs at /execute time, not at read time. Reviewing a case replays stored results, it never re-decides.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1">
                <a:solidFill>
                  <a:srgbClr val="86DFC6"/>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03</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View Applicant</a:t>
            </a:r>
            <a:r>
              <a:rPr sz="1250" b="0" i="1">
                <a:solidFill>
                  <a:srgbClr val="A5BDB4"/>
                </a:solidFill>
                <a:latin typeface="Calibri"/>
              </a:rPr>
              <a:t>   —   Specification · story, contract, acceptance criteria · [API+FE] · Track D — screen shell from 02</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03 of 09 · View Applicant</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a bank employee I want to see who a policy case is about without leaving the record — and without this module ever copying applicant data.</a:t>
            </a:r>
          </a:p>
        </p:txBody>
      </p:sp>
      <p:sp>
        <p:nvSpPr>
          <p:cNvPr id="10" name="TextBox 9"/>
          <p:cNvSpPr txBox="1"/>
          <p:nvPr/>
        </p:nvSpPr>
        <p:spPr>
          <a:xfrm>
            <a:off x="548640" y="216712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423160"/>
            <a:ext cx="4846320" cy="91440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GET /cases/{id}/applicant →  (proxy)</a:t>
            </a:r>
          </a:p>
          <a:p>
            <a:pPr algn="l">
              <a:lnSpc>
                <a:spcPct val="105000"/>
              </a:lnSpc>
            </a:pPr>
            <a:r>
              <a:rPr sz="950" b="0" i="0">
                <a:solidFill>
                  <a:srgbClr val="D8EAE2"/>
                </a:solidFill>
                <a:latin typeface="Consolas"/>
              </a:rPr>
              <a:t>GET {orchestratorUrl}/api/v1/</a:t>
            </a:r>
          </a:p>
          <a:p>
            <a:pPr algn="l">
              <a:lnSpc>
                <a:spcPct val="105000"/>
              </a:lnSpc>
            </a:pPr>
            <a:r>
              <a:rPr sz="950" b="0" i="0">
                <a:solidFill>
                  <a:srgbClr val="D8EAE2"/>
                </a:solidFill>
                <a:latin typeface="Consolas"/>
              </a:rPr>
              <a:t>        applications/{applicationId}</a:t>
            </a:r>
          </a:p>
          <a:p>
            <a:pPr algn="l">
              <a:lnSpc>
                <a:spcPct val="105000"/>
              </a:lnSpc>
            </a:pPr>
            <a:r>
              <a:rPr sz="950" b="0" i="0">
                <a:solidFill>
                  <a:srgbClr val="D8EAE2"/>
                </a:solidFill>
                <a:latin typeface="Consolas"/>
              </a:rPr>
              <a:t>→ { …whole Application object… }</a:t>
            </a:r>
          </a:p>
        </p:txBody>
      </p:sp>
      <p:sp>
        <p:nvSpPr>
          <p:cNvPr id="12" name="TextBox 11"/>
          <p:cNvSpPr txBox="1"/>
          <p:nvPr/>
        </p:nvSpPr>
        <p:spPr>
          <a:xfrm>
            <a:off x="548640" y="341071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364845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Caching applicant data; storing any applicant field in this module's schema (forbidden by the contract). The customer-registry read (rule 1) is a different endpoint and a different use case.</a:t>
            </a:r>
          </a:p>
        </p:txBody>
      </p:sp>
      <p:sp>
        <p:nvSpPr>
          <p:cNvPr id="14" name="TextBox 13"/>
          <p:cNvSpPr txBox="1"/>
          <p:nvPr/>
        </p:nvSpPr>
        <p:spPr>
          <a:xfrm>
            <a:off x="548640" y="443484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4672583"/>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THE standard application-fetch GET every module ships (v5 platform rule) — the same proxy hydrates the board's name column (UC 01) and the queue's rows (UC 04). It goes to the orchestrator only, server-side, so the browser needs no CORS exception.</a:t>
            </a:r>
          </a:p>
        </p:txBody>
      </p:sp>
      <p:sp>
        <p:nvSpPr>
          <p:cNvPr id="16" name="TextBox 15"/>
          <p:cNvSpPr txBox="1"/>
          <p:nvPr/>
        </p:nvSpPr>
        <p:spPr>
          <a:xfrm>
            <a:off x="548640" y="545896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5696712"/>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Service test with a mocked orchestrator client: happy path + orchestrator down → sidebar error, case still renders.</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The Decision Detail sidebar renders fullName, dateOfBirth, taxResidencies, product.productCode, channel and countryOfResidence — fetched live.</a:t>
            </a:r>
          </a:p>
          <a:p>
            <a:pPr>
              <a:lnSpc>
                <a:spcPct val="102000"/>
              </a:lnSpc>
              <a:spcAft>
                <a:spcPts val="600"/>
              </a:spcAft>
            </a:pPr>
            <a:r>
              <a:rPr sz="1200" b="1">
                <a:solidFill>
                  <a:srgbClr val="2EA98D"/>
                </a:solidFill>
                <a:latin typeface="Calibri"/>
              </a:rPr>
              <a:t>AC2  </a:t>
            </a:r>
            <a:r>
              <a:rPr sz="1200">
                <a:solidFill>
                  <a:srgbClr val="22302B"/>
                </a:solidFill>
                <a:latin typeface="Calibri"/>
              </a:rPr>
              <a:t>For app-1240 the sidebar shows Sofia Ruiz with taxResidencies GB, US — the reviewer sees the exclusion's evidence right beside the rule card.</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AC3  </a:t>
            </a:r>
            <a:r>
              <a:rPr sz="1200">
                <a:solidFill>
                  <a:srgbClr val="22302B"/>
                </a:solidFill>
                <a:latin typeface="Calibri"/>
              </a:rPr>
              <a:t>Nothing from the response is persisted — restart the module, the sidebar still works, the schema still holds zero applicant columns.</a:t>
            </a:r>
          </a:p>
          <a:p>
            <a:pPr>
              <a:lnSpc>
                <a:spcPct val="102000"/>
              </a:lnSpc>
              <a:spcAft>
                <a:spcPts val="600"/>
              </a:spcAft>
            </a:pPr>
            <a:r>
              <a:rPr sz="1200" b="1">
                <a:solidFill>
                  <a:srgbClr val="2EA98D"/>
                </a:solidFill>
                <a:latin typeface="Calibri"/>
              </a:rPr>
              <a:t>AC4  </a:t>
            </a:r>
            <a:r>
              <a:rPr sz="1200">
                <a:solidFill>
                  <a:srgbClr val="22302B"/>
                </a:solidFill>
                <a:latin typeface="Calibri"/>
              </a:rPr>
              <a:t>Orchestrator unreachable → the sidebar shows a retryable error state; the case detail itself still renders from local data.</a:t>
            </a:r>
          </a:p>
          <a:p>
            <a:pPr>
              <a:lnSpc>
                <a:spcPct val="102000"/>
              </a:lnSpc>
              <a:spcAft>
                <a:spcPts val="600"/>
              </a:spcAft>
            </a:pPr>
            <a:r>
              <a:rPr sz="1200" b="1">
                <a:solidFill>
                  <a:srgbClr val="2EA98D"/>
                </a:solidFill>
                <a:latin typeface="Calibri"/>
              </a:rPr>
              <a:t>AC5  </a:t>
            </a:r>
            <a:r>
              <a:rPr sz="1200">
                <a:solidFill>
                  <a:srgbClr val="22302B"/>
                </a:solidFill>
                <a:latin typeface="Calibri"/>
              </a:rPr>
              <a:t>The proxy passes applicationId through untouched — no id mapping tables.</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1">
                <a:solidFill>
                  <a:srgbClr val="86DFC6"/>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03</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View Applicant</a:t>
            </a:r>
            <a:r>
              <a:rPr sz="1250" b="0" i="1">
                <a:solidFill>
                  <a:srgbClr val="A5BDB4"/>
                </a:solidFill>
                <a:latin typeface="Calibri"/>
              </a:rPr>
              <a:t>   —   Sequence Diagram + Data Changes · none — by design</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03 · View Applicant</a:t>
            </a:r>
          </a:p>
        </p:txBody>
      </p:sp>
      <p:pic>
        <p:nvPicPr>
          <p:cNvPr id="8" name="Picture 7" descr="uc-03-sequence.jpg"/>
          <p:cNvPicPr>
            <a:picLocks noChangeAspect="1"/>
          </p:cNvPicPr>
          <p:nvPr/>
        </p:nvPicPr>
        <p:blipFill>
          <a:blip r:embed="rId2"/>
          <a:stretch>
            <a:fillRect/>
          </a:stretch>
        </p:blipFill>
        <p:spPr>
          <a:xfrm>
            <a:off x="457200" y="1463040"/>
            <a:ext cx="7863840" cy="2156537"/>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Zero writes, zero copies.</a:t>
            </a:r>
            <a:r>
              <a:rPr sz="1100" b="0" i="0">
                <a:solidFill>
                  <a:srgbClr val="22302B"/>
                </a:solidFill>
                <a:latin typeface="Calibri"/>
              </a:rPr>
              <a:t> The whole point: one copy of the truth, owned by the orchestrator.</a:t>
            </a:r>
          </a:p>
          <a:p>
            <a:pPr algn="l">
              <a:lnSpc>
                <a:spcPct val="102000"/>
              </a:lnSpc>
              <a:spcAft>
                <a:spcPts val="700"/>
              </a:spcAft>
            </a:pPr>
            <a:r>
              <a:rPr sz="1100">
                <a:solidFill>
                  <a:srgbClr val="22302B"/>
                </a:solidFill>
                <a:latin typeface="Calibri"/>
              </a:rPr>
              <a:t>•  </a:t>
            </a:r>
            <a:r>
              <a:rPr sz="1100" b="0" i="0">
                <a:solidFill>
                  <a:srgbClr val="22302B"/>
                </a:solidFill>
                <a:latin typeface="Calibri"/>
              </a:rPr>
              <a:t>MySQL is not even touched on this path.</a:t>
            </a:r>
          </a:p>
          <a:p>
            <a:pPr algn="l">
              <a:lnSpc>
                <a:spcPct val="102000"/>
              </a:lnSpc>
              <a:spcAft>
                <a:spcPts val="700"/>
              </a:spcAft>
            </a:pPr>
            <a:r>
              <a:rPr sz="1100">
                <a:solidFill>
                  <a:srgbClr val="22302B"/>
                </a:solidFill>
                <a:latin typeface="Calibri"/>
              </a:rPr>
              <a:t>•  </a:t>
            </a:r>
            <a:r>
              <a:rPr sz="1100" b="0" i="0">
                <a:solidFill>
                  <a:srgbClr val="22302B"/>
                </a:solidFill>
                <a:latin typeface="Calibri"/>
              </a:rPr>
              <a:t>If the orchestrator is down the module stays healthy — only the sidebar degrades.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1">
                <a:solidFill>
                  <a:srgbClr val="86DFC6"/>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04</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Work Referral Queue</a:t>
            </a:r>
            <a:r>
              <a:rPr sz="1250" b="0" i="1">
                <a:solidFill>
                  <a:srgbClr val="A5BDB4"/>
                </a:solidFill>
                <a:latin typeface="Calibri"/>
              </a:rPr>
              <a:t>   —   Specification · story, contract, acceptance criteria · [DB-write→API→FE] · Track B — after 02 is wired</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04 of 09 · Work Referral Queue</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a policy operations analyst I want to claim a referred case, see exactly what the machine decided and why, and make the final call — so parked journeys resume with a human answer on record.</a:t>
            </a:r>
          </a:p>
        </p:txBody>
      </p:sp>
      <p:sp>
        <p:nvSpPr>
          <p:cNvPr id="10" name="TextBox 9"/>
          <p:cNvSpPr txBox="1"/>
          <p:nvPr/>
        </p:nvSpPr>
        <p:spPr>
          <a:xfrm>
            <a:off x="548640" y="235915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615184"/>
            <a:ext cx="4846320" cy="146304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POST /cases/{id}/claim   {"operator":"s.chen"}</a:t>
            </a:r>
          </a:p>
          <a:p>
            <a:pPr algn="l">
              <a:lnSpc>
                <a:spcPct val="105000"/>
              </a:lnSpc>
            </a:pPr>
            <a:r>
              <a:rPr sz="950" b="0" i="0">
                <a:solidFill>
                  <a:srgbClr val="D8EAE2"/>
                </a:solidFill>
                <a:latin typeface="Consolas"/>
              </a:rPr>
              <a:t>POST /cases/{id}/release {"operator":"s.chen"}</a:t>
            </a:r>
          </a:p>
          <a:p>
            <a:pPr algn="l">
              <a:lnSpc>
                <a:spcPct val="105000"/>
              </a:lnSpc>
            </a:pPr>
            <a:r>
              <a:rPr sz="950" b="0" i="0">
                <a:solidFill>
                  <a:srgbClr val="D8EAE2"/>
                </a:solidFill>
                <a:latin typeface="Consolas"/>
              </a:rPr>
              <a:t>POST /cases/{id}/decision</a:t>
            </a:r>
          </a:p>
          <a:p>
            <a:pPr algn="l">
              <a:lnSpc>
                <a:spcPct val="105000"/>
              </a:lnSpc>
            </a:pPr>
            <a:r>
              <a:rPr sz="950" b="0" i="0">
                <a:solidFill>
                  <a:srgbClr val="D8EAE2"/>
                </a:solidFill>
                <a:latin typeface="Consolas"/>
              </a:rPr>
              <a:t>{"outcome":"APPROVED",</a:t>
            </a:r>
          </a:p>
          <a:p>
            <a:pPr algn="l">
              <a:lnSpc>
                <a:spcPct val="105000"/>
              </a:lnSpc>
            </a:pPr>
            <a:r>
              <a:rPr sz="950" b="0" i="0">
                <a:solidFill>
                  <a:srgbClr val="D8EAE2"/>
                </a:solidFill>
                <a:latin typeface="Consolas"/>
              </a:rPr>
              <a:t> "reason":"sampling QA — machine confirmed",</a:t>
            </a:r>
          </a:p>
          <a:p>
            <a:pPr algn="l">
              <a:lnSpc>
                <a:spcPct val="105000"/>
              </a:lnSpc>
            </a:pPr>
            <a:r>
              <a:rPr sz="950" b="0" i="0">
                <a:solidFill>
                  <a:srgbClr val="D8EAE2"/>
                </a:solidFill>
                <a:latin typeface="Consolas"/>
              </a:rPr>
              <a:t> "operator":"s.chen"}</a:t>
            </a:r>
          </a:p>
          <a:p>
            <a:pPr algn="l">
              <a:lnSpc>
                <a:spcPct val="105000"/>
              </a:lnSpc>
            </a:pPr>
            <a:r>
              <a:rPr sz="950" b="0" i="0">
                <a:solidFill>
                  <a:srgbClr val="D8EAE2"/>
                </a:solidFill>
                <a:latin typeface="Consolas"/>
              </a:rPr>
              <a:t>→ 200 + updated case</a:t>
            </a:r>
          </a:p>
        </p:txBody>
      </p:sp>
      <p:sp>
        <p:nvSpPr>
          <p:cNvPr id="12" name="TextBox 11"/>
          <p:cNvSpPr txBox="1"/>
          <p:nvPr/>
        </p:nvSpPr>
        <p:spPr>
          <a:xfrm>
            <a:off x="548640" y="4151376"/>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4389120"/>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Deciding non-REFERRED cases from here (that is UC 06 Override); claim timeouts and SLA clocks (stretch, not locked).</a:t>
            </a:r>
          </a:p>
        </p:txBody>
      </p:sp>
      <p:sp>
        <p:nvSpPr>
          <p:cNvPr id="14" name="TextBox 13"/>
          <p:cNvSpPr txBox="1"/>
          <p:nvPr/>
        </p:nvSpPr>
        <p:spPr>
          <a:xfrm>
            <a:off x="548640" y="4809744"/>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5047488"/>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Queue = GET /cases?outcome=REFERRED&amp;unclaimed-first, oldest first, max 10. Claim sets claimedBy/claimedAt and returns 409 if already claimed by someone else — the two-reviewer race is the test worth writing. The decision panel renders machineOutcome + all four rule cards read-only; the human NEVER decides blind. Decision → outcome APPROVED or REJECTED, callback local-manual with POL_MANUAL_APPROVED / POL_MANUAL_DECLINED.</a:t>
            </a:r>
          </a:p>
        </p:txBody>
      </p:sp>
      <p:sp>
        <p:nvSpPr>
          <p:cNvPr id="16" name="TextBox 15"/>
          <p:cNvSpPr txBox="1"/>
          <p:nvPr/>
        </p:nvSpPr>
        <p:spPr>
          <a:xfrm>
            <a:off x="548640" y="638251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662025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Slice test: claim happy path, double-claim → 409, decide without reason → 400; service test asserts exactly one local-manual callback per decision.</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The queue lists open REFERRED cases only, oldest first, max 10, each row showing its referral cause (sampled / registry / operator) and claim state.</a:t>
            </a:r>
          </a:p>
          <a:p>
            <a:pPr>
              <a:lnSpc>
                <a:spcPct val="102000"/>
              </a:lnSpc>
              <a:spcAft>
                <a:spcPts val="600"/>
              </a:spcAft>
            </a:pPr>
            <a:r>
              <a:rPr sz="1200" b="1">
                <a:solidFill>
                  <a:srgbClr val="2EA98D"/>
                </a:solidFill>
                <a:latin typeface="Calibri"/>
              </a:rPr>
              <a:t>AC2  </a:t>
            </a:r>
            <a:r>
              <a:rPr sz="1200">
                <a:solidFill>
                  <a:srgbClr val="22302B"/>
                </a:solidFill>
                <a:latin typeface="Calibri"/>
              </a:rPr>
              <a:t>POST /cases/{id}/claim → 200 and locks the case to that operator; a second claim by another operator → 409; release frees it.</a:t>
            </a:r>
          </a:p>
          <a:p>
            <a:pPr>
              <a:lnSpc>
                <a:spcPct val="102000"/>
              </a:lnSpc>
              <a:spcAft>
                <a:spcPts val="600"/>
              </a:spcAft>
            </a:pPr>
            <a:r>
              <a:rPr sz="1200" b="1">
                <a:solidFill>
                  <a:srgbClr val="2EA98D"/>
                </a:solidFill>
                <a:latin typeface="Calibri"/>
              </a:rPr>
              <a:t>AC3  </a:t>
            </a:r>
            <a:r>
              <a:rPr sz="1200">
                <a:solidFill>
                  <a:srgbClr val="22302B"/>
                </a:solidFill>
                <a:latin typeface="Calibri"/>
              </a:rPr>
              <a:t>The decision panel ALWAYS shows the machine's workings: machineOutcome plus all four rule cards — a reviewer can never decide without seeing what the machine concluded.</a:t>
            </a:r>
          </a:p>
          <a:p>
            <a:pPr>
              <a:lnSpc>
                <a:spcPct val="102000"/>
              </a:lnSpc>
              <a:spcAft>
                <a:spcPts val="600"/>
              </a:spcAft>
            </a:pPr>
            <a:r>
              <a:rPr sz="1200" b="1">
                <a:solidFill>
                  <a:srgbClr val="2EA98D"/>
                </a:solidFill>
                <a:latin typeface="Calibri"/>
              </a:rPr>
              <a:t>AC4  </a:t>
            </a:r>
            <a:r>
              <a:rPr sz="1200">
                <a:solidFill>
                  <a:srgbClr val="22302B"/>
                </a:solidFill>
                <a:latin typeface="Calibri"/>
              </a:rPr>
              <a:t>POST /cases/{id}/decision {outcome, reason, operator} → 200; outcome must be APPROVED or REJECTED; reason and operator are mandatory → 400 without either.</a:t>
            </a:r>
          </a:p>
          <a:p>
            <a:pPr>
              <a:lnSpc>
                <a:spcPct val="102000"/>
              </a:lnSpc>
              <a:spcAft>
                <a:spcPts val="600"/>
              </a:spcAft>
            </a:pPr>
            <a:r>
              <a:rPr sz="1200" b="1">
                <a:solidFill>
                  <a:srgbClr val="2EA98D"/>
                </a:solidFill>
                <a:latin typeface="Calibri"/>
              </a:rPr>
              <a:t>AC5  </a:t>
            </a:r>
            <a:r>
              <a:rPr sz="1200">
                <a:solidFill>
                  <a:srgbClr val="22302B"/>
                </a:solidFill>
                <a:latin typeface="Calibri"/>
              </a:rPr>
              <a:t>The decision fires ONE callback with status local-manual and POL_MANUAL_APPROVED or POL_MANUAL_DECLINED — the parked journey resumes.</a:t>
            </a:r>
          </a:p>
          <a:p>
            <a:pPr>
              <a:lnSpc>
                <a:spcPct val="102000"/>
              </a:lnSpc>
              <a:spcAft>
                <a:spcPts val="600"/>
              </a:spcAft>
            </a:pPr>
            <a:r>
              <a:rPr sz="1200" b="1">
                <a:solidFill>
                  <a:srgbClr val="2EA98D"/>
                </a:solidFill>
                <a:latin typeface="Calibri"/>
              </a:rPr>
              <a:t>AC6  </a:t>
            </a:r>
            <a:r>
              <a:rPr sz="1200">
                <a:solidFill>
                  <a:srgbClr val="22302B"/>
                </a:solidFill>
                <a:latin typeface="Calibri"/>
              </a:rPr>
              <a:t>Deciding the sampled case app-1287 as APPROVED records decidedBy, decidedAt and the reason; its machineOutcome APPROVED stays visible forever.</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AC7  </a:t>
            </a:r>
            <a:r>
              <a:rPr sz="1200">
                <a:solidFill>
                  <a:srgbClr val="22302B"/>
                </a:solidFill>
                <a:latin typeface="Calibri"/>
              </a:rPr>
              <a:t>At the fixture reference time 2026-07-15T09:00Z the queue holds exactly 3 open cases — 2 sampled, 1 registry-outage.</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AC8  </a:t>
            </a:r>
            <a:r>
              <a:rPr sz="1200">
                <a:solidFill>
                  <a:srgbClr val="22302B"/>
                </a:solidFill>
                <a:latin typeface="Calibri"/>
              </a:rPr>
              <a:t>A decided case leaves the queue and shows the human decision on top of the machine's answer in Decision Detail.</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1">
                <a:solidFill>
                  <a:srgbClr val="86DFC6"/>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04</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Work Referral Queue</a:t>
            </a:r>
            <a:r>
              <a:rPr sz="1250" b="0" i="1">
                <a:solidFill>
                  <a:srgbClr val="A5BDB4"/>
                </a:solidFill>
                <a:latin typeface="Calibri"/>
              </a:rPr>
              <a:t>   —   Sequence Diagram + Data Changes · claim + decision writes + one callback</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04 · Work Referral Queue</a:t>
            </a:r>
          </a:p>
        </p:txBody>
      </p:sp>
      <p:pic>
        <p:nvPicPr>
          <p:cNvPr id="8" name="Picture 7" descr="uc-04-sequence.jpg"/>
          <p:cNvPicPr>
            <a:picLocks noChangeAspect="1"/>
          </p:cNvPicPr>
          <p:nvPr/>
        </p:nvPicPr>
        <p:blipFill>
          <a:blip r:embed="rId2"/>
          <a:stretch>
            <a:fillRect/>
          </a:stretch>
        </p:blipFill>
        <p:spPr>
          <a:xfrm>
            <a:off x="457200" y="1463040"/>
            <a:ext cx="7863840" cy="2347115"/>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UPDATE policy_record</a:t>
            </a:r>
            <a:r>
              <a:rPr sz="1100" b="0" i="0">
                <a:solidFill>
                  <a:srgbClr val="22302B"/>
                </a:solidFill>
                <a:latin typeface="Calibri"/>
              </a:rPr>
              <a:t> SET claimed_by/claimed_at on claim; outcome + decided_by/decided_at/decision_reason on decide.</a:t>
            </a:r>
          </a:p>
          <a:p>
            <a:pPr algn="l">
              <a:lnSpc>
                <a:spcPct val="102000"/>
              </a:lnSpc>
              <a:spcAft>
                <a:spcPts val="700"/>
              </a:spcAft>
            </a:pPr>
            <a:r>
              <a:rPr sz="1100">
                <a:solidFill>
                  <a:srgbClr val="22302B"/>
                </a:solidFill>
                <a:latin typeface="Calibri"/>
              </a:rPr>
              <a:t>•  </a:t>
            </a:r>
            <a:r>
              <a:rPr sz="1100" b="0" i="0">
                <a:solidFill>
                  <a:srgbClr val="22302B"/>
                </a:solidFill>
                <a:latin typeface="Calibri"/>
              </a:rPr>
              <a:t>machineOutcome and ruleResults are NEVER touched — the machine's answer survives the human's.</a:t>
            </a:r>
          </a:p>
          <a:p>
            <a:pPr algn="l">
              <a:lnSpc>
                <a:spcPct val="102000"/>
              </a:lnSpc>
              <a:spcAft>
                <a:spcPts val="700"/>
              </a:spcAft>
            </a:pPr>
            <a:r>
              <a:rPr sz="1100">
                <a:solidFill>
                  <a:srgbClr val="22302B"/>
                </a:solidFill>
                <a:latin typeface="Calibri"/>
              </a:rPr>
              <a:t>•  </a:t>
            </a:r>
            <a:r>
              <a:rPr sz="1100" b="0" i="0">
                <a:solidFill>
                  <a:srgbClr val="22302B"/>
                </a:solidFill>
                <a:latin typeface="Calibri"/>
              </a:rPr>
              <a:t>Callback status local-manual tells the orchestrator a human decided — the journey resumes.</a:t>
            </a:r>
          </a:p>
        </p:txBody>
      </p:sp>
      <p:sp>
        <p:nvSpPr>
          <p:cNvPr id="12" name="TextBox 11"/>
          <p:cNvSpPr txBox="1"/>
          <p:nvPr/>
        </p:nvSpPr>
        <p:spPr>
          <a:xfrm>
            <a:off x="548640" y="6108192"/>
            <a:ext cx="7589520" cy="548640"/>
          </a:xfrm>
          <a:prstGeom prst="rect">
            <a:avLst/>
          </a:prstGeom>
          <a:noFill/>
        </p:spPr>
        <p:txBody>
          <a:bodyPr wrap="square" lIns="0" rIns="0" tIns="0" bIns="0">
            <a:spAutoFit/>
          </a:bodyPr>
          <a:lstStyle/>
          <a:p>
            <a:pPr algn="l">
              <a:lnSpc>
                <a:spcPct val="100000"/>
              </a:lnSpc>
            </a:pPr>
            <a:r>
              <a:rPr sz="1050" b="0" i="1">
                <a:solidFill>
                  <a:srgbClr val="5E736B"/>
                </a:solidFill>
                <a:latin typeface="Calibri"/>
              </a:rPr>
              <a:t>Claim and decide are two calls on purpose — the lock exists so two reviewers can each claim a different case, not fight over 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1">
                <a:solidFill>
                  <a:srgbClr val="86DFC6"/>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05</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Rejection Patterns</a:t>
            </a:r>
            <a:r>
              <a:rPr sz="1250" b="0" i="1">
                <a:solidFill>
                  <a:srgbClr val="A5BDB4"/>
                </a:solidFill>
                <a:latin typeface="Calibri"/>
              </a:rPr>
              <a:t>   —   Specification · story, contract, acceptance criteria · [API+FE] · Track A — after 01</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05 of 09 · Rejection Patterns</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a compliance officer I want to see which policy reasons fire most often so I can tell whether a list is too tight — or the sampling rate is drowning my queue.</a:t>
            </a:r>
          </a:p>
        </p:txBody>
      </p:sp>
      <p:sp>
        <p:nvSpPr>
          <p:cNvPr id="10" name="TextBox 9"/>
          <p:cNvSpPr txBox="1"/>
          <p:nvPr/>
        </p:nvSpPr>
        <p:spPr>
          <a:xfrm>
            <a:off x="548640" y="216712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423160"/>
            <a:ext cx="4846320" cy="109728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GET /reason-codes?from&amp;to →</a:t>
            </a:r>
          </a:p>
          <a:p>
            <a:pPr algn="l">
              <a:lnSpc>
                <a:spcPct val="105000"/>
              </a:lnSpc>
            </a:pPr>
            <a:r>
              <a:rPr sz="950" b="0" i="0">
                <a:solidFill>
                  <a:srgbClr val="D8EAE2"/>
                </a:solidFill>
                <a:latin typeface="Consolas"/>
              </a:rPr>
              <a:t>[{"code":"POL_SAMPLED_FOR_REVIEW","count":26,</a:t>
            </a:r>
          </a:p>
          <a:p>
            <a:pPr algn="l">
              <a:lnSpc>
                <a:spcPct val="105000"/>
              </a:lnSpc>
            </a:pPr>
            <a:r>
              <a:rPr sz="950" b="0" i="0">
                <a:solidFill>
                  <a:srgbClr val="D8EAE2"/>
                </a:solidFill>
                <a:latin typeface="Consolas"/>
              </a:rPr>
              <a:t>  "kind":"review"},</a:t>
            </a:r>
          </a:p>
          <a:p>
            <a:pPr algn="l">
              <a:lnSpc>
                <a:spcPct val="105000"/>
              </a:lnSpc>
            </a:pPr>
            <a:r>
              <a:rPr sz="950" b="0" i="0">
                <a:solidFill>
                  <a:srgbClr val="D8EAE2"/>
                </a:solidFill>
                <a:latin typeface="Consolas"/>
              </a:rPr>
              <a:t> {"code":"POL_TAX_RESIDENCY_UNSUPPORTED",</a:t>
            </a:r>
          </a:p>
          <a:p>
            <a:pPr algn="l">
              <a:lnSpc>
                <a:spcPct val="105000"/>
              </a:lnSpc>
            </a:pPr>
            <a:r>
              <a:rPr sz="950" b="0" i="0">
                <a:solidFill>
                  <a:srgbClr val="D8EAE2"/>
                </a:solidFill>
                <a:latin typeface="Consolas"/>
              </a:rPr>
              <a:t>  "count":4,"kind":"rejection"}, …]</a:t>
            </a:r>
          </a:p>
        </p:txBody>
      </p:sp>
      <p:sp>
        <p:nvSpPr>
          <p:cNvPr id="12" name="TextBox 11"/>
          <p:cNvSpPr txBox="1"/>
          <p:nvPr/>
        </p:nvSpPr>
        <p:spPr>
          <a:xfrm>
            <a:off x="548640" y="359359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383133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Time-series drill-down; export; anything beyond ranked counts for a window.</a:t>
            </a:r>
          </a:p>
        </p:txBody>
      </p:sp>
      <p:sp>
        <p:nvSpPr>
          <p:cNvPr id="14" name="TextBox 13"/>
          <p:cNvSpPr txBox="1"/>
          <p:nvPr/>
        </p:nvSpPr>
        <p:spPr>
          <a:xfrm>
            <a:off x="548640" y="425196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4489704"/>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One aggregation query over the embedded ruleResults JSON (or unnest in the service layer) — counts per reason code within the submittedAt window, ranked descending. kind = rejection | review is derived from the code, not stored — sampling and registry codes are review, POL_* rejections are rejection.</a:t>
            </a:r>
          </a:p>
        </p:txBody>
      </p:sp>
      <p:sp>
        <p:nvSpPr>
          <p:cNvPr id="16" name="TextBox 15"/>
          <p:cNvSpPr txBox="1"/>
          <p:nvPr/>
        </p:nvSpPr>
        <p:spPr>
          <a:xfrm>
            <a:off x="548640" y="545896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5696712"/>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Service test on a fixed fixture: counts, ranking, kind split, empty window.</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GET /reason-codes?from&amp;to → 200 + counts per reason code over that range, ranked descending.</a:t>
            </a:r>
          </a:p>
          <a:p>
            <a:pPr>
              <a:lnSpc>
                <a:spcPct val="102000"/>
              </a:lnSpc>
              <a:spcAft>
                <a:spcPts val="600"/>
              </a:spcAft>
            </a:pPr>
            <a:r>
              <a:rPr sz="1200" b="1">
                <a:solidFill>
                  <a:srgbClr val="2EA98D"/>
                </a:solidFill>
                <a:latin typeface="Calibri"/>
              </a:rPr>
              <a:t>AC2  </a:t>
            </a:r>
            <a:r>
              <a:rPr sz="1200">
                <a:solidFill>
                  <a:srgbClr val="22302B"/>
                </a:solidFill>
                <a:latin typeface="Calibri"/>
              </a:rPr>
              <a:t>Rejection codes and review codes (sampling, registry) are counted separately — the response marks each code's kind.</a:t>
            </a:r>
          </a:p>
          <a:p>
            <a:pPr>
              <a:lnSpc>
                <a:spcPct val="102000"/>
              </a:lnSpc>
              <a:spcAft>
                <a:spcPts val="600"/>
              </a:spcAft>
            </a:pPr>
            <a:r>
              <a:rPr sz="1200" b="1">
                <a:solidFill>
                  <a:srgbClr val="2EA98D"/>
                </a:solidFill>
                <a:latin typeface="Calibri"/>
              </a:rPr>
              <a:t>AC3  </a:t>
            </a:r>
            <a:r>
              <a:rPr sz="1200">
                <a:solidFill>
                  <a:srgbClr val="22302B"/>
                </a:solidFill>
                <a:latin typeface="Calibri"/>
              </a:rPr>
              <a:t>Over the seed fixture window 2026-07-01 → 07-14 the top review code is POL_SAMPLED_FOR_REVIEW with 26 and the top rejection code is POL_TAX_RESIDENCY_UNSUPPORTED with 4.</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AC4  </a:t>
            </a:r>
            <a:r>
              <a:rPr sz="1200">
                <a:solidFill>
                  <a:srgbClr val="22302B"/>
                </a:solidFill>
                <a:latin typeface="Calibri"/>
              </a:rPr>
              <a:t>The same window counts POL_EXISTING_PRODUCT_HELD = 3, POL_TAX_RESIDENCY_EXCLUDED = 2, POL_CUSTOMER_BLOCKED = 1.</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AC5  </a:t>
            </a:r>
            <a:r>
              <a:rPr sz="1200">
                <a:solidFill>
                  <a:srgbClr val="22302B"/>
                </a:solidFill>
                <a:latin typeface="Calibri"/>
              </a:rPr>
              <a:t>An empty window → 200 + [] (never a 500).</a:t>
            </a:r>
          </a:p>
          <a:p>
            <a:pPr>
              <a:lnSpc>
                <a:spcPct val="102000"/>
              </a:lnSpc>
              <a:spcAft>
                <a:spcPts val="600"/>
              </a:spcAft>
            </a:pPr>
            <a:r>
              <a:rPr sz="1200" b="1">
                <a:solidFill>
                  <a:srgbClr val="2EA98D"/>
                </a:solidFill>
                <a:latin typeface="Calibri"/>
              </a:rPr>
              <a:t>AC6  </a:t>
            </a:r>
            <a:r>
              <a:rPr sz="1200">
                <a:solidFill>
                  <a:srgbClr val="22302B"/>
                </a:solidFill>
                <a:latin typeface="Calibri"/>
              </a:rPr>
              <a:t>The Rejection Patterns screen renders the ranked bar chart plus the counts table, with working from/to pickers.</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1">
                <a:solidFill>
                  <a:srgbClr val="86DFC6"/>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05</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Rejection Patterns</a:t>
            </a:r>
            <a:r>
              <a:rPr sz="1250" b="0" i="1">
                <a:solidFill>
                  <a:srgbClr val="A5BDB4"/>
                </a:solidFill>
                <a:latin typeface="Calibri"/>
              </a:rPr>
              <a:t>   —   Sequence Diagram + Data Changes · read-only</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05 · Rejection Patterns</a:t>
            </a:r>
          </a:p>
        </p:txBody>
      </p:sp>
      <p:pic>
        <p:nvPicPr>
          <p:cNvPr id="8" name="Picture 7" descr="uc-05-sequence.jpg"/>
          <p:cNvPicPr>
            <a:picLocks noChangeAspect="1"/>
          </p:cNvPicPr>
          <p:nvPr/>
        </p:nvPicPr>
        <p:blipFill>
          <a:blip r:embed="rId2"/>
          <a:stretch>
            <a:fillRect/>
          </a:stretch>
        </p:blipFill>
        <p:spPr>
          <a:xfrm>
            <a:off x="457200" y="1463040"/>
            <a:ext cx="7863840" cy="1955929"/>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No rows change.</a:t>
            </a:r>
            <a:r>
              <a:rPr sz="1100" b="0" i="0">
                <a:solidFill>
                  <a:srgbClr val="22302B"/>
                </a:solidFill>
                <a:latin typeface="Calibri"/>
              </a:rPr>
              <a:t> Aggregates over policy_record only.</a:t>
            </a:r>
          </a:p>
          <a:p>
            <a:pPr algn="l">
              <a:lnSpc>
                <a:spcPct val="102000"/>
              </a:lnSpc>
              <a:spcAft>
                <a:spcPts val="700"/>
              </a:spcAft>
            </a:pPr>
            <a:r>
              <a:rPr sz="1100">
                <a:solidFill>
                  <a:srgbClr val="22302B"/>
                </a:solidFill>
                <a:latin typeface="Calibri"/>
              </a:rPr>
              <a:t>•  </a:t>
            </a:r>
            <a:r>
              <a:rPr sz="1100" b="0" i="0">
                <a:solidFill>
                  <a:srgbClr val="22302B"/>
                </a:solidFill>
                <a:latin typeface="Calibri"/>
              </a:rPr>
              <a:t>Counting happens per reason entry, not per case — one case can contribute two rejection reasons.</a:t>
            </a:r>
          </a:p>
          <a:p>
            <a:pPr algn="l">
              <a:lnSpc>
                <a:spcPct val="102000"/>
              </a:lnSpc>
              <a:spcAft>
                <a:spcPts val="700"/>
              </a:spcAft>
            </a:pPr>
            <a:r>
              <a:rPr sz="1100">
                <a:solidFill>
                  <a:srgbClr val="22302B"/>
                </a:solidFill>
                <a:latin typeface="Calibri"/>
              </a:rPr>
              <a:t>•  </a:t>
            </a:r>
            <a:r>
              <a:rPr sz="1100" b="0" i="0">
                <a:solidFill>
                  <a:srgbClr val="22302B"/>
                </a:solidFill>
                <a:latin typeface="Calibri"/>
              </a:rPr>
              <a:t>kind = rejection | review is derived from the code, not stored.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1">
                <a:solidFill>
                  <a:srgbClr val="86DFC6"/>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06</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Override Case</a:t>
            </a:r>
            <a:r>
              <a:rPr sz="1250" b="0" i="1">
                <a:solidFill>
                  <a:srgbClr val="A5BDB4"/>
                </a:solidFill>
                <a:latin typeface="Calibri"/>
              </a:rPr>
              <a:t>   —   Specification · story, contract, acceptance criteria · [DB-write→API→FE] · Track B — after 02 is wired</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06 of 09 · Override Case</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a bank employee I want to override a wrong policy decision with a reason — a rejected applicant whose registry entry was stale, an approval that should not have happened.</a:t>
            </a:r>
          </a:p>
        </p:txBody>
      </p:sp>
      <p:sp>
        <p:nvSpPr>
          <p:cNvPr id="10" name="TextBox 9"/>
          <p:cNvSpPr txBox="1"/>
          <p:nvPr/>
        </p:nvSpPr>
        <p:spPr>
          <a:xfrm>
            <a:off x="548640" y="216712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423160"/>
            <a:ext cx="4846320" cy="109728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POST /cases/{id}/override</a:t>
            </a:r>
          </a:p>
          <a:p>
            <a:pPr algn="l">
              <a:lnSpc>
                <a:spcPct val="105000"/>
              </a:lnSpc>
            </a:pPr>
            <a:r>
              <a:rPr sz="950" b="0" i="0">
                <a:solidFill>
                  <a:srgbClr val="D8EAE2"/>
                </a:solidFill>
                <a:latin typeface="Consolas"/>
              </a:rPr>
              <a:t>{"newOutcome":"APPROVED",</a:t>
            </a:r>
          </a:p>
          <a:p>
            <a:pPr algn="l">
              <a:lnSpc>
                <a:spcPct val="105000"/>
              </a:lnSpc>
            </a:pPr>
            <a:r>
              <a:rPr sz="950" b="0" i="0">
                <a:solidFill>
                  <a:srgbClr val="D8EAE2"/>
                </a:solidFill>
                <a:latin typeface="Consolas"/>
              </a:rPr>
              <a:t> "reason":"registry entry stale — card closed in May",</a:t>
            </a:r>
          </a:p>
          <a:p>
            <a:pPr algn="l">
              <a:lnSpc>
                <a:spcPct val="105000"/>
              </a:lnSpc>
            </a:pPr>
            <a:r>
              <a:rPr sz="950" b="0" i="0">
                <a:solidFill>
                  <a:srgbClr val="D8EAE2"/>
                </a:solidFill>
                <a:latin typeface="Consolas"/>
              </a:rPr>
              <a:t> "operator":"b.dimovski"}</a:t>
            </a:r>
          </a:p>
          <a:p>
            <a:pPr algn="l">
              <a:lnSpc>
                <a:spcPct val="105000"/>
              </a:lnSpc>
            </a:pPr>
            <a:r>
              <a:rPr sz="950" b="0" i="0">
                <a:solidFill>
                  <a:srgbClr val="D8EAE2"/>
                </a:solidFill>
                <a:latin typeface="Consolas"/>
              </a:rPr>
              <a:t>→ 200 + updated case</a:t>
            </a:r>
          </a:p>
        </p:txBody>
      </p:sp>
      <p:sp>
        <p:nvSpPr>
          <p:cNvPr id="12" name="TextBox 11"/>
          <p:cNvSpPr txBox="1"/>
          <p:nvPr/>
        </p:nvSpPr>
        <p:spPr>
          <a:xfrm>
            <a:off x="548640" y="359359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383133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Deleting or editing any other field of the record; overriding a case that does not exist (404). Working the referral queue — that is UC 04, with its claim discipline.</a:t>
            </a:r>
          </a:p>
        </p:txBody>
      </p:sp>
      <p:sp>
        <p:nvSpPr>
          <p:cNvPr id="14" name="TextBox 13"/>
          <p:cNvSpPr txBox="1"/>
          <p:nvPr/>
        </p:nvSpPr>
        <p:spPr>
          <a:xfrm>
            <a:off x="548640" y="443484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4672584"/>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The ONE permitted mutation outside the queue path. Writes the shared override_log and re-notifies the orchestrator with callback status local-manual and POL_MANUAL_APPROVED / POL_MANUAL_DECLINED, so a parked or ended journey position is corrected by a human on record.</a:t>
            </a:r>
          </a:p>
        </p:txBody>
      </p:sp>
      <p:sp>
        <p:nvSpPr>
          <p:cNvPr id="16" name="TextBox 15"/>
          <p:cNvSpPr txBox="1"/>
          <p:nvPr/>
        </p:nvSpPr>
        <p:spPr>
          <a:xfrm>
            <a:off x="548640" y="56418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5879592"/>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Slice test: happy path, missing reason → 400, unknown id → 404; service test asserts the callback fires once.</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POST /cases/{id}/override {newOutcome, reason, operator} → 200; the case's outcome updates immediately.</a:t>
            </a:r>
          </a:p>
          <a:p>
            <a:pPr>
              <a:lnSpc>
                <a:spcPct val="102000"/>
              </a:lnSpc>
              <a:spcAft>
                <a:spcPts val="600"/>
              </a:spcAft>
            </a:pPr>
            <a:r>
              <a:rPr sz="1200" b="1">
                <a:solidFill>
                  <a:srgbClr val="2EA98D"/>
                </a:solidFill>
                <a:latin typeface="Calibri"/>
              </a:rPr>
              <a:t>AC2  </a:t>
            </a:r>
            <a:r>
              <a:rPr sz="1200">
                <a:solidFill>
                  <a:srgbClr val="22302B"/>
                </a:solidFill>
                <a:latin typeface="Calibri"/>
              </a:rPr>
              <a:t>reason and operator are mandatory → 400 without either; newOutcome must be APPROVED, REFERRED or REJECTED.</a:t>
            </a:r>
          </a:p>
          <a:p>
            <a:pPr>
              <a:lnSpc>
                <a:spcPct val="102000"/>
              </a:lnSpc>
              <a:spcAft>
                <a:spcPts val="600"/>
              </a:spcAft>
            </a:pPr>
            <a:r>
              <a:rPr sz="1200" b="1">
                <a:solidFill>
                  <a:srgbClr val="2EA98D"/>
                </a:solidFill>
                <a:latin typeface="Calibri"/>
              </a:rPr>
              <a:t>AC3  </a:t>
            </a:r>
            <a:r>
              <a:rPr sz="1200">
                <a:solidFill>
                  <a:srgbClr val="22302B"/>
                </a:solidFill>
                <a:latin typeface="Calibri"/>
              </a:rPr>
              <a:t>An override_log row is written: applicationId, old outcome, new outcome, reason, operator, timestamp.</a:t>
            </a:r>
          </a:p>
          <a:p>
            <a:pPr>
              <a:lnSpc>
                <a:spcPct val="102000"/>
              </a:lnSpc>
              <a:spcAft>
                <a:spcPts val="600"/>
              </a:spcAft>
            </a:pPr>
            <a:r>
              <a:rPr sz="1200" b="1">
                <a:solidFill>
                  <a:srgbClr val="2EA98D"/>
                </a:solidFill>
                <a:latin typeface="Calibri"/>
              </a:rPr>
              <a:t>AC4  </a:t>
            </a:r>
            <a:r>
              <a:rPr sz="1200">
                <a:solidFill>
                  <a:srgbClr val="22302B"/>
                </a:solidFill>
                <a:latin typeface="Calibri"/>
              </a:rPr>
              <a:t>The module POSTs a fresh callback with status local-manual, the new outcome and POL_MANUAL_APPROVED or POL_MANUAL_DECLINED.</a:t>
            </a:r>
          </a:p>
          <a:p>
            <a:pPr>
              <a:lnSpc>
                <a:spcPct val="102000"/>
              </a:lnSpc>
              <a:spcAft>
                <a:spcPts val="600"/>
              </a:spcAft>
            </a:pPr>
            <a:r>
              <a:rPr sz="1200" b="1">
                <a:solidFill>
                  <a:srgbClr val="2EA98D"/>
                </a:solidFill>
                <a:latin typeface="Calibri"/>
              </a:rPr>
              <a:t>AC5  </a:t>
            </a:r>
            <a:r>
              <a:rPr sz="1200">
                <a:solidFill>
                  <a:srgbClr val="22302B"/>
                </a:solidFill>
                <a:latin typeface="Calibri"/>
              </a:rPr>
              <a:t>Overriding James Whitfield's REJECTED case to APPROVED (stale registry entry) shows the new outcome on the board, and the override in the case history.</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AC6  </a:t>
            </a:r>
            <a:r>
              <a:rPr sz="1200">
                <a:solidFill>
                  <a:srgbClr val="22302B"/>
                </a:solidFill>
                <a:latin typeface="Calibri"/>
              </a:rPr>
              <a:t>The original ruleResults and machineOutcome stay untouched — the record shows what the machine decided AND what the human decided.</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1">
                <a:solidFill>
                  <a:srgbClr val="86DFC6"/>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06</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Override Case</a:t>
            </a:r>
            <a:r>
              <a:rPr sz="1250" b="0" i="1">
                <a:solidFill>
                  <a:srgbClr val="A5BDB4"/>
                </a:solidFill>
                <a:latin typeface="Calibri"/>
              </a:rPr>
              <a:t>   —   Sequence Diagram + Data Changes · two writes + one callback</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06 · Override Case</a:t>
            </a:r>
          </a:p>
        </p:txBody>
      </p:sp>
      <p:pic>
        <p:nvPicPr>
          <p:cNvPr id="8" name="Picture 7" descr="uc-06-sequence.jpg"/>
          <p:cNvPicPr>
            <a:picLocks noChangeAspect="1"/>
          </p:cNvPicPr>
          <p:nvPr/>
        </p:nvPicPr>
        <p:blipFill>
          <a:blip r:embed="rId2"/>
          <a:stretch>
            <a:fillRect/>
          </a:stretch>
        </p:blipFill>
        <p:spPr>
          <a:xfrm>
            <a:off x="457200" y="1463040"/>
            <a:ext cx="7863840" cy="1775382"/>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UPDATE policy_record</a:t>
            </a:r>
            <a:r>
              <a:rPr sz="1100" b="0" i="0">
                <a:solidFill>
                  <a:srgbClr val="22302B"/>
                </a:solidFill>
                <a:latin typeface="Calibri"/>
              </a:rPr>
              <a:t> SET outcome = 'APPROVED' — the only field that may ever change here.</a:t>
            </a:r>
          </a:p>
          <a:p>
            <a:pPr algn="l">
              <a:lnSpc>
                <a:spcPct val="102000"/>
              </a:lnSpc>
              <a:spcAft>
                <a:spcPts val="700"/>
              </a:spcAft>
            </a:pPr>
            <a:r>
              <a:rPr sz="1100">
                <a:solidFill>
                  <a:srgbClr val="22302B"/>
                </a:solidFill>
                <a:latin typeface="Calibri"/>
              </a:rPr>
              <a:t>•  </a:t>
            </a:r>
            <a:r>
              <a:rPr sz="1100" b="1" i="0">
                <a:solidFill>
                  <a:srgbClr val="22302B"/>
                </a:solidFill>
                <a:latin typeface="Calibri"/>
              </a:rPr>
              <a:t>INSERT override_log</a:t>
            </a:r>
            <a:r>
              <a:rPr sz="1100" b="0" i="0">
                <a:solidFill>
                  <a:srgbClr val="22302B"/>
                </a:solidFill>
                <a:latin typeface="Calibri"/>
              </a:rPr>
              <a:t> (old, new, reason, operator, at).</a:t>
            </a:r>
          </a:p>
          <a:p>
            <a:pPr algn="l">
              <a:lnSpc>
                <a:spcPct val="102000"/>
              </a:lnSpc>
              <a:spcAft>
                <a:spcPts val="700"/>
              </a:spcAft>
            </a:pPr>
            <a:r>
              <a:rPr sz="1100">
                <a:solidFill>
                  <a:srgbClr val="22302B"/>
                </a:solidFill>
                <a:latin typeface="Calibri"/>
              </a:rPr>
              <a:t>•  </a:t>
            </a:r>
            <a:r>
              <a:rPr sz="1100" b="0" i="0">
                <a:solidFill>
                  <a:srgbClr val="22302B"/>
                </a:solidFill>
                <a:latin typeface="Calibri"/>
              </a:rPr>
              <a:t>Callback status local-manual tells the orchestrator a human decided — the journey resumes.</a:t>
            </a:r>
          </a:p>
          <a:p>
            <a:pPr algn="l">
              <a:lnSpc>
                <a:spcPct val="102000"/>
              </a:lnSpc>
              <a:spcAft>
                <a:spcPts val="700"/>
              </a:spcAft>
            </a:pPr>
            <a:r>
              <a:rPr sz="1100">
                <a:solidFill>
                  <a:srgbClr val="22302B"/>
                </a:solidFill>
                <a:latin typeface="Calibri"/>
              </a:rPr>
              <a:t>•  </a:t>
            </a:r>
            <a:r>
              <a:rPr sz="1100" b="0" i="0">
                <a:solidFill>
                  <a:srgbClr val="22302B"/>
                </a:solidFill>
                <a:latin typeface="Calibri"/>
              </a:rPr>
              <a:t>ruleResults JSON + machineOutcome untouched: machine view preserved forever.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1">
                <a:solidFill>
                  <a:srgbClr val="86DFC6"/>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07</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Edit Policy Config</a:t>
            </a:r>
            <a:r>
              <a:rPr sz="1250" b="0" i="1">
                <a:solidFill>
                  <a:srgbClr val="A5BDB4"/>
                </a:solidFill>
                <a:latin typeface="Calibri"/>
              </a:rPr>
              <a:t>   —   Specification · story, contract, acceptance criteria · [DB-write→API→FE] · Track C — none (independent)</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07 of 09 · Edit Policy Config</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a compliance officer I want to change the residency lists, the restriction list or the sampling rate without a deploy — policy ships as data.</a:t>
            </a:r>
          </a:p>
        </p:txBody>
      </p:sp>
      <p:sp>
        <p:nvSpPr>
          <p:cNvPr id="10" name="TextBox 9"/>
          <p:cNvSpPr txBox="1"/>
          <p:nvPr/>
        </p:nvSpPr>
        <p:spPr>
          <a:xfrm>
            <a:off x="548640" y="216712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423160"/>
            <a:ext cx="4846320" cy="182880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POST /config</a:t>
            </a:r>
          </a:p>
          <a:p>
            <a:pPr algn="l">
              <a:lnSpc>
                <a:spcPct val="105000"/>
              </a:lnSpc>
            </a:pPr>
            <a:r>
              <a:rPr sz="950" b="0" i="0">
                <a:solidFill>
                  <a:srgbClr val="D8EAE2"/>
                </a:solidFill>
                <a:latin typeface="Consolas"/>
              </a:rPr>
              <a:t>{"supportedResidencies":["GB","IE","PL","DE",</a:t>
            </a:r>
          </a:p>
          <a:p>
            <a:pPr algn="l">
              <a:lnSpc>
                <a:spcPct val="105000"/>
              </a:lnSpc>
            </a:pPr>
            <a:r>
              <a:rPr sz="950" b="0" i="0">
                <a:solidFill>
                  <a:srgbClr val="D8EAE2"/>
                </a:solidFill>
                <a:latin typeface="Consolas"/>
              </a:rPr>
              <a:t>   "FR","ES","NL"],</a:t>
            </a:r>
          </a:p>
          <a:p>
            <a:pPr algn="l">
              <a:lnSpc>
                <a:spcPct val="105000"/>
              </a:lnSpc>
            </a:pPr>
            <a:r>
              <a:rPr sz="950" b="0" i="0">
                <a:solidFill>
                  <a:srgbClr val="D8EAE2"/>
                </a:solidFill>
                <a:latin typeface="Consolas"/>
              </a:rPr>
              <a:t> "excludedResidencies":["US"],</a:t>
            </a:r>
          </a:p>
          <a:p>
            <a:pPr algn="l">
              <a:lnSpc>
                <a:spcPct val="105000"/>
              </a:lnSpc>
            </a:pPr>
            <a:r>
              <a:rPr sz="950" b="0" i="0">
                <a:solidFill>
                  <a:srgbClr val="D8EAE2"/>
                </a:solidFill>
                <a:latin typeface="Consolas"/>
              </a:rPr>
              <a:t> "restrictionList":[{"fullName":"Victor Sable",</a:t>
            </a:r>
          </a:p>
          <a:p>
            <a:pPr algn="l">
              <a:lnSpc>
                <a:spcPct val="105000"/>
              </a:lnSpc>
            </a:pPr>
            <a:r>
              <a:rPr sz="950" b="0" i="0">
                <a:solidFill>
                  <a:srgbClr val="D8EAE2"/>
                </a:solidFill>
                <a:latin typeface="Consolas"/>
              </a:rPr>
              <a:t>   "dateOfBirth":"1978-03-02",</a:t>
            </a:r>
          </a:p>
          <a:p>
            <a:pPr algn="l">
              <a:lnSpc>
                <a:spcPct val="105000"/>
              </a:lnSpc>
            </a:pPr>
            <a:r>
              <a:rPr sz="950" b="0" i="0">
                <a:solidFill>
                  <a:srgbClr val="D8EAE2"/>
                </a:solidFill>
                <a:latin typeface="Consolas"/>
              </a:rPr>
              <a:t>   "reason":"prior fraud loss"}],</a:t>
            </a:r>
          </a:p>
          <a:p>
            <a:pPr algn="l">
              <a:lnSpc>
                <a:spcPct val="105000"/>
              </a:lnSpc>
            </a:pPr>
            <a:r>
              <a:rPr sz="950" b="0" i="0">
                <a:solidFill>
                  <a:srgbClr val="D8EAE2"/>
                </a:solidFill>
                <a:latin typeface="Consolas"/>
              </a:rPr>
              <a:t> "sampleEvery":7}</a:t>
            </a:r>
          </a:p>
          <a:p>
            <a:pPr algn="l">
              <a:lnSpc>
                <a:spcPct val="105000"/>
              </a:lnSpc>
            </a:pPr>
            <a:r>
              <a:rPr sz="950" b="0" i="0">
                <a:solidFill>
                  <a:srgbClr val="D8EAE2"/>
                </a:solidFill>
                <a:latin typeface="Consolas"/>
              </a:rPr>
              <a:t>→ 201 + {version: 2}</a:t>
            </a:r>
          </a:p>
        </p:txBody>
      </p:sp>
      <p:sp>
        <p:nvSpPr>
          <p:cNvPr id="12" name="TextBox 11"/>
          <p:cNvSpPr txBox="1"/>
          <p:nvPr/>
        </p:nvSpPr>
        <p:spPr>
          <a:xfrm>
            <a:off x="548640" y="432511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456285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Deleting or editing an existing version (insert-only); per-product policy lists; a DRAFT/approval workflow.</a:t>
            </a:r>
          </a:p>
        </p:txBody>
      </p:sp>
      <p:sp>
        <p:nvSpPr>
          <p:cNvPr id="14" name="TextBox 13"/>
          <p:cNvSpPr txBox="1"/>
          <p:nvPr/>
        </p:nvSpPr>
        <p:spPr>
          <a:xfrm>
            <a:off x="548640" y="498348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5221224"/>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current = MAX(version) — no is_current flag to keep in sync. A version is the WHOLE config document: both residency lists, the full restriction list, sampleEvery. Validation: lists are ISO alpha-2 uppercase, no country on both lists, every restriction entry carries fullName + dateOfBirth + non-blank reason, sampleEvery ≥ 1.</a:t>
            </a:r>
          </a:p>
        </p:txBody>
      </p:sp>
      <p:sp>
        <p:nvSpPr>
          <p:cNvPr id="16" name="TextBox 15"/>
          <p:cNvSpPr txBox="1"/>
          <p:nvPr/>
        </p:nvSpPr>
        <p:spPr>
          <a:xfrm>
            <a:off x="548640" y="637336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6611112"/>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Repository test: version increments; validation 400s (country on both lists, blank reason); engine picks up the new current version on the next /execute.</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POST /config with the full document → 201; a NEW version row is inserted — never an update.</a:t>
            </a:r>
          </a:p>
          <a:p>
            <a:pPr>
              <a:lnSpc>
                <a:spcPct val="102000"/>
              </a:lnSpc>
              <a:spcAft>
                <a:spcPts val="600"/>
              </a:spcAft>
            </a:pPr>
            <a:r>
              <a:rPr sz="1200" b="1">
                <a:solidFill>
                  <a:srgbClr val="2EA98D"/>
                </a:solidFill>
                <a:latin typeface="Calibri"/>
              </a:rPr>
              <a:t>AC2  </a:t>
            </a:r>
            <a:r>
              <a:rPr sz="1200">
                <a:solidFill>
                  <a:srgbClr val="22302B"/>
                </a:solidFill>
                <a:latin typeface="Calibri"/>
              </a:rPr>
              <a:t>Version numbers increment from the seeded v1.</a:t>
            </a:r>
          </a:p>
          <a:p>
            <a:pPr>
              <a:lnSpc>
                <a:spcPct val="102000"/>
              </a:lnSpc>
              <a:spcAft>
                <a:spcPts val="600"/>
              </a:spcAft>
            </a:pPr>
            <a:r>
              <a:rPr sz="1200" b="1">
                <a:solidFill>
                  <a:srgbClr val="2EA98D"/>
                </a:solidFill>
                <a:latin typeface="Calibri"/>
              </a:rPr>
              <a:t>AC3  </a:t>
            </a:r>
            <a:r>
              <a:rPr sz="1200">
                <a:solidFill>
                  <a:srgbClr val="22302B"/>
                </a:solidFill>
                <a:latin typeface="Calibri"/>
              </a:rPr>
              <a:t>Seed data: v1 exists on first boot — supported GB, IE, PL, DE, FR, ES, NL · excluded US · 2 restriction entries · sampleEvery 7.</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AC4  </a:t>
            </a:r>
            <a:r>
              <a:rPr sz="1200">
                <a:solidFill>
                  <a:srgbClr val="22302B"/>
                </a:solidFill>
                <a:latin typeface="Calibri"/>
              </a:rPr>
              <a:t>Invalid payload (country on both lists, restriction entry without a reason, sampleEvery &lt; 1) → 400 with field-level errors.</a:t>
            </a:r>
          </a:p>
          <a:p>
            <a:pPr>
              <a:lnSpc>
                <a:spcPct val="102000"/>
              </a:lnSpc>
              <a:spcAft>
                <a:spcPts val="600"/>
              </a:spcAft>
            </a:pPr>
            <a:r>
              <a:rPr sz="1200" b="1">
                <a:solidFill>
                  <a:srgbClr val="2EA98D"/>
                </a:solidFill>
                <a:latin typeface="Calibri"/>
              </a:rPr>
              <a:t>AC5  </a:t>
            </a:r>
            <a:r>
              <a:rPr sz="1200">
                <a:solidFill>
                  <a:srgbClr val="22302B"/>
                </a:solidFill>
                <a:latin typeface="Calibri"/>
              </a:rPr>
              <a:t>The next /execute decides with the new version; cases decided earlier still show the version they used.</a:t>
            </a:r>
          </a:p>
          <a:p>
            <a:pPr>
              <a:lnSpc>
                <a:spcPct val="102000"/>
              </a:lnSpc>
              <a:spcAft>
                <a:spcPts val="600"/>
              </a:spcAft>
            </a:pPr>
            <a:r>
              <a:rPr sz="1200" b="1">
                <a:solidFill>
                  <a:srgbClr val="2EA98D"/>
                </a:solidFill>
                <a:latin typeface="Calibri"/>
              </a:rPr>
              <a:t>AC6  </a:t>
            </a:r>
            <a:r>
              <a:rPr sz="1200">
                <a:solidFill>
                  <a:srgbClr val="22302B"/>
                </a:solidFill>
                <a:latin typeface="Calibri"/>
              </a:rPr>
              <a:t>Adding a restriction entry makes the very next matching application REJECT with POL_CUSTOMER_BLOCKED — demo-able live.</a:t>
            </a:r>
          </a:p>
          <a:p>
            <a:pPr>
              <a:lnSpc>
                <a:spcPct val="102000"/>
              </a:lnSpc>
              <a:spcAft>
                <a:spcPts val="600"/>
              </a:spcAft>
            </a:pPr>
            <a:r>
              <a:rPr sz="1200" b="1">
                <a:solidFill>
                  <a:srgbClr val="2EA98D"/>
                </a:solidFill>
                <a:latin typeface="Calibri"/>
              </a:rPr>
              <a:t>AC7  </a:t>
            </a:r>
            <a:r>
              <a:rPr sz="1200">
                <a:solidFill>
                  <a:srgbClr val="22302B"/>
                </a:solidFill>
                <a:latin typeface="Calibri"/>
              </a:rPr>
              <a:t>Changing sampleEvery from 7 to 3 changes how often rule 4 fires from the next decision on — no restart, no redeploy.</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1">
                <a:solidFill>
                  <a:srgbClr val="86DFC6"/>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07</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Edit Policy Config</a:t>
            </a:r>
            <a:r>
              <a:rPr sz="1250" b="0" i="1">
                <a:solidFill>
                  <a:srgbClr val="A5BDB4"/>
                </a:solidFill>
                <a:latin typeface="Calibri"/>
              </a:rPr>
              <a:t>   —   Sequence Diagram + Data Changes · insert-only</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07 · Edit Policy Config</a:t>
            </a:r>
          </a:p>
        </p:txBody>
      </p:sp>
      <p:pic>
        <p:nvPicPr>
          <p:cNvPr id="8" name="Picture 7" descr="uc-07-sequence.jpg"/>
          <p:cNvPicPr>
            <a:picLocks noChangeAspect="1"/>
          </p:cNvPicPr>
          <p:nvPr/>
        </p:nvPicPr>
        <p:blipFill>
          <a:blip r:embed="rId2"/>
          <a:stretch>
            <a:fillRect/>
          </a:stretch>
        </p:blipFill>
        <p:spPr>
          <a:xfrm>
            <a:off x="457200" y="1463040"/>
            <a:ext cx="7863840" cy="2296963"/>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INSERT policy_config</a:t>
            </a:r>
            <a:r>
              <a:rPr sz="1100" b="0" i="0">
                <a:solidFill>
                  <a:srgbClr val="22302B"/>
                </a:solidFill>
                <a:latin typeface="Calibri"/>
              </a:rPr>
              <a:t> row with version = MAX + 1 — the whole document, lists and sampleEvery together.</a:t>
            </a:r>
          </a:p>
          <a:p>
            <a:pPr algn="l">
              <a:lnSpc>
                <a:spcPct val="102000"/>
              </a:lnSpc>
              <a:spcAft>
                <a:spcPts val="700"/>
              </a:spcAft>
            </a:pPr>
            <a:r>
              <a:rPr sz="1100">
                <a:solidFill>
                  <a:srgbClr val="22302B"/>
                </a:solidFill>
                <a:latin typeface="Calibri"/>
              </a:rPr>
              <a:t>•  </a:t>
            </a:r>
            <a:r>
              <a:rPr sz="1100" b="1" i="0">
                <a:solidFill>
                  <a:srgbClr val="22302B"/>
                </a:solidFill>
                <a:latin typeface="Calibri"/>
              </a:rPr>
              <a:t>Never UPDATE, never DELETE</a:t>
            </a:r>
            <a:r>
              <a:rPr sz="1100" b="0" i="0">
                <a:solidFill>
                  <a:srgbClr val="22302B"/>
                </a:solidFill>
                <a:latin typeface="Calibri"/>
              </a:rPr>
              <a:t> — history is the audit trail.</a:t>
            </a:r>
          </a:p>
          <a:p>
            <a:pPr algn="l">
              <a:lnSpc>
                <a:spcPct val="102000"/>
              </a:lnSpc>
              <a:spcAft>
                <a:spcPts val="700"/>
              </a:spcAft>
            </a:pPr>
            <a:r>
              <a:rPr sz="1100">
                <a:solidFill>
                  <a:srgbClr val="22302B"/>
                </a:solidFill>
                <a:latin typeface="Calibri"/>
              </a:rPr>
              <a:t>•  </a:t>
            </a:r>
            <a:r>
              <a:rPr sz="1100" b="0" i="0">
                <a:solidFill>
                  <a:srgbClr val="22302B"/>
                </a:solidFill>
                <a:latin typeface="Calibri"/>
              </a:rPr>
              <a:t>Existing policy_record rows are untouched — their pinned policyConfigVersion keeps old decisions explainable.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1">
                <a:solidFill>
                  <a:srgbClr val="86DFC6"/>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08</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View Config History</a:t>
            </a:r>
            <a:r>
              <a:rPr sz="1250" b="0" i="1">
                <a:solidFill>
                  <a:srgbClr val="A5BDB4"/>
                </a:solidFill>
                <a:latin typeface="Calibri"/>
              </a:rPr>
              <a:t>   —   Specification · story, contract, acceptance criteria · [API+FE] · Track C — after 07</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08 of 09 · View Config History</a:t>
            </a:r>
          </a:p>
        </p:txBody>
      </p:sp>
      <p:sp>
        <p:nvSpPr>
          <p:cNvPr id="8" name="TextBox 7"/>
          <p:cNvSpPr txBox="1"/>
          <p:nvPr/>
        </p:nvSpPr>
        <p:spPr>
          <a:xfrm>
            <a:off x="548640" y="129844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STORY</a:t>
            </a:r>
          </a:p>
        </p:txBody>
      </p:sp>
      <p:sp>
        <p:nvSpPr>
          <p:cNvPr id="9" name="TextBox 8"/>
          <p:cNvSpPr txBox="1"/>
          <p:nvPr/>
        </p:nvSpPr>
        <p:spPr>
          <a:xfrm>
            <a:off x="548640" y="1536192"/>
            <a:ext cx="4846320" cy="640080"/>
          </a:xfrm>
          <a:prstGeom prst="rect">
            <a:avLst/>
          </a:prstGeom>
          <a:noFill/>
        </p:spPr>
        <p:txBody>
          <a:bodyPr wrap="square" lIns="0" rIns="0" tIns="0" bIns="0">
            <a:spAutoFit/>
          </a:bodyPr>
          <a:lstStyle/>
          <a:p>
            <a:pPr algn="l">
              <a:lnSpc>
                <a:spcPct val="100000"/>
              </a:lnSpc>
            </a:pPr>
            <a:r>
              <a:rPr sz="1200" b="0" i="1">
                <a:solidFill>
                  <a:srgbClr val="22302B"/>
                </a:solidFill>
                <a:latin typeface="Calibri"/>
              </a:rPr>
              <a:t>As a bank employee I want to see every past version of the policy configuration so I can explain an old decision — which lists, which restriction entries, which sampling rate.</a:t>
            </a:r>
          </a:p>
        </p:txBody>
      </p:sp>
      <p:sp>
        <p:nvSpPr>
          <p:cNvPr id="10" name="TextBox 9"/>
          <p:cNvSpPr txBox="1"/>
          <p:nvPr/>
        </p:nvSpPr>
        <p:spPr>
          <a:xfrm>
            <a:off x="548640" y="216712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CONTRACT</a:t>
            </a:r>
          </a:p>
        </p:txBody>
      </p:sp>
      <p:sp>
        <p:nvSpPr>
          <p:cNvPr id="11" name="Rounded Rectangle 10"/>
          <p:cNvSpPr/>
          <p:nvPr/>
        </p:nvSpPr>
        <p:spPr>
          <a:xfrm>
            <a:off x="548640" y="2423160"/>
            <a:ext cx="4846320" cy="1463040"/>
          </a:xfrm>
          <a:prstGeom prst="roundRect">
            <a:avLst>
              <a:gd name="adj" fmla="val 4500"/>
            </a:avLst>
          </a:prstGeom>
          <a:solidFill>
            <a:srgbClr val="17362D"/>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91440" wrap="square"/>
          <a:lstStyle/>
          <a:p>
            <a:pPr algn="l">
              <a:lnSpc>
                <a:spcPct val="105000"/>
              </a:lnSpc>
            </a:pPr>
            <a:r>
              <a:rPr sz="950" b="0" i="0">
                <a:solidFill>
                  <a:srgbClr val="D8EAE2"/>
                </a:solidFill>
                <a:latin typeface="Consolas"/>
              </a:rPr>
              <a:t>GET /config/versions →</a:t>
            </a:r>
          </a:p>
          <a:p>
            <a:pPr algn="l">
              <a:lnSpc>
                <a:spcPct val="105000"/>
              </a:lnSpc>
            </a:pPr>
            <a:r>
              <a:rPr sz="950" b="0" i="0">
                <a:solidFill>
                  <a:srgbClr val="D8EAE2"/>
                </a:solidFill>
                <a:latin typeface="Consolas"/>
              </a:rPr>
              <a:t>[{"version":1,</a:t>
            </a:r>
          </a:p>
          <a:p>
            <a:pPr algn="l">
              <a:lnSpc>
                <a:spcPct val="105000"/>
              </a:lnSpc>
            </a:pPr>
            <a:r>
              <a:rPr sz="950" b="0" i="0">
                <a:solidFill>
                  <a:srgbClr val="D8EAE2"/>
                </a:solidFill>
                <a:latin typeface="Consolas"/>
              </a:rPr>
              <a:t>  "supportedResidencies":["GB","IE",…],</a:t>
            </a:r>
          </a:p>
          <a:p>
            <a:pPr algn="l">
              <a:lnSpc>
                <a:spcPct val="105000"/>
              </a:lnSpc>
            </a:pPr>
            <a:r>
              <a:rPr sz="950" b="0" i="0">
                <a:solidFill>
                  <a:srgbClr val="D8EAE2"/>
                </a:solidFill>
                <a:latin typeface="Consolas"/>
              </a:rPr>
              <a:t>  "excludedResidencies":["US"],</a:t>
            </a:r>
          </a:p>
          <a:p>
            <a:pPr algn="l">
              <a:lnSpc>
                <a:spcPct val="105000"/>
              </a:lnSpc>
            </a:pPr>
            <a:r>
              <a:rPr sz="950" b="0" i="0">
                <a:solidFill>
                  <a:srgbClr val="D8EAE2"/>
                </a:solidFill>
                <a:latin typeface="Consolas"/>
              </a:rPr>
              <a:t>  "restrictionList":[…],"sampleEvery":7,</a:t>
            </a:r>
          </a:p>
          <a:p>
            <a:pPr algn="l">
              <a:lnSpc>
                <a:spcPct val="105000"/>
              </a:lnSpc>
            </a:pPr>
            <a:r>
              <a:rPr sz="950" b="0" i="0">
                <a:solidFill>
                  <a:srgbClr val="D8EAE2"/>
                </a:solidFill>
                <a:latin typeface="Consolas"/>
              </a:rPr>
              <a:t>  "effectiveFrom":"2026-07-01T…"},</a:t>
            </a:r>
          </a:p>
          <a:p>
            <a:pPr algn="l">
              <a:lnSpc>
                <a:spcPct val="105000"/>
              </a:lnSpc>
            </a:pPr>
            <a:r>
              <a:rPr sz="950" b="0" i="0">
                <a:solidFill>
                  <a:srgbClr val="D8EAE2"/>
                </a:solidFill>
                <a:latin typeface="Consolas"/>
              </a:rPr>
              <a:t> …oldest first, current last…]</a:t>
            </a:r>
          </a:p>
        </p:txBody>
      </p:sp>
      <p:sp>
        <p:nvSpPr>
          <p:cNvPr id="12" name="TextBox 11"/>
          <p:cNvSpPr txBox="1"/>
          <p:nvPr/>
        </p:nvSpPr>
        <p:spPr>
          <a:xfrm>
            <a:off x="548640" y="3959352"/>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OUT OF SCOPE</a:t>
            </a:r>
          </a:p>
        </p:txBody>
      </p:sp>
      <p:sp>
        <p:nvSpPr>
          <p:cNvPr id="13" name="TextBox 12"/>
          <p:cNvSpPr txBox="1"/>
          <p:nvPr/>
        </p:nvSpPr>
        <p:spPr>
          <a:xfrm>
            <a:off x="548640" y="4197096"/>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Diffing versions in the UI; restoring an old version (create a new one instead).</a:t>
            </a:r>
          </a:p>
        </p:txBody>
      </p:sp>
      <p:sp>
        <p:nvSpPr>
          <p:cNvPr id="14" name="TextBox 13"/>
          <p:cNvSpPr txBox="1"/>
          <p:nvPr/>
        </p:nvSpPr>
        <p:spPr>
          <a:xfrm>
            <a:off x="548640" y="461772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BUILD NOTES</a:t>
            </a:r>
          </a:p>
        </p:txBody>
      </p:sp>
      <p:sp>
        <p:nvSpPr>
          <p:cNvPr id="15" name="TextBox 14"/>
          <p:cNvSpPr txBox="1"/>
          <p:nvPr/>
        </p:nvSpPr>
        <p:spPr>
          <a:xfrm>
            <a:off x="548640" y="4855464"/>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Plain read over policy_config ordered by version; mark the current (MAX) row so the UI can badge it. A case's pinned policyConfigVersion deep-links here from Decision Detail.</a:t>
            </a:r>
          </a:p>
        </p:txBody>
      </p:sp>
      <p:sp>
        <p:nvSpPr>
          <p:cNvPr id="16" name="TextBox 15"/>
          <p:cNvSpPr txBox="1"/>
          <p:nvPr/>
        </p:nvSpPr>
        <p:spPr>
          <a:xfrm>
            <a:off x="548640" y="5458968"/>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TESTS</a:t>
            </a:r>
          </a:p>
        </p:txBody>
      </p:sp>
      <p:sp>
        <p:nvSpPr>
          <p:cNvPr id="17" name="TextBox 16"/>
          <p:cNvSpPr txBox="1"/>
          <p:nvPr/>
        </p:nvSpPr>
        <p:spPr>
          <a:xfrm>
            <a:off x="548640" y="5696712"/>
            <a:ext cx="4846320" cy="73152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Repository test: ordering, current marked, empty-never (seed guarantees v1).</a:t>
            </a:r>
          </a:p>
        </p:txBody>
      </p:sp>
      <p:sp>
        <p:nvSpPr>
          <p:cNvPr id="18" name="TextBox 17"/>
          <p:cNvSpPr txBox="1"/>
          <p:nvPr/>
        </p:nvSpPr>
        <p:spPr>
          <a:xfrm>
            <a:off x="5806440" y="1298448"/>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9" name="TextBox 18"/>
          <p:cNvSpPr txBox="1"/>
          <p:nvPr/>
        </p:nvSpPr>
        <p:spPr>
          <a:xfrm>
            <a:off x="5806440" y="1572768"/>
            <a:ext cx="5852160" cy="4023360"/>
          </a:xfrm>
          <a:prstGeom prst="rect">
            <a:avLst/>
          </a:prstGeom>
          <a:noFill/>
        </p:spPr>
        <p:txBody>
          <a:bodyPr wrap="square" lIns="0" rIns="0" tIns="0" bIns="0">
            <a:spAutoFit/>
          </a:bodyPr>
          <a:lstStyle/>
          <a:p>
            <a:pPr>
              <a:lnSpc>
                <a:spcPct val="102000"/>
              </a:lnSpc>
              <a:spcAft>
                <a:spcPts val="600"/>
              </a:spcAft>
            </a:pPr>
            <a:r>
              <a:rPr sz="1200" b="1">
                <a:solidFill>
                  <a:srgbClr val="2EA98D"/>
                </a:solidFill>
                <a:latin typeface="Calibri"/>
              </a:rPr>
              <a:t>AC1  </a:t>
            </a:r>
            <a:r>
              <a:rPr sz="1200">
                <a:solidFill>
                  <a:srgbClr val="22302B"/>
                </a:solidFill>
                <a:latin typeface="Calibri"/>
              </a:rPr>
              <a:t>GET /config/versions → 200 + every version, oldest first, each with both residency lists, the restriction list, sampleEvery and effectiveFrom.</a:t>
            </a:r>
          </a:p>
          <a:p>
            <a:pPr>
              <a:lnSpc>
                <a:spcPct val="102000"/>
              </a:lnSpc>
              <a:spcAft>
                <a:spcPts val="600"/>
              </a:spcAft>
            </a:pPr>
            <a:r>
              <a:rPr sz="1200" b="1">
                <a:solidFill>
                  <a:srgbClr val="2EA98D"/>
                </a:solidFill>
                <a:latin typeface="Calibri"/>
              </a:rPr>
              <a:t>AC2  </a:t>
            </a:r>
            <a:r>
              <a:rPr sz="1200">
                <a:solidFill>
                  <a:srgbClr val="22302B"/>
                </a:solidFill>
                <a:latin typeface="Calibri"/>
              </a:rPr>
              <a:t>The current version is flagged in the response.</a:t>
            </a:r>
          </a:p>
          <a:p>
            <a:pPr>
              <a:lnSpc>
                <a:spcPct val="102000"/>
              </a:lnSpc>
              <a:spcAft>
                <a:spcPts val="600"/>
              </a:spcAft>
            </a:pPr>
            <a:r>
              <a:rPr sz="1200" b="1">
                <a:solidFill>
                  <a:srgbClr val="2EA98D"/>
                </a:solidFill>
                <a:latin typeface="Calibri"/>
              </a:rPr>
              <a:t>AC3  </a:t>
            </a:r>
            <a:r>
              <a:rPr sz="1200">
                <a:solidFill>
                  <a:srgbClr val="22302B"/>
                </a:solidFill>
                <a:latin typeface="Calibri"/>
              </a:rPr>
              <a:t>After UC 07's demo insert, the history shows v1 and v2 with v2 current.</a:t>
            </a:r>
            <a:r>
              <a:rPr sz="1200" b="1" i="1">
                <a:solidFill>
                  <a:srgbClr val="B7791F"/>
                </a:solidFill>
                <a:latin typeface="Calibri"/>
              </a:rPr>
              <a:t>   ← checkpoint</a:t>
            </a:r>
          </a:p>
          <a:p>
            <a:pPr>
              <a:lnSpc>
                <a:spcPct val="102000"/>
              </a:lnSpc>
              <a:spcAft>
                <a:spcPts val="600"/>
              </a:spcAft>
            </a:pPr>
            <a:r>
              <a:rPr sz="1200" b="1">
                <a:solidFill>
                  <a:srgbClr val="2EA98D"/>
                </a:solidFill>
                <a:latin typeface="Calibri"/>
              </a:rPr>
              <a:t>AC4  </a:t>
            </a:r>
            <a:r>
              <a:rPr sz="1200">
                <a:solidFill>
                  <a:srgbClr val="22302B"/>
                </a:solidFill>
                <a:latin typeface="Calibri"/>
              </a:rPr>
              <a:t>A case decided under v1 still displays v1's lists after v2 ships — the pin, not the current version, explains the decision.</a:t>
            </a:r>
          </a:p>
          <a:p>
            <a:pPr>
              <a:lnSpc>
                <a:spcPct val="102000"/>
              </a:lnSpc>
              <a:spcAft>
                <a:spcPts val="600"/>
              </a:spcAft>
            </a:pPr>
            <a:r>
              <a:rPr sz="1200" b="1">
                <a:solidFill>
                  <a:srgbClr val="2EA98D"/>
                </a:solidFill>
                <a:latin typeface="Calibri"/>
              </a:rPr>
              <a:t>AC5  </a:t>
            </a:r>
            <a:r>
              <a:rPr sz="1200">
                <a:solidFill>
                  <a:srgbClr val="22302B"/>
                </a:solidFill>
                <a:latin typeface="Calibri"/>
              </a:rPr>
              <a:t>The Policy Configuration screen shows the history beside the editor — selecting a version shows its full document read-only.</a:t>
            </a:r>
          </a:p>
        </p:txBody>
      </p:sp>
      <p:sp>
        <p:nvSpPr>
          <p:cNvPr id="20" name="Rounded Rectangle 19"/>
          <p:cNvSpPr/>
          <p:nvPr/>
        </p:nvSpPr>
        <p:spPr>
          <a:xfrm>
            <a:off x="5806440" y="5742432"/>
            <a:ext cx="5852160" cy="658368"/>
          </a:xfrm>
          <a:prstGeom prst="roundRect">
            <a:avLst>
              <a:gd name="adj" fmla="val 6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54864" bIns="36576" wrap="square"/>
          <a:lstStyle/>
          <a:p>
            <a:pPr algn="l">
              <a:lnSpc>
                <a:spcPct val="100000"/>
              </a:lnSpc>
            </a:pPr>
            <a:r>
              <a:rPr sz="950" b="1" i="0">
                <a:solidFill>
                  <a:srgbClr val="5E736B"/>
                </a:solidFill>
                <a:latin typeface="Calibri"/>
              </a:rPr>
              <a:t>DEFINITION OF DONE — THIS USE CASE</a:t>
            </a:r>
          </a:p>
          <a:p>
            <a:pPr algn="l">
              <a:lnSpc>
                <a:spcPct val="100000"/>
              </a:lnSpc>
            </a:pPr>
            <a:r>
              <a:rPr sz="1050" b="0" i="0">
                <a:solidFill>
                  <a:srgbClr val="22302B"/>
                </a:solidFill>
                <a:latin typeface="Calibri"/>
              </a:rPr>
              <a:t>All ACs verified against the running app · ./mvnw test green · teammate-reviewed PR merged to main · fresh clone builds green · endpoint idempotent + in the OpenAPI (Swagger) spec · demoable from the UI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1">
                <a:solidFill>
                  <a:srgbClr val="86DFC6"/>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08</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View Config History</a:t>
            </a:r>
            <a:r>
              <a:rPr sz="1250" b="0" i="1">
                <a:solidFill>
                  <a:srgbClr val="A5BDB4"/>
                </a:solidFill>
                <a:latin typeface="Calibri"/>
              </a:rPr>
              <a:t>   —   Sequence Diagram + Data Changes · read-only</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use case 08 · View Config History</a:t>
            </a:r>
          </a:p>
        </p:txBody>
      </p:sp>
      <p:pic>
        <p:nvPicPr>
          <p:cNvPr id="8" name="Picture 7" descr="uc-08-sequence.jpg"/>
          <p:cNvPicPr>
            <a:picLocks noChangeAspect="1"/>
          </p:cNvPicPr>
          <p:nvPr/>
        </p:nvPicPr>
        <p:blipFill>
          <a:blip r:embed="rId2"/>
          <a:stretch>
            <a:fillRect/>
          </a:stretch>
        </p:blipFill>
        <p:spPr>
          <a:xfrm>
            <a:off x="457200" y="1463040"/>
            <a:ext cx="7863840" cy="2156537"/>
          </a:xfrm>
          <a:prstGeom prst="rect">
            <a:avLst/>
          </a:prstGeom>
        </p:spPr>
      </p:pic>
      <p:sp>
        <p:nvSpPr>
          <p:cNvPr id="9" name="Rounded Rectangle 8"/>
          <p:cNvSpPr/>
          <p:nvPr/>
        </p:nvSpPr>
        <p:spPr>
          <a:xfrm>
            <a:off x="8458200" y="1325880"/>
            <a:ext cx="3246120" cy="466344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481328"/>
            <a:ext cx="2926080" cy="228600"/>
          </a:xfrm>
          <a:prstGeom prst="rect">
            <a:avLst/>
          </a:prstGeom>
          <a:noFill/>
        </p:spPr>
        <p:txBody>
          <a:bodyPr wrap="square" lIns="0" rIns="0" tIns="0" bIns="0">
            <a:spAutoFit/>
          </a:bodyPr>
          <a:lstStyle/>
          <a:p>
            <a:pPr algn="l">
              <a:lnSpc>
                <a:spcPct val="100000"/>
              </a:lnSpc>
            </a:pPr>
            <a:r>
              <a:rPr sz="1150" b="1" i="0">
                <a:solidFill>
                  <a:srgbClr val="B7791F"/>
                </a:solidFill>
                <a:latin typeface="Calibri"/>
              </a:rPr>
              <a:t>EXPECTED DATA CHANGES</a:t>
            </a:r>
          </a:p>
        </p:txBody>
      </p:sp>
      <p:sp>
        <p:nvSpPr>
          <p:cNvPr id="11" name="TextBox 10"/>
          <p:cNvSpPr txBox="1"/>
          <p:nvPr/>
        </p:nvSpPr>
        <p:spPr>
          <a:xfrm>
            <a:off x="8641080" y="1783080"/>
            <a:ext cx="2926080" cy="4023360"/>
          </a:xfrm>
          <a:prstGeom prst="rect">
            <a:avLst/>
          </a:prstGeom>
          <a:noFill/>
        </p:spPr>
        <p:txBody>
          <a:bodyPr wrap="square" lIns="0" rIns="0" tIns="0" bIns="0">
            <a:spAutoFit/>
          </a:bodyPr>
          <a:lstStyle/>
          <a:p>
            <a:pPr algn="l">
              <a:lnSpc>
                <a:spcPct val="102000"/>
              </a:lnSpc>
              <a:spcAft>
                <a:spcPts val="700"/>
              </a:spcAft>
            </a:pPr>
            <a:r>
              <a:rPr sz="1100">
                <a:solidFill>
                  <a:srgbClr val="22302B"/>
                </a:solidFill>
                <a:latin typeface="Calibri"/>
              </a:rPr>
              <a:t>•  </a:t>
            </a:r>
            <a:r>
              <a:rPr sz="1100" b="1" i="0">
                <a:solidFill>
                  <a:srgbClr val="22302B"/>
                </a:solidFill>
                <a:latin typeface="Calibri"/>
              </a:rPr>
              <a:t>No rows change.</a:t>
            </a:r>
            <a:r>
              <a:rPr sz="1100" b="0" i="0">
                <a:solidFill>
                  <a:srgbClr val="22302B"/>
                </a:solidFill>
                <a:latin typeface="Calibri"/>
              </a:rPr>
              <a:t> Reads policy_config only.</a:t>
            </a:r>
          </a:p>
          <a:p>
            <a:pPr algn="l">
              <a:lnSpc>
                <a:spcPct val="102000"/>
              </a:lnSpc>
              <a:spcAft>
                <a:spcPts val="700"/>
              </a:spcAft>
            </a:pPr>
            <a:r>
              <a:rPr sz="1100">
                <a:solidFill>
                  <a:srgbClr val="22302B"/>
                </a:solidFill>
                <a:latin typeface="Calibri"/>
              </a:rPr>
              <a:t>•  </a:t>
            </a:r>
            <a:r>
              <a:rPr sz="1100" b="0" i="0">
                <a:solidFill>
                  <a:srgbClr val="22302B"/>
                </a:solidFill>
                <a:latin typeface="Calibri"/>
              </a:rPr>
              <a:t>Current = MAX(version) — computed, not stored.</a:t>
            </a:r>
          </a:p>
          <a:p>
            <a:pPr algn="l">
              <a:lnSpc>
                <a:spcPct val="102000"/>
              </a:lnSpc>
              <a:spcAft>
                <a:spcPts val="700"/>
              </a:spcAft>
            </a:pPr>
            <a:r>
              <a:rPr sz="1100">
                <a:solidFill>
                  <a:srgbClr val="22302B"/>
                </a:solidFill>
                <a:latin typeface="Calibri"/>
              </a:rPr>
              <a:t>•  </a:t>
            </a:r>
            <a:r>
              <a:rPr sz="1100" b="0" i="0">
                <a:solidFill>
                  <a:srgbClr val="22302B"/>
                </a:solidFill>
                <a:latin typeface="Calibri"/>
              </a:rPr>
              <a:t>Pairs with UC 02: a case's pinned version deep-links here to show the lists that decided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1">
                <a:solidFill>
                  <a:srgbClr val="86DFC6"/>
                </a:solidFill>
                <a:latin typeface="Calibri"/>
              </a:rPr>
              <a:t>09 Candidate</a:t>
            </a:r>
            <a:r>
              <a:rPr sz="1000">
                <a:solidFill>
                  <a:srgbClr val="5A6E66"/>
                </a:solidFill>
                <a:latin typeface="Calibri"/>
              </a:rPr>
              <a:t>  ·  </a:t>
            </a:r>
            <a:r>
              <a:rPr sz="1000" b="0">
                <a:solidFill>
                  <a:srgbClr val="7E938B"/>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09 · Candidate</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Minimum relationship tenure</a:t>
            </a:r>
            <a:r>
              <a:rPr sz="1250" b="0" i="1">
                <a:solidFill>
                  <a:srgbClr val="A5BDB4"/>
                </a:solidFill>
                <a:latin typeface="Calibri"/>
              </a:rPr>
              <a:t>   —   What it adds + Acceptance Criteria · after 01–08</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candidate rule from business-rules-v2</a:t>
            </a:r>
          </a:p>
        </p:txBody>
      </p:sp>
      <p:sp>
        <p:nvSpPr>
          <p:cNvPr id="8" name="TextBox 7"/>
          <p:cNvSpPr txBox="1"/>
          <p:nvPr/>
        </p:nvSpPr>
        <p:spPr>
          <a:xfrm>
            <a:off x="548640" y="1325880"/>
            <a:ext cx="5394960" cy="914400"/>
          </a:xfrm>
          <a:prstGeom prst="rect">
            <a:avLst/>
          </a:prstGeom>
          <a:noFill/>
        </p:spPr>
        <p:txBody>
          <a:bodyPr wrap="square" lIns="0" rIns="0" tIns="0" bIns="0">
            <a:spAutoFit/>
          </a:bodyPr>
          <a:lstStyle/>
          <a:p>
            <a:pPr algn="l">
              <a:lnSpc>
                <a:spcPct val="100000"/>
              </a:lnSpc>
            </a:pPr>
            <a:r>
              <a:rPr sz="1250" b="0" i="0">
                <a:solidFill>
                  <a:srgbClr val="22302B"/>
                </a:solidFill>
                <a:latin typeface="Calibri"/>
              </a:rPr>
              <a:t>A customer closes their card and reapplies the same week — often chasing a sign-up bonus. Real banks impose a cooling period: a returning customer whose previous product closed less than N months ago is referred to a person instead of sailing through. The registry already knows; the rule just has to ask.</a:t>
            </a:r>
          </a:p>
        </p:txBody>
      </p:sp>
      <p:sp>
        <p:nvSpPr>
          <p:cNvPr id="9" name="TextBox 8"/>
          <p:cNvSpPr txBox="1"/>
          <p:nvPr/>
        </p:nvSpPr>
        <p:spPr>
          <a:xfrm>
            <a:off x="548640" y="246888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WHAT IT ADDS</a:t>
            </a:r>
          </a:p>
        </p:txBody>
      </p:sp>
      <p:sp>
        <p:nvSpPr>
          <p:cNvPr id="10" name="TextBox 9"/>
          <p:cNvSpPr txBox="1"/>
          <p:nvPr/>
        </p:nvSpPr>
        <p:spPr>
          <a:xfrm>
            <a:off x="548640" y="2743200"/>
            <a:ext cx="5394960" cy="2194560"/>
          </a:xfrm>
          <a:prstGeom prst="rect">
            <a:avLst/>
          </a:prstGeom>
          <a:noFill/>
        </p:spPr>
        <p:txBody>
          <a:bodyPr wrap="square" lIns="0" rIns="0" tIns="0" bIns="0">
            <a:spAutoFit/>
          </a:bodyPr>
          <a:lstStyle/>
          <a:p>
            <a:pPr algn="l">
              <a:lnSpc>
                <a:spcPct val="102000"/>
              </a:lnSpc>
              <a:spcAft>
                <a:spcPts val="700"/>
              </a:spcAft>
            </a:pPr>
            <a:r>
              <a:rPr sz="1200">
                <a:solidFill>
                  <a:srgbClr val="22302B"/>
                </a:solidFill>
                <a:latin typeface="Calibri"/>
              </a:rPr>
              <a:t>•  </a:t>
            </a:r>
            <a:r>
              <a:rPr sz="1200" b="0" i="0">
                <a:solidFill>
                  <a:srgbClr val="22302B"/>
                </a:solidFill>
                <a:latin typeface="Calibri"/>
              </a:rPr>
              <a:t>PolicyConfig gains minTenureMonths (nullable — null means no cooling period).</a:t>
            </a:r>
          </a:p>
          <a:p>
            <a:pPr algn="l">
              <a:lnSpc>
                <a:spcPct val="102000"/>
              </a:lnSpc>
              <a:spcAft>
                <a:spcPts val="700"/>
              </a:spcAft>
            </a:pPr>
            <a:r>
              <a:rPr sz="1200">
                <a:solidFill>
                  <a:srgbClr val="22302B"/>
                </a:solidFill>
                <a:latin typeface="Calibri"/>
              </a:rPr>
              <a:t>•  </a:t>
            </a:r>
            <a:r>
              <a:rPr sz="1200" b="0" i="0">
                <a:solidFill>
                  <a:srgbClr val="22302B"/>
                </a:solidFill>
                <a:latin typeface="Calibri"/>
              </a:rPr>
              <a:t>The engine gains rule 5: a registry match with a CLOSED product whose closedAt is less than minTenureMonths ago → REFERRED; ruleResults gains a 5th section when the config carries the field.</a:t>
            </a:r>
          </a:p>
          <a:p>
            <a:pPr algn="l">
              <a:lnSpc>
                <a:spcPct val="102000"/>
              </a:lnSpc>
              <a:spcAft>
                <a:spcPts val="700"/>
              </a:spcAft>
            </a:pPr>
            <a:r>
              <a:rPr sz="1200">
                <a:solidFill>
                  <a:srgbClr val="22302B"/>
                </a:solidFill>
                <a:latin typeface="Calibri"/>
              </a:rPr>
              <a:t>•  </a:t>
            </a:r>
            <a:r>
              <a:rPr sz="1200" b="0" i="0">
                <a:solidFill>
                  <a:srgbClr val="22302B"/>
                </a:solidFill>
                <a:latin typeface="Calibri"/>
              </a:rPr>
              <a:t>New reason code POL_TENURE_TOO_SHORT — a v5 contract addition, instructor applies it.</a:t>
            </a:r>
          </a:p>
          <a:p>
            <a:pPr algn="l">
              <a:lnSpc>
                <a:spcPct val="102000"/>
              </a:lnSpc>
              <a:spcAft>
                <a:spcPts val="700"/>
              </a:spcAft>
            </a:pPr>
            <a:r>
              <a:rPr sz="1200">
                <a:solidFill>
                  <a:srgbClr val="22302B"/>
                </a:solidFill>
                <a:latin typeface="Calibri"/>
              </a:rPr>
              <a:t>•  </a:t>
            </a:r>
            <a:r>
              <a:rPr sz="1200" b="0" i="0">
                <a:solidFill>
                  <a:srgbClr val="22302B"/>
                </a:solidFill>
                <a:latin typeface="Calibri"/>
              </a:rPr>
              <a:t>No new entity and no new endpoint — the existing registry read already returns closedAt per product.</a:t>
            </a:r>
          </a:p>
        </p:txBody>
      </p:sp>
      <p:sp>
        <p:nvSpPr>
          <p:cNvPr id="11" name="TextBox 10"/>
          <p:cNvSpPr txBox="1"/>
          <p:nvPr/>
        </p:nvSpPr>
        <p:spPr>
          <a:xfrm>
            <a:off x="6309360" y="1325880"/>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2" name="TextBox 11"/>
          <p:cNvSpPr txBox="1"/>
          <p:nvPr/>
        </p:nvSpPr>
        <p:spPr>
          <a:xfrm>
            <a:off x="6309360" y="1600200"/>
            <a:ext cx="5349240" cy="3383280"/>
          </a:xfrm>
          <a:prstGeom prst="rect">
            <a:avLst/>
          </a:prstGeom>
          <a:noFill/>
        </p:spPr>
        <p:txBody>
          <a:bodyPr wrap="square" lIns="0" rIns="0" tIns="0" bIns="0">
            <a:spAutoFit/>
          </a:bodyPr>
          <a:lstStyle/>
          <a:p>
            <a:pPr>
              <a:lnSpc>
                <a:spcPct val="105000"/>
              </a:lnSpc>
              <a:spcAft>
                <a:spcPts val="800"/>
              </a:spcAft>
            </a:pPr>
            <a:r>
              <a:rPr sz="1250" b="1">
                <a:solidFill>
                  <a:srgbClr val="B7791F"/>
                </a:solidFill>
                <a:latin typeface="Calibri"/>
              </a:rPr>
              <a:t>AC1  </a:t>
            </a:r>
            <a:r>
              <a:rPr sz="1250">
                <a:solidFill>
                  <a:srgbClr val="22302B"/>
                </a:solidFill>
                <a:latin typeface="Calibri"/>
              </a:rPr>
              <a:t>An applicant with a CLOSED product closed 2 months ago, minTenureMonths 6 → REFERRED with POL_TENURE_TOO_SHORT; the case lands in the referral queue like any other REFERRED.</a:t>
            </a:r>
          </a:p>
          <a:p>
            <a:pPr>
              <a:lnSpc>
                <a:spcPct val="105000"/>
              </a:lnSpc>
              <a:spcAft>
                <a:spcPts val="800"/>
              </a:spcAft>
            </a:pPr>
            <a:r>
              <a:rPr sz="1250" b="1">
                <a:solidFill>
                  <a:srgbClr val="B7791F"/>
                </a:solidFill>
                <a:latin typeface="Calibri"/>
              </a:rPr>
              <a:t>AC2  </a:t>
            </a:r>
            <a:r>
              <a:rPr sz="1250">
                <a:solidFill>
                  <a:srgbClr val="22302B"/>
                </a:solidFill>
                <a:latin typeface="Calibri"/>
              </a:rPr>
              <a:t>The same applicant with the product closed 8 months ago passes rule 5.</a:t>
            </a:r>
          </a:p>
          <a:p>
            <a:pPr>
              <a:lnSpc>
                <a:spcPct val="105000"/>
              </a:lnSpc>
              <a:spcAft>
                <a:spcPts val="800"/>
              </a:spcAft>
            </a:pPr>
            <a:r>
              <a:rPr sz="1250" b="1">
                <a:solidFill>
                  <a:srgbClr val="B7791F"/>
                </a:solidFill>
                <a:latin typeface="Calibri"/>
              </a:rPr>
              <a:t>AC3  </a:t>
            </a:r>
            <a:r>
              <a:rPr sz="1250">
                <a:solidFill>
                  <a:srgbClr val="22302B"/>
                </a:solidFill>
                <a:latin typeface="Calibri"/>
              </a:rPr>
              <a:t>An applicant with an ACTIVE product is still REJECTED by rule 1 — tenure never rescues a live holding.</a:t>
            </a:r>
          </a:p>
          <a:p>
            <a:pPr>
              <a:lnSpc>
                <a:spcPct val="105000"/>
              </a:lnSpc>
              <a:spcAft>
                <a:spcPts val="800"/>
              </a:spcAft>
            </a:pPr>
            <a:r>
              <a:rPr sz="1250" b="1">
                <a:solidFill>
                  <a:srgbClr val="B7791F"/>
                </a:solidFill>
                <a:latin typeface="Calibri"/>
              </a:rPr>
              <a:t>AC4  </a:t>
            </a:r>
            <a:r>
              <a:rPr sz="1250">
                <a:solidFill>
                  <a:srgbClr val="22302B"/>
                </a:solidFill>
                <a:latin typeface="Calibri"/>
              </a:rPr>
              <a:t>minTenureMonths = null leaves the engine exactly as before — all eight UC 01–08 ACs still pass unchanged.</a:t>
            </a:r>
          </a:p>
          <a:p>
            <a:pPr>
              <a:lnSpc>
                <a:spcPct val="105000"/>
              </a:lnSpc>
              <a:spcAft>
                <a:spcPts val="800"/>
              </a:spcAft>
            </a:pPr>
            <a:r>
              <a:rPr sz="1250" b="1">
                <a:solidFill>
                  <a:srgbClr val="B7791F"/>
                </a:solidFill>
                <a:latin typeface="Calibri"/>
              </a:rPr>
              <a:t>AC5  </a:t>
            </a:r>
            <a:r>
              <a:rPr sz="1250">
                <a:solidFill>
                  <a:srgbClr val="22302B"/>
                </a:solidFill>
                <a:latin typeface="Calibri"/>
              </a:rPr>
              <a:t>The threshold is versioned config: a new PolicyConfig version can add, change or drop it without a deploy, and old cases keep their pinned version.</a:t>
            </a:r>
          </a:p>
        </p:txBody>
      </p:sp>
      <p:sp>
        <p:nvSpPr>
          <p:cNvPr id="13" name="Rounded Rectangle 12"/>
          <p:cNvSpPr/>
          <p:nvPr/>
        </p:nvSpPr>
        <p:spPr>
          <a:xfrm>
            <a:off x="548640" y="5212080"/>
            <a:ext cx="11109960" cy="1051560"/>
          </a:xfrm>
          <a:prstGeom prst="roundRect">
            <a:avLst>
              <a:gd name="adj" fmla="val 4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376672"/>
            <a:ext cx="10698480" cy="777240"/>
          </a:xfrm>
          <a:prstGeom prst="rect">
            <a:avLst/>
          </a:prstGeom>
          <a:noFill/>
        </p:spPr>
        <p:txBody>
          <a:bodyPr wrap="square" lIns="0" rIns="0" tIns="0" bIns="0">
            <a:spAutoFit/>
          </a:bodyPr>
          <a:lstStyle/>
          <a:p>
            <a:pPr algn="l">
              <a:lnSpc>
                <a:spcPct val="100000"/>
              </a:lnSpc>
            </a:pPr>
            <a:r>
              <a:rPr sz="1100" b="1" i="0">
                <a:solidFill>
                  <a:srgbClr val="5E736B"/>
                </a:solidFill>
                <a:latin typeface="Calibri"/>
              </a:rPr>
              <a:t>WHY THIS ONE   </a:t>
            </a:r>
            <a:r>
              <a:rPr sz="1200" b="0" i="0">
                <a:solidFill>
                  <a:srgbClr val="22302B"/>
                </a:solidFill>
                <a:latin typeface="Calibri"/>
              </a:rPr>
              <a:t>Cheapest candidate on the module's list: no new entity, no new mock, no new registry field — one config column + one engine branch over data rule 1 already fetches. And it demos well: close James's card in the registry stub, reapply, watch him park instead of pass.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875520" cy="237744"/>
          </a:xfrm>
          <a:prstGeom prst="rect">
            <a:avLst/>
          </a:prstGeom>
          <a:noFill/>
        </p:spPr>
        <p:txBody>
          <a:bodyPr wrap="none" lIns="0" rIns="0" tIns="0" bIns="0">
            <a:spAutoFit/>
          </a:bodyPr>
          <a:lstStyle/>
          <a:p>
            <a:r>
              <a:rPr sz="1000" b="1">
                <a:solidFill>
                  <a:srgbClr val="94A9A1"/>
                </a:solidFill>
                <a:latin typeface="Calibri"/>
              </a:rPr>
              <a:t>MODULE 2 · USE CASES   </a:t>
            </a:r>
            <a:r>
              <a:rPr sz="1000" b="0">
                <a:solidFill>
                  <a:srgbClr val="7E938B"/>
                </a:solidFill>
                <a:latin typeface="Calibri"/>
              </a:rPr>
              <a:t>00 Intake</a:t>
            </a:r>
            <a:r>
              <a:rPr sz="1000">
                <a:solidFill>
                  <a:srgbClr val="5A6E66"/>
                </a:solidFill>
                <a:latin typeface="Calibri"/>
              </a:rPr>
              <a:t>  ·  </a:t>
            </a:r>
            <a:r>
              <a:rPr sz="1000" b="0">
                <a:solidFill>
                  <a:srgbClr val="7E938B"/>
                </a:solidFill>
                <a:latin typeface="Calibri"/>
              </a:rPr>
              <a:t>01 Search</a:t>
            </a:r>
            <a:r>
              <a:rPr sz="1000">
                <a:solidFill>
                  <a:srgbClr val="5A6E66"/>
                </a:solidFill>
                <a:latin typeface="Calibri"/>
              </a:rPr>
              <a:t>  ·  </a:t>
            </a:r>
            <a:r>
              <a:rPr sz="1000" b="0">
                <a:solidFill>
                  <a:srgbClr val="7E938B"/>
                </a:solidFill>
                <a:latin typeface="Calibri"/>
              </a:rPr>
              <a:t>02 Review</a:t>
            </a:r>
            <a:r>
              <a:rPr sz="1000">
                <a:solidFill>
                  <a:srgbClr val="5A6E66"/>
                </a:solidFill>
                <a:latin typeface="Calibri"/>
              </a:rPr>
              <a:t>  ·  </a:t>
            </a:r>
            <a:r>
              <a:rPr sz="1000" b="0">
                <a:solidFill>
                  <a:srgbClr val="7E938B"/>
                </a:solidFill>
                <a:latin typeface="Calibri"/>
              </a:rPr>
              <a:t>03 Applicant</a:t>
            </a:r>
            <a:r>
              <a:rPr sz="1000">
                <a:solidFill>
                  <a:srgbClr val="5A6E66"/>
                </a:solidFill>
                <a:latin typeface="Calibri"/>
              </a:rPr>
              <a:t>  ·  </a:t>
            </a:r>
            <a:r>
              <a:rPr sz="1000" b="0">
                <a:solidFill>
                  <a:srgbClr val="7E938B"/>
                </a:solidFill>
                <a:latin typeface="Calibri"/>
              </a:rPr>
              <a:t>04 Queue</a:t>
            </a:r>
            <a:r>
              <a:rPr sz="1000">
                <a:solidFill>
                  <a:srgbClr val="5A6E66"/>
                </a:solidFill>
                <a:latin typeface="Calibri"/>
              </a:rPr>
              <a:t>  ·  </a:t>
            </a:r>
            <a:r>
              <a:rPr sz="1000" b="0">
                <a:solidFill>
                  <a:srgbClr val="7E938B"/>
                </a:solidFill>
                <a:latin typeface="Calibri"/>
              </a:rPr>
              <a:t>05 Patterns</a:t>
            </a:r>
            <a:r>
              <a:rPr sz="1000">
                <a:solidFill>
                  <a:srgbClr val="5A6E66"/>
                </a:solidFill>
                <a:latin typeface="Calibri"/>
              </a:rPr>
              <a:t>  ·  </a:t>
            </a:r>
            <a:r>
              <a:rPr sz="1000" b="0">
                <a:solidFill>
                  <a:srgbClr val="7E938B"/>
                </a:solidFill>
                <a:latin typeface="Calibri"/>
              </a:rPr>
              <a:t>06 Override</a:t>
            </a:r>
            <a:r>
              <a:rPr sz="1000">
                <a:solidFill>
                  <a:srgbClr val="5A6E66"/>
                </a:solidFill>
                <a:latin typeface="Calibri"/>
              </a:rPr>
              <a:t>  ·  </a:t>
            </a:r>
            <a:r>
              <a:rPr sz="1000" b="0">
                <a:solidFill>
                  <a:srgbClr val="7E938B"/>
                </a:solidFill>
                <a:latin typeface="Calibri"/>
              </a:rPr>
              <a:t>07 Config</a:t>
            </a:r>
            <a:r>
              <a:rPr sz="1000">
                <a:solidFill>
                  <a:srgbClr val="5A6E66"/>
                </a:solidFill>
                <a:latin typeface="Calibri"/>
              </a:rPr>
              <a:t>  ·  </a:t>
            </a:r>
            <a:r>
              <a:rPr sz="1000" b="0">
                <a:solidFill>
                  <a:srgbClr val="7E938B"/>
                </a:solidFill>
                <a:latin typeface="Calibri"/>
              </a:rPr>
              <a:t>08 History</a:t>
            </a:r>
            <a:r>
              <a:rPr sz="1000">
                <a:solidFill>
                  <a:srgbClr val="5A6E66"/>
                </a:solidFill>
                <a:latin typeface="Calibri"/>
              </a:rPr>
              <a:t>  ·  </a:t>
            </a:r>
            <a:r>
              <a:rPr sz="1000" b="0">
                <a:solidFill>
                  <a:srgbClr val="7E938B"/>
                </a:solidFill>
                <a:latin typeface="Calibri"/>
              </a:rPr>
              <a:t>09 Candidate</a:t>
            </a:r>
            <a:r>
              <a:rPr sz="1000">
                <a:solidFill>
                  <a:srgbClr val="5A6E66"/>
                </a:solidFill>
                <a:latin typeface="Calibri"/>
              </a:rPr>
              <a:t>  ·  </a:t>
            </a:r>
            <a:r>
              <a:rPr sz="1000" b="1">
                <a:solidFill>
                  <a:srgbClr val="86DFC6"/>
                </a:solidFill>
                <a:latin typeface="Calibri"/>
              </a:rPr>
              <a:t>10 Candidate</a:t>
            </a:r>
          </a:p>
        </p:txBody>
      </p:sp>
      <p:sp>
        <p:nvSpPr>
          <p:cNvPr id="4" name="TextBox 3"/>
          <p:cNvSpPr txBox="1"/>
          <p:nvPr/>
        </p:nvSpPr>
        <p:spPr>
          <a:xfrm>
            <a:off x="548640" y="347472"/>
            <a:ext cx="9326880" cy="457200"/>
          </a:xfrm>
          <a:prstGeom prst="rect">
            <a:avLst/>
          </a:prstGeom>
          <a:noFill/>
        </p:spPr>
        <p:txBody>
          <a:bodyPr wrap="square" lIns="0" rIns="0" tIns="0" bIns="0">
            <a:spAutoFit/>
          </a:bodyPr>
          <a:lstStyle/>
          <a:p>
            <a:pPr algn="l">
              <a:lnSpc>
                <a:spcPct val="100000"/>
              </a:lnSpc>
            </a:pPr>
            <a:r>
              <a:rPr sz="2400" b="1" i="0">
                <a:solidFill>
                  <a:srgbClr val="FFFFFF"/>
                </a:solidFill>
                <a:latin typeface="Calibri"/>
              </a:rPr>
              <a:t>Use Case 10 · Candidate</a:t>
            </a:r>
          </a:p>
        </p:txBody>
      </p:sp>
      <p:sp>
        <p:nvSpPr>
          <p:cNvPr id="5" name="TextBox 4"/>
          <p:cNvSpPr txBox="1"/>
          <p:nvPr/>
        </p:nvSpPr>
        <p:spPr>
          <a:xfrm>
            <a:off x="548640" y="768096"/>
            <a:ext cx="9692640" cy="256032"/>
          </a:xfrm>
          <a:prstGeom prst="rect">
            <a:avLst/>
          </a:prstGeom>
          <a:noFill/>
        </p:spPr>
        <p:txBody>
          <a:bodyPr wrap="square" lIns="0" rIns="0" tIns="0" bIns="0">
            <a:spAutoFit/>
          </a:bodyPr>
          <a:lstStyle/>
          <a:p>
            <a:pPr algn="l">
              <a:lnSpc>
                <a:spcPct val="100000"/>
              </a:lnSpc>
            </a:pPr>
            <a:r>
              <a:rPr sz="1350" b="1" i="0">
                <a:solidFill>
                  <a:srgbClr val="DDECE5"/>
                </a:solidFill>
                <a:latin typeface="Calibri"/>
              </a:rPr>
              <a:t>Marketing consent for partner products</a:t>
            </a:r>
            <a:r>
              <a:rPr sz="1250" b="0" i="1">
                <a:solidFill>
                  <a:srgbClr val="A5BDB4"/>
                </a:solidFill>
                <a:latin typeface="Calibri"/>
              </a:rPr>
              <a:t>   —   What it adds + Acceptance Criteria · after 01–08</a:t>
            </a:r>
          </a:p>
        </p:txBody>
      </p:sp>
      <p:sp>
        <p:nvSpPr>
          <p:cNvPr id="6" name="Rectangle 5"/>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7" name="TextBox 6"/>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candidate rule from business-rules-v2</a:t>
            </a:r>
          </a:p>
        </p:txBody>
      </p:sp>
      <p:sp>
        <p:nvSpPr>
          <p:cNvPr id="8" name="TextBox 7"/>
          <p:cNvSpPr txBox="1"/>
          <p:nvPr/>
        </p:nvSpPr>
        <p:spPr>
          <a:xfrm>
            <a:off x="548640" y="1325880"/>
            <a:ext cx="5394960" cy="914400"/>
          </a:xfrm>
          <a:prstGeom prst="rect">
            <a:avLst/>
          </a:prstGeom>
          <a:noFill/>
        </p:spPr>
        <p:txBody>
          <a:bodyPr wrap="square" lIns="0" rIns="0" tIns="0" bIns="0">
            <a:spAutoFit/>
          </a:bodyPr>
          <a:lstStyle/>
          <a:p>
            <a:pPr algn="l">
              <a:lnSpc>
                <a:spcPct val="100000"/>
              </a:lnSpc>
            </a:pPr>
            <a:r>
              <a:rPr sz="1250" b="0" i="0">
                <a:solidFill>
                  <a:srgbClr val="22302B"/>
                </a:solidFill>
                <a:latin typeface="Calibri"/>
              </a:rPr>
              <a:t>The bank plans a co-branded partner card — an airline rewards product where earning miles means sharing transaction data with the partner. Without the applicant's marketing/data-sharing consent the product literally cannot function, so policy must catch it before onboarding, not after. Ordinary own-brand products are untouched: consent stays optional there, as the law expects.</a:t>
            </a:r>
          </a:p>
        </p:txBody>
      </p:sp>
      <p:sp>
        <p:nvSpPr>
          <p:cNvPr id="9" name="TextBox 8"/>
          <p:cNvSpPr txBox="1"/>
          <p:nvPr/>
        </p:nvSpPr>
        <p:spPr>
          <a:xfrm>
            <a:off x="548640" y="2468880"/>
            <a:ext cx="36576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WHAT IT ADDS</a:t>
            </a:r>
          </a:p>
        </p:txBody>
      </p:sp>
      <p:sp>
        <p:nvSpPr>
          <p:cNvPr id="10" name="TextBox 9"/>
          <p:cNvSpPr txBox="1"/>
          <p:nvPr/>
        </p:nvSpPr>
        <p:spPr>
          <a:xfrm>
            <a:off x="548640" y="2743200"/>
            <a:ext cx="5394960" cy="2194560"/>
          </a:xfrm>
          <a:prstGeom prst="rect">
            <a:avLst/>
          </a:prstGeom>
          <a:noFill/>
        </p:spPr>
        <p:txBody>
          <a:bodyPr wrap="square" lIns="0" rIns="0" tIns="0" bIns="0">
            <a:spAutoFit/>
          </a:bodyPr>
          <a:lstStyle/>
          <a:p>
            <a:pPr algn="l">
              <a:lnSpc>
                <a:spcPct val="102000"/>
              </a:lnSpc>
              <a:spcAft>
                <a:spcPts val="700"/>
              </a:spcAft>
            </a:pPr>
            <a:r>
              <a:rPr sz="1200">
                <a:solidFill>
                  <a:srgbClr val="22302B"/>
                </a:solidFill>
                <a:latin typeface="Calibri"/>
              </a:rPr>
              <a:t>•  </a:t>
            </a:r>
            <a:r>
              <a:rPr sz="1200" b="0" i="0">
                <a:solidFill>
                  <a:srgbClr val="22302B"/>
                </a:solidFill>
                <a:latin typeface="Calibri"/>
              </a:rPr>
              <a:t>PolicyConfig gains partnerProducts (string[] of productCodes, nullable — empty means no partner products).</a:t>
            </a:r>
          </a:p>
          <a:p>
            <a:pPr algn="l">
              <a:lnSpc>
                <a:spcPct val="102000"/>
              </a:lnSpc>
              <a:spcAft>
                <a:spcPts val="700"/>
              </a:spcAft>
            </a:pPr>
            <a:r>
              <a:rPr sz="1200">
                <a:solidFill>
                  <a:srgbClr val="22302B"/>
                </a:solidFill>
                <a:latin typeface="Calibri"/>
              </a:rPr>
              <a:t>•  </a:t>
            </a:r>
            <a:r>
              <a:rPr sz="1200" b="0" i="0">
                <a:solidFill>
                  <a:srgbClr val="22302B"/>
                </a:solidFill>
                <a:latin typeface="Calibri"/>
              </a:rPr>
              <a:t>The engine gains rule 6: product.productCode in partnerProducts AND consents.marketingConsent false → REJECTED; ruleResults gains a 6th section when the list is non-empty.</a:t>
            </a:r>
          </a:p>
          <a:p>
            <a:pPr algn="l">
              <a:lnSpc>
                <a:spcPct val="102000"/>
              </a:lnSpc>
              <a:spcAft>
                <a:spcPts val="700"/>
              </a:spcAft>
            </a:pPr>
            <a:r>
              <a:rPr sz="1200">
                <a:solidFill>
                  <a:srgbClr val="22302B"/>
                </a:solidFill>
                <a:latin typeface="Calibri"/>
              </a:rPr>
              <a:t>•  </a:t>
            </a:r>
            <a:r>
              <a:rPr sz="1200" b="0" i="0">
                <a:solidFill>
                  <a:srgbClr val="22302B"/>
                </a:solidFill>
                <a:latin typeface="Calibri"/>
              </a:rPr>
              <a:t>New reason code POL_PARTNER_CONSENT_MISSING — a v5 contract addition, instructor applies it.</a:t>
            </a:r>
          </a:p>
          <a:p>
            <a:pPr algn="l">
              <a:lnSpc>
                <a:spcPct val="102000"/>
              </a:lnSpc>
              <a:spcAft>
                <a:spcPts val="700"/>
              </a:spcAft>
            </a:pPr>
            <a:r>
              <a:rPr sz="1200">
                <a:solidFill>
                  <a:srgbClr val="22302B"/>
                </a:solidFill>
                <a:latin typeface="Calibri"/>
              </a:rPr>
              <a:t>•  </a:t>
            </a:r>
            <a:r>
              <a:rPr sz="1200" b="0" i="0">
                <a:solidFill>
                  <a:srgbClr val="22302B"/>
                </a:solidFill>
                <a:latin typeface="Calibri"/>
              </a:rPr>
              <a:t>First engine branch that reads product.productCode and consents.marketingConsent — the Payload fields table gains two ● marks.</a:t>
            </a:r>
          </a:p>
        </p:txBody>
      </p:sp>
      <p:sp>
        <p:nvSpPr>
          <p:cNvPr id="11" name="TextBox 10"/>
          <p:cNvSpPr txBox="1"/>
          <p:nvPr/>
        </p:nvSpPr>
        <p:spPr>
          <a:xfrm>
            <a:off x="6309360" y="1325880"/>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ACCEPTANCE CRITERIA</a:t>
            </a:r>
          </a:p>
        </p:txBody>
      </p:sp>
      <p:sp>
        <p:nvSpPr>
          <p:cNvPr id="12" name="TextBox 11"/>
          <p:cNvSpPr txBox="1"/>
          <p:nvPr/>
        </p:nvSpPr>
        <p:spPr>
          <a:xfrm>
            <a:off x="6309360" y="1600200"/>
            <a:ext cx="5349240" cy="3383280"/>
          </a:xfrm>
          <a:prstGeom prst="rect">
            <a:avLst/>
          </a:prstGeom>
          <a:noFill/>
        </p:spPr>
        <p:txBody>
          <a:bodyPr wrap="square" lIns="0" rIns="0" tIns="0" bIns="0">
            <a:spAutoFit/>
          </a:bodyPr>
          <a:lstStyle/>
          <a:p>
            <a:pPr>
              <a:lnSpc>
                <a:spcPct val="105000"/>
              </a:lnSpc>
              <a:spcAft>
                <a:spcPts val="800"/>
              </a:spcAft>
            </a:pPr>
            <a:r>
              <a:rPr sz="1250" b="1">
                <a:solidFill>
                  <a:srgbClr val="B7791F"/>
                </a:solidFill>
                <a:latin typeface="Calibri"/>
              </a:rPr>
              <a:t>AC1  </a:t>
            </a:r>
            <a:r>
              <a:rPr sz="1250">
                <a:solidFill>
                  <a:srgbClr val="22302B"/>
                </a:solidFill>
                <a:latin typeface="Calibri"/>
              </a:rPr>
              <a:t>With CREDIT_CARD_REWARDS configured as a partner product, an application for it with marketingConsent false → REJECTED with POL_PARTNER_CONSENT_MISSING, field consents.marketingConsent.</a:t>
            </a:r>
          </a:p>
          <a:p>
            <a:pPr>
              <a:lnSpc>
                <a:spcPct val="105000"/>
              </a:lnSpc>
              <a:spcAft>
                <a:spcPts val="800"/>
              </a:spcAft>
            </a:pPr>
            <a:r>
              <a:rPr sz="1250" b="1">
                <a:solidFill>
                  <a:srgbClr val="B7791F"/>
                </a:solidFill>
                <a:latin typeface="Calibri"/>
              </a:rPr>
              <a:t>AC2  </a:t>
            </a:r>
            <a:r>
              <a:rPr sz="1250">
                <a:solidFill>
                  <a:srgbClr val="22302B"/>
                </a:solidFill>
                <a:latin typeface="Calibri"/>
              </a:rPr>
              <a:t>The same application with marketingConsent true passes rule 6.</a:t>
            </a:r>
          </a:p>
          <a:p>
            <a:pPr>
              <a:lnSpc>
                <a:spcPct val="105000"/>
              </a:lnSpc>
              <a:spcAft>
                <a:spcPts val="800"/>
              </a:spcAft>
            </a:pPr>
            <a:r>
              <a:rPr sz="1250" b="1">
                <a:solidFill>
                  <a:srgbClr val="B7791F"/>
                </a:solidFill>
                <a:latin typeface="Calibri"/>
              </a:rPr>
              <a:t>AC3  </a:t>
            </a:r>
            <a:r>
              <a:rPr sz="1250">
                <a:solidFill>
                  <a:srgbClr val="22302B"/>
                </a:solidFill>
                <a:latin typeface="Calibri"/>
              </a:rPr>
              <a:t>Applications for non-partner products are unaffected by their consent value — all eight UC 01–08 ACs still pass unchanged.</a:t>
            </a:r>
          </a:p>
          <a:p>
            <a:pPr>
              <a:lnSpc>
                <a:spcPct val="105000"/>
              </a:lnSpc>
              <a:spcAft>
                <a:spcPts val="800"/>
              </a:spcAft>
            </a:pPr>
            <a:r>
              <a:rPr sz="1250" b="1">
                <a:solidFill>
                  <a:srgbClr val="B7791F"/>
                </a:solidFill>
                <a:latin typeface="Calibri"/>
              </a:rPr>
              <a:t>AC4  </a:t>
            </a:r>
            <a:r>
              <a:rPr sz="1250">
                <a:solidFill>
                  <a:srgbClr val="22302B"/>
                </a:solidFill>
                <a:latin typeface="Calibri"/>
              </a:rPr>
              <a:t>The partner list is versioned config: adding or removing a product is a new PolicyConfig version, no deploy, old cases pinned.</a:t>
            </a:r>
          </a:p>
          <a:p>
            <a:pPr>
              <a:lnSpc>
                <a:spcPct val="105000"/>
              </a:lnSpc>
              <a:spcAft>
                <a:spcPts val="800"/>
              </a:spcAft>
            </a:pPr>
            <a:r>
              <a:rPr sz="1250" b="1">
                <a:solidFill>
                  <a:srgbClr val="B7791F"/>
                </a:solidFill>
                <a:latin typeface="Calibri"/>
              </a:rPr>
              <a:t>AC5  </a:t>
            </a:r>
            <a:r>
              <a:rPr sz="1250">
                <a:solidFill>
                  <a:srgbClr val="22302B"/>
                </a:solidFill>
                <a:latin typeface="Calibri"/>
              </a:rPr>
              <a:t>The Decision Detail screen renders the extra rule card only when the decision includes it.</a:t>
            </a:r>
          </a:p>
        </p:txBody>
      </p:sp>
      <p:sp>
        <p:nvSpPr>
          <p:cNvPr id="13" name="Rounded Rectangle 12"/>
          <p:cNvSpPr/>
          <p:nvPr/>
        </p:nvSpPr>
        <p:spPr>
          <a:xfrm>
            <a:off x="548640" y="5212080"/>
            <a:ext cx="11109960" cy="1051560"/>
          </a:xfrm>
          <a:prstGeom prst="roundRect">
            <a:avLst>
              <a:gd name="adj" fmla="val 4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376672"/>
            <a:ext cx="10698480" cy="777240"/>
          </a:xfrm>
          <a:prstGeom prst="rect">
            <a:avLst/>
          </a:prstGeom>
          <a:noFill/>
        </p:spPr>
        <p:txBody>
          <a:bodyPr wrap="square" lIns="0" rIns="0" tIns="0" bIns="0">
            <a:spAutoFit/>
          </a:bodyPr>
          <a:lstStyle/>
          <a:p>
            <a:pPr algn="l">
              <a:lnSpc>
                <a:spcPct val="100000"/>
              </a:lnSpc>
            </a:pPr>
            <a:r>
              <a:rPr sz="1100" b="1" i="0">
                <a:solidFill>
                  <a:srgbClr val="5E736B"/>
                </a:solidFill>
                <a:latin typeface="Calibri"/>
              </a:rPr>
              <a:t>WHY THIS ONE   </a:t>
            </a:r>
            <a:r>
              <a:rPr sz="1200" b="0" i="0">
                <a:solidFill>
                  <a:srgbClr val="22302B"/>
                </a:solidFill>
                <a:latin typeface="Calibri"/>
              </a:rPr>
              <a:t>A different lesson from UC 09: this is the first policy rule keyed on WHICH product is requested, not on who the applicant is — it forces the team to argue about where product policy ends and customer policy begins, with one config list and one engine branch as the whole cost. The other candidate ideas for module 2 stay unadopted in v5.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