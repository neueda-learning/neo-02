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9" r:id="rId20"/>
    <p:sldId id="270" r:id="rId21"/>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8.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19088"/>
            <a:ext cx="12191695" cy="54864"/>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73952"/>
            <a:ext cx="12191695" cy="384048"/>
          </a:xfrm>
          <a:prstGeom prst="rect">
            <a:avLst/>
          </a:prstGeom>
          <a:solidFill>
            <a:srgbClr val="0E26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331720"/>
            <a:ext cx="10515600" cy="320040"/>
          </a:xfrm>
          <a:prstGeom prst="rect">
            <a:avLst/>
          </a:prstGeom>
          <a:noFill/>
        </p:spPr>
        <p:txBody>
          <a:bodyPr wrap="square" lIns="0" rIns="0" tIns="0" bIns="0">
            <a:spAutoFit/>
          </a:bodyPr>
          <a:lstStyle/>
          <a:p>
            <a:pPr algn="l">
              <a:lnSpc>
                <a:spcPct val="100000"/>
              </a:lnSpc>
            </a:pPr>
            <a:r>
              <a:rPr sz="1600" b="1" i="0">
                <a:solidFill>
                  <a:srgbClr val="2EA98D"/>
                </a:solidFill>
                <a:latin typeface="Calibri"/>
              </a:rPr>
              <a:t>MODULE 2 · RULE</a:t>
            </a:r>
          </a:p>
        </p:txBody>
      </p:sp>
      <p:sp>
        <p:nvSpPr>
          <p:cNvPr id="6" name="TextBox 5"/>
          <p:cNvSpPr txBox="1"/>
          <p:nvPr/>
        </p:nvSpPr>
        <p:spPr>
          <a:xfrm>
            <a:off x="822960" y="2697480"/>
            <a:ext cx="10515600" cy="914400"/>
          </a:xfrm>
          <a:prstGeom prst="rect">
            <a:avLst/>
          </a:prstGeom>
          <a:noFill/>
        </p:spPr>
        <p:txBody>
          <a:bodyPr wrap="square" lIns="0" rIns="0" tIns="0" bIns="0">
            <a:spAutoFit/>
          </a:bodyPr>
          <a:lstStyle/>
          <a:p>
            <a:pPr algn="l">
              <a:lnSpc>
                <a:spcPct val="100000"/>
              </a:lnSpc>
            </a:pPr>
            <a:r>
              <a:rPr sz="4800" b="1" i="0">
                <a:solidFill>
                  <a:srgbClr val="FFFFFF"/>
                </a:solidFill>
                <a:latin typeface="Calibri"/>
              </a:rPr>
              <a:t>Customer Policy</a:t>
            </a:r>
          </a:p>
        </p:txBody>
      </p:sp>
      <p:sp>
        <p:nvSpPr>
          <p:cNvPr id="7" name="TextBox 6"/>
          <p:cNvSpPr txBox="1"/>
          <p:nvPr/>
        </p:nvSpPr>
        <p:spPr>
          <a:xfrm>
            <a:off x="822960" y="3703320"/>
            <a:ext cx="10515600" cy="365760"/>
          </a:xfrm>
          <a:prstGeom prst="rect">
            <a:avLst/>
          </a:prstGeom>
          <a:noFill/>
        </p:spPr>
        <p:txBody>
          <a:bodyPr wrap="square" lIns="0" rIns="0" tIns="0" bIns="0">
            <a:spAutoFit/>
          </a:bodyPr>
          <a:lstStyle/>
          <a:p>
            <a:pPr algn="l">
              <a:lnSpc>
                <a:spcPct val="100000"/>
              </a:lnSpc>
            </a:pPr>
            <a:r>
              <a:rPr sz="1700" b="0" i="0">
                <a:solidFill>
                  <a:srgbClr val="C5DAD2"/>
                </a:solidFill>
                <a:latin typeface="Calibri"/>
              </a:rPr>
              <a:t>Student Brief v5 — what we expect from your module; discovering the rest is part of the job</a:t>
            </a:r>
          </a:p>
        </p:txBody>
      </p:sp>
      <p:sp>
        <p:nvSpPr>
          <p:cNvPr id="8" name="TextBox 7"/>
          <p:cNvSpPr txBox="1"/>
          <p:nvPr/>
        </p:nvSpPr>
        <p:spPr>
          <a:xfrm>
            <a:off x="822960" y="5989320"/>
            <a:ext cx="10515600" cy="274320"/>
          </a:xfrm>
          <a:prstGeom prst="rect">
            <a:avLst/>
          </a:prstGeom>
          <a:noFill/>
        </p:spPr>
        <p:txBody>
          <a:bodyPr wrap="square" lIns="0" rIns="0" tIns="0" bIns="0">
            <a:spAutoFit/>
          </a:bodyPr>
          <a:lstStyle/>
          <a:p>
            <a:pPr algn="l">
              <a:lnSpc>
                <a:spcPct val="100000"/>
              </a:lnSpc>
            </a:pPr>
            <a:r>
              <a:rPr sz="1200" b="0" i="0">
                <a:solidFill>
                  <a:srgbClr val="94A9A1"/>
                </a:solidFill>
                <a:latin typeface="Calibri"/>
              </a:rPr>
              <a:t>Customer Digital Journey · neo-capstone · Module 2 of 10 · your instructor is the customer — book time, ask questions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6304"/>
            <a:ext cx="9326880" cy="274320"/>
          </a:xfrm>
          <a:prstGeom prst="rect">
            <a:avLst/>
          </a:prstGeom>
          <a:noFill/>
        </p:spPr>
        <p:txBody>
          <a:bodyPr wrap="square" lIns="0" rIns="0" tIns="0" bIns="0">
            <a:spAutoFit/>
          </a:bodyPr>
          <a:lstStyle/>
          <a:p>
            <a:pPr algn="l">
              <a:lnSpc>
                <a:spcPct val="100000"/>
              </a:lnSpc>
            </a:pPr>
            <a:r>
              <a:rPr sz="1200" b="1" i="0">
                <a:solidFill>
                  <a:srgbClr val="94A9A1"/>
                </a:solidFill>
                <a:latin typeface="Calibri"/>
              </a:rPr>
              <a:t>MODULE 2 · policy / check-policy</a:t>
            </a:r>
          </a:p>
        </p:txBody>
      </p:sp>
      <p:sp>
        <p:nvSpPr>
          <p:cNvPr id="4" name="TextBox 3"/>
          <p:cNvSpPr txBox="1"/>
          <p:nvPr/>
        </p:nvSpPr>
        <p:spPr>
          <a:xfrm>
            <a:off x="548640" y="402336"/>
            <a:ext cx="9326880" cy="548640"/>
          </a:xfrm>
          <a:prstGeom prst="rect">
            <a:avLst/>
          </a:prstGeom>
          <a:noFill/>
        </p:spPr>
        <p:txBody>
          <a:bodyPr wrap="square" lIns="0" rIns="0" tIns="0" bIns="0">
            <a:spAutoFit/>
          </a:bodyPr>
          <a:lstStyle/>
          <a:p>
            <a:pPr algn="l">
              <a:lnSpc>
                <a:spcPct val="100000"/>
              </a:lnSpc>
            </a:pPr>
            <a:r>
              <a:rPr sz="2800" b="1" i="0">
                <a:solidFill>
                  <a:srgbClr val="FFFFFF"/>
                </a:solidFill>
                <a:latin typeface="Calibri"/>
              </a:rPr>
              <a:t>The mission</a:t>
            </a:r>
          </a:p>
        </p:txBody>
      </p:sp>
      <p:sp>
        <p:nvSpPr>
          <p:cNvPr id="5" name="Rectangle 4"/>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6" name="TextBox 5"/>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Student Brief — the onboarding saga</a:t>
            </a:r>
          </a:p>
        </p:txBody>
      </p:sp>
      <p:sp>
        <p:nvSpPr>
          <p:cNvPr id="7" name="TextBox 6"/>
          <p:cNvSpPr txBox="1"/>
          <p:nvPr/>
        </p:nvSpPr>
        <p:spPr>
          <a:xfrm>
            <a:off x="548640" y="1371600"/>
            <a:ext cx="5760720" cy="27432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THE ONE QUESTION YOUR MODULE ANSWERS</a:t>
            </a:r>
          </a:p>
        </p:txBody>
      </p:sp>
      <p:sp>
        <p:nvSpPr>
          <p:cNvPr id="8" name="TextBox 7"/>
          <p:cNvSpPr txBox="1"/>
          <p:nvPr/>
        </p:nvSpPr>
        <p:spPr>
          <a:xfrm>
            <a:off x="548640" y="1645920"/>
            <a:ext cx="5669280" cy="822960"/>
          </a:xfrm>
          <a:prstGeom prst="rect">
            <a:avLst/>
          </a:prstGeom>
          <a:noFill/>
        </p:spPr>
        <p:txBody>
          <a:bodyPr wrap="square" lIns="0" rIns="0" tIns="0" bIns="0">
            <a:spAutoFit/>
          </a:bodyPr>
          <a:lstStyle/>
          <a:p>
            <a:pPr algn="l">
              <a:lnSpc>
                <a:spcPct val="100000"/>
              </a:lnSpc>
            </a:pPr>
            <a:r>
              <a:rPr sz="1800" b="1" i="0">
                <a:solidFill>
                  <a:srgbClr val="2EA98D"/>
                </a:solidFill>
                <a:latin typeface="Calibri"/>
              </a:rPr>
              <a:t>Is the bank allowed — and willing — to have this person as a customer at all?</a:t>
            </a:r>
          </a:p>
        </p:txBody>
      </p:sp>
      <p:sp>
        <p:nvSpPr>
          <p:cNvPr id="9" name="TextBox 8"/>
          <p:cNvSpPr txBox="1"/>
          <p:nvPr/>
        </p:nvSpPr>
        <p:spPr>
          <a:xfrm>
            <a:off x="548640" y="2651760"/>
            <a:ext cx="5669280" cy="3291840"/>
          </a:xfrm>
          <a:prstGeom prst="rect">
            <a:avLst/>
          </a:prstGeom>
          <a:noFill/>
        </p:spPr>
        <p:txBody>
          <a:bodyPr wrap="square" lIns="0" rIns="0" tIns="0" bIns="0">
            <a:spAutoFit/>
          </a:bodyPr>
          <a:lstStyle/>
          <a:p>
            <a:pPr algn="l">
              <a:lnSpc>
                <a:spcPct val="102000"/>
              </a:lnSpc>
              <a:spcAft>
                <a:spcPts val="900"/>
              </a:spcAft>
            </a:pPr>
            <a:r>
              <a:rPr sz="1250">
                <a:solidFill>
                  <a:srgbClr val="22302B"/>
                </a:solidFill>
                <a:latin typeface="Calibri"/>
              </a:rPr>
              <a:t>•  </a:t>
            </a:r>
            <a:r>
              <a:rPr sz="1250" b="0" i="0">
                <a:solidFill>
                  <a:srgbClr val="22302B"/>
                </a:solidFill>
                <a:latin typeface="Calibri"/>
              </a:rPr>
              <a:t>You decide whether the bank is allowed — and willing — to take this person on as a customer. Module 1 checked the form; you check the relationship.</a:t>
            </a:r>
          </a:p>
          <a:p>
            <a:pPr algn="l">
              <a:lnSpc>
                <a:spcPct val="102000"/>
              </a:lnSpc>
              <a:spcAft>
                <a:spcPts val="900"/>
              </a:spcAft>
            </a:pPr>
            <a:r>
              <a:rPr sz="1250">
                <a:solidFill>
                  <a:srgbClr val="22302B"/>
                </a:solidFill>
                <a:latin typeface="Calibri"/>
              </a:rPr>
              <a:t>•  </a:t>
            </a:r>
            <a:r>
              <a:rPr sz="1250" b="0" i="0">
                <a:solidFill>
                  <a:srgbClr val="22302B"/>
                </a:solidFill>
                <a:latin typeface="Calibri"/>
              </a:rPr>
              <a:t>You do not judge creditworthiness (module 5 does), and you do not match against government watchlists (module 4 does). Your rules are the bank's own policy: one card per customer, tax residency inside the footprint, not on the bank's own restriction list.</a:t>
            </a:r>
          </a:p>
          <a:p>
            <a:pPr algn="l">
              <a:lnSpc>
                <a:spcPct val="102000"/>
              </a:lnSpc>
              <a:spcAft>
                <a:spcPts val="900"/>
              </a:spcAft>
            </a:pPr>
            <a:r>
              <a:rPr sz="1250">
                <a:solidFill>
                  <a:srgbClr val="22302B"/>
                </a:solidFill>
                <a:latin typeface="Calibri"/>
              </a:rPr>
              <a:t>•  </a:t>
            </a:r>
            <a:r>
              <a:rPr sz="1250" b="0" i="0">
                <a:solidFill>
                  <a:srgbClr val="22302B"/>
                </a:solidFill>
                <a:latin typeface="Calibri"/>
              </a:rPr>
              <a:t>One of your inputs does not live in your module at all. Work out which rule needs it, who owns it, and what you do when its owner does not answer.</a:t>
            </a:r>
          </a:p>
          <a:p>
            <a:pPr algn="l">
              <a:lnSpc>
                <a:spcPct val="102000"/>
              </a:lnSpc>
              <a:spcAft>
                <a:spcPts val="900"/>
              </a:spcAft>
            </a:pPr>
            <a:r>
              <a:rPr sz="1250">
                <a:solidFill>
                  <a:srgbClr val="22302B"/>
                </a:solidFill>
                <a:latin typeface="Calibri"/>
              </a:rPr>
              <a:t>•  </a:t>
            </a:r>
            <a:r>
              <a:rPr sz="1250" b="1" i="0">
                <a:solidFill>
                  <a:srgbClr val="22302B"/>
                </a:solidFill>
                <a:latin typeface="Calibri"/>
              </a:rPr>
              <a:t>In the real world</a:t>
            </a:r>
            <a:r>
              <a:rPr sz="1250" b="0" i="0">
                <a:solidFill>
                  <a:srgbClr val="22302B"/>
                </a:solidFill>
                <a:latin typeface="Calibri"/>
              </a:rPr>
              <a:t> this is a business-rules engine — IBM ODM or Drools territory — whose defining property is that policy changes ship as data, not as code releases. Research it.</a:t>
            </a:r>
          </a:p>
        </p:txBody>
      </p:sp>
      <p:sp>
        <p:nvSpPr>
          <p:cNvPr id="10" name="Rounded Rectangle 9"/>
          <p:cNvSpPr/>
          <p:nvPr/>
        </p:nvSpPr>
        <p:spPr>
          <a:xfrm>
            <a:off x="6583680" y="1371600"/>
            <a:ext cx="5029200" cy="4480560"/>
          </a:xfrm>
          <a:prstGeom prst="roundRect">
            <a:avLst>
              <a:gd name="adj" fmla="val 3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12280" y="1536192"/>
            <a:ext cx="41148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NON-NEGOTIABLES (PLATFORM RULES)</a:t>
            </a:r>
          </a:p>
        </p:txBody>
      </p:sp>
      <p:sp>
        <p:nvSpPr>
          <p:cNvPr id="12" name="TextBox 11"/>
          <p:cNvSpPr txBox="1"/>
          <p:nvPr/>
        </p:nvSpPr>
        <p:spPr>
          <a:xfrm>
            <a:off x="6812280" y="1828800"/>
            <a:ext cx="4572000" cy="3840480"/>
          </a:xfrm>
          <a:prstGeom prst="rect">
            <a:avLst/>
          </a:prstGeom>
          <a:noFill/>
        </p:spPr>
        <p:txBody>
          <a:bodyPr wrap="square" lIns="0" rIns="0" tIns="0" bIns="0">
            <a:spAutoFit/>
          </a:bodyPr>
          <a:lstStyle/>
          <a:p>
            <a:pPr algn="l">
              <a:lnSpc>
                <a:spcPct val="102000"/>
              </a:lnSpc>
              <a:spcAft>
                <a:spcPts val="700"/>
              </a:spcAft>
            </a:pPr>
            <a:r>
              <a:rPr sz="1150">
                <a:solidFill>
                  <a:srgbClr val="22302B"/>
                </a:solidFill>
                <a:latin typeface="Calibri"/>
              </a:rPr>
              <a:t>•  </a:t>
            </a:r>
            <a:r>
              <a:rPr sz="1150" b="0" i="0">
                <a:solidFill>
                  <a:srgbClr val="22302B"/>
                </a:solidFill>
                <a:latin typeface="Calibri"/>
              </a:rPr>
              <a:t>Only the orchestrator calls you: POST /api/v1/policy/execute → answer 202 immediately → decide off-thread → POST your outcome to /api/v1/callbacks.</a:t>
            </a:r>
          </a:p>
          <a:p>
            <a:pPr algn="l">
              <a:lnSpc>
                <a:spcPct val="102000"/>
              </a:lnSpc>
              <a:spcAft>
                <a:spcPts val="700"/>
              </a:spcAft>
            </a:pPr>
            <a:r>
              <a:rPr sz="1150">
                <a:solidFill>
                  <a:srgbClr val="22302B"/>
                </a:solidFill>
                <a:latin typeface="Calibri"/>
              </a:rPr>
              <a:t>•  </a:t>
            </a:r>
            <a:r>
              <a:rPr sz="1150" b="0" i="0">
                <a:solidFill>
                  <a:srgbClr val="22302B"/>
                </a:solidFill>
                <a:latin typeface="Calibri"/>
              </a:rPr>
              <a:t>You receive the WHOLE application, every time. Use what you need, ignore the rest.</a:t>
            </a:r>
          </a:p>
          <a:p>
            <a:pPr algn="l">
              <a:lnSpc>
                <a:spcPct val="102000"/>
              </a:lnSpc>
              <a:spcAft>
                <a:spcPts val="700"/>
              </a:spcAft>
            </a:pPr>
            <a:r>
              <a:rPr sz="1150">
                <a:solidFill>
                  <a:srgbClr val="22302B"/>
                </a:solidFill>
                <a:latin typeface="Calibri"/>
              </a:rPr>
              <a:t>•  </a:t>
            </a:r>
            <a:r>
              <a:rPr sz="1150" b="0" i="0">
                <a:solidFill>
                  <a:srgbClr val="22302B"/>
                </a:solidFill>
                <a:latin typeface="Calibri"/>
              </a:rPr>
              <a:t>Never call another module; never depend on another step's result. Your registry read goes to the orchestrator — module 00 — not to a team.</a:t>
            </a:r>
          </a:p>
          <a:p>
            <a:pPr algn="l">
              <a:lnSpc>
                <a:spcPct val="102000"/>
              </a:lnSpc>
              <a:spcAft>
                <a:spcPts val="700"/>
              </a:spcAft>
            </a:pPr>
            <a:r>
              <a:rPr sz="1150">
                <a:solidFill>
                  <a:srgbClr val="22302B"/>
                </a:solidFill>
                <a:latin typeface="Calibri"/>
              </a:rPr>
              <a:t>•  </a:t>
            </a:r>
            <a:r>
              <a:rPr sz="1150" b="1" i="0">
                <a:solidFill>
                  <a:srgbClr val="22302B"/>
                </a:solidFill>
                <a:latin typeface="Calibri"/>
              </a:rPr>
              <a:t>Never store the application payload — only applicationId.</a:t>
            </a:r>
            <a:r>
              <a:rPr sz="1150" b="0" i="0">
                <a:solidFill>
                  <a:srgbClr val="22302B"/>
                </a:solidFill>
                <a:latin typeface="Calibri"/>
              </a:rPr>
              <a:t> Your UI fetches applicant detail live through your own GET proxy.</a:t>
            </a:r>
          </a:p>
          <a:p>
            <a:pPr algn="l">
              <a:lnSpc>
                <a:spcPct val="102000"/>
              </a:lnSpc>
              <a:spcAft>
                <a:spcPts val="700"/>
              </a:spcAft>
            </a:pPr>
            <a:r>
              <a:rPr sz="1150">
                <a:solidFill>
                  <a:srgbClr val="22302B"/>
                </a:solidFill>
                <a:latin typeface="Calibri"/>
              </a:rPr>
              <a:t>•  </a:t>
            </a:r>
            <a:r>
              <a:rPr sz="1150" b="0" i="0">
                <a:solidFill>
                  <a:srgbClr val="22302B"/>
                </a:solidFill>
                <a:latin typeface="Calibri"/>
              </a:rPr>
              <a:t>Big lists (search, boards, queues) start EMPTY and never show more than 10 rows.</a:t>
            </a:r>
          </a:p>
          <a:p>
            <a:pPr algn="l">
              <a:lnSpc>
                <a:spcPct val="102000"/>
              </a:lnSpc>
              <a:spcAft>
                <a:spcPts val="700"/>
              </a:spcAft>
            </a:pPr>
            <a:r>
              <a:rPr sz="1150">
                <a:solidFill>
                  <a:srgbClr val="22302B"/>
                </a:solidFill>
                <a:latin typeface="Calibri"/>
              </a:rPr>
              <a:t>•  </a:t>
            </a:r>
            <a:r>
              <a:rPr sz="1150" b="0" i="0">
                <a:solidFill>
                  <a:srgbClr val="22302B"/>
                </a:solidFill>
                <a:latin typeface="Calibri"/>
              </a:rPr>
              <a:t>The api-contract is LOCKED. Need something it doesn't have? Ask your instructor — do not invent.</a:t>
            </a:r>
          </a:p>
          <a:p>
            <a:pPr algn="l">
              <a:lnSpc>
                <a:spcPct val="102000"/>
              </a:lnSpc>
              <a:spcAft>
                <a:spcPts val="700"/>
              </a:spcAft>
            </a:pPr>
            <a:r>
              <a:rPr sz="1150">
                <a:solidFill>
                  <a:srgbClr val="22302B"/>
                </a:solidFill>
                <a:latin typeface="Calibri"/>
              </a:rPr>
              <a:t>•  </a:t>
            </a:r>
            <a:r>
              <a:rPr sz="1150" b="1" i="0">
                <a:solidFill>
                  <a:srgbClr val="22302B"/>
                </a:solidFill>
                <a:latin typeface="Calibri"/>
              </a:rPr>
              <a:t>Every API you expose is idempotent</a:t>
            </a:r>
            <a:r>
              <a:rPr sz="1150" b="0" i="0">
                <a:solidFill>
                  <a:srgbClr val="22302B"/>
                </a:solidFill>
                <a:latin typeface="Calibri"/>
              </a:rPr>
              <a:t> — same request twice, same result once. This is a design principle, not an optimisation.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6304"/>
            <a:ext cx="9326880" cy="274320"/>
          </a:xfrm>
          <a:prstGeom prst="rect">
            <a:avLst/>
          </a:prstGeom>
          <a:noFill/>
        </p:spPr>
        <p:txBody>
          <a:bodyPr wrap="square" lIns="0" rIns="0" tIns="0" bIns="0">
            <a:spAutoFit/>
          </a:bodyPr>
          <a:lstStyle/>
          <a:p>
            <a:pPr algn="l">
              <a:lnSpc>
                <a:spcPct val="100000"/>
              </a:lnSpc>
            </a:pPr>
            <a:r>
              <a:rPr sz="1200" b="1" i="0">
                <a:solidFill>
                  <a:srgbClr val="94A9A1"/>
                </a:solidFill>
                <a:latin typeface="Calibri"/>
              </a:rPr>
              <a:t>MODULE 2</a:t>
            </a:r>
          </a:p>
        </p:txBody>
      </p:sp>
      <p:sp>
        <p:nvSpPr>
          <p:cNvPr id="4" name="TextBox 3"/>
          <p:cNvSpPr txBox="1"/>
          <p:nvPr/>
        </p:nvSpPr>
        <p:spPr>
          <a:xfrm>
            <a:off x="548640" y="402336"/>
            <a:ext cx="9326880" cy="548640"/>
          </a:xfrm>
          <a:prstGeom prst="rect">
            <a:avLst/>
          </a:prstGeom>
          <a:noFill/>
        </p:spPr>
        <p:txBody>
          <a:bodyPr wrap="square" lIns="0" rIns="0" tIns="0" bIns="0">
            <a:spAutoFit/>
          </a:bodyPr>
          <a:lstStyle/>
          <a:p>
            <a:pPr algn="l">
              <a:lnSpc>
                <a:spcPct val="100000"/>
              </a:lnSpc>
            </a:pPr>
            <a:r>
              <a:rPr sz="2800" b="1" i="0">
                <a:solidFill>
                  <a:srgbClr val="FFFFFF"/>
                </a:solidFill>
                <a:latin typeface="Calibri"/>
              </a:rPr>
              <a:t>The contract in one picture</a:t>
            </a:r>
          </a:p>
        </p:txBody>
      </p:sp>
      <p:sp>
        <p:nvSpPr>
          <p:cNvPr id="5" name="Rectangle 4"/>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6" name="TextBox 5"/>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Student Brief — two calls, one gap in the middle</a:t>
            </a:r>
          </a:p>
        </p:txBody>
      </p:sp>
      <p:pic>
        <p:nvPicPr>
          <p:cNvPr id="7" name="Picture 6" descr="orchestrator-flow-student.jpg"/>
          <p:cNvPicPr>
            <a:picLocks noChangeAspect="1"/>
          </p:cNvPicPr>
          <p:nvPr/>
        </p:nvPicPr>
        <p:blipFill>
          <a:blip r:embed="rId2"/>
          <a:stretch>
            <a:fillRect/>
          </a:stretch>
        </p:blipFill>
        <p:spPr>
          <a:xfrm>
            <a:off x="1280160" y="1234440"/>
            <a:ext cx="9601200" cy="2094139"/>
          </a:xfrm>
          <a:prstGeom prst="rect">
            <a:avLst/>
          </a:prstGeom>
        </p:spPr>
      </p:pic>
      <p:sp>
        <p:nvSpPr>
          <p:cNvPr id="8" name="Rectangle 7"/>
          <p:cNvSpPr/>
          <p:nvPr/>
        </p:nvSpPr>
        <p:spPr>
          <a:xfrm>
            <a:off x="2377440" y="3511459"/>
            <a:ext cx="1463040" cy="256032"/>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1" i="0">
                <a:solidFill>
                  <a:srgbClr val="FFFFFF"/>
                </a:solidFill>
                <a:latin typeface="Calibri"/>
              </a:rPr>
              <a:t>outcome</a:t>
            </a:r>
          </a:p>
        </p:txBody>
      </p:sp>
      <p:sp>
        <p:nvSpPr>
          <p:cNvPr id="9" name="Rectangle 8"/>
          <p:cNvSpPr/>
          <p:nvPr/>
        </p:nvSpPr>
        <p:spPr>
          <a:xfrm>
            <a:off x="3840480" y="3511459"/>
            <a:ext cx="1920240" cy="256032"/>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1" i="0">
                <a:solidFill>
                  <a:srgbClr val="FFFFFF"/>
                </a:solidFill>
                <a:latin typeface="Calibri"/>
              </a:rPr>
              <a:t>callback status</a:t>
            </a:r>
          </a:p>
        </p:txBody>
      </p:sp>
      <p:sp>
        <p:nvSpPr>
          <p:cNvPr id="10" name="Rectangle 9"/>
          <p:cNvSpPr/>
          <p:nvPr/>
        </p:nvSpPr>
        <p:spPr>
          <a:xfrm>
            <a:off x="5760720" y="3511459"/>
            <a:ext cx="3200400" cy="256032"/>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1" i="0">
                <a:solidFill>
                  <a:srgbClr val="FFFFFF"/>
                </a:solidFill>
                <a:latin typeface="Calibri"/>
              </a:rPr>
              <a:t>journey effect</a:t>
            </a:r>
          </a:p>
        </p:txBody>
      </p:sp>
      <p:sp>
        <p:nvSpPr>
          <p:cNvPr id="11" name="Rectangle 10"/>
          <p:cNvSpPr/>
          <p:nvPr/>
        </p:nvSpPr>
        <p:spPr>
          <a:xfrm>
            <a:off x="2377440" y="3767491"/>
            <a:ext cx="1463040" cy="256032"/>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APPROVED</a:t>
            </a:r>
          </a:p>
        </p:txBody>
      </p:sp>
      <p:sp>
        <p:nvSpPr>
          <p:cNvPr id="12" name="Rectangle 11"/>
          <p:cNvSpPr/>
          <p:nvPr/>
        </p:nvSpPr>
        <p:spPr>
          <a:xfrm>
            <a:off x="3840480" y="3767491"/>
            <a:ext cx="1920240" cy="256032"/>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completed</a:t>
            </a:r>
          </a:p>
        </p:txBody>
      </p:sp>
      <p:sp>
        <p:nvSpPr>
          <p:cNvPr id="13" name="Rectangle 12"/>
          <p:cNvSpPr/>
          <p:nvPr/>
        </p:nvSpPr>
        <p:spPr>
          <a:xfrm>
            <a:off x="5760720" y="3767491"/>
            <a:ext cx="3200400" cy="256032"/>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next step runs</a:t>
            </a:r>
          </a:p>
        </p:txBody>
      </p:sp>
      <p:sp>
        <p:nvSpPr>
          <p:cNvPr id="14" name="Rectangle 13"/>
          <p:cNvSpPr/>
          <p:nvPr/>
        </p:nvSpPr>
        <p:spPr>
          <a:xfrm>
            <a:off x="2377440" y="4023523"/>
            <a:ext cx="1463040" cy="256032"/>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REJECTED</a:t>
            </a:r>
          </a:p>
        </p:txBody>
      </p:sp>
      <p:sp>
        <p:nvSpPr>
          <p:cNvPr id="15" name="Rectangle 14"/>
          <p:cNvSpPr/>
          <p:nvPr/>
        </p:nvSpPr>
        <p:spPr>
          <a:xfrm>
            <a:off x="3840480" y="4023523"/>
            <a:ext cx="1920240" cy="256032"/>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rejected</a:t>
            </a:r>
          </a:p>
        </p:txBody>
      </p:sp>
      <p:sp>
        <p:nvSpPr>
          <p:cNvPr id="16" name="Rectangle 15"/>
          <p:cNvSpPr/>
          <p:nvPr/>
        </p:nvSpPr>
        <p:spPr>
          <a:xfrm>
            <a:off x="5760720" y="4023523"/>
            <a:ext cx="3200400" cy="256032"/>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journey ends REJECTED</a:t>
            </a:r>
          </a:p>
        </p:txBody>
      </p:sp>
      <p:sp>
        <p:nvSpPr>
          <p:cNvPr id="17" name="Rectangle 16"/>
          <p:cNvSpPr/>
          <p:nvPr/>
        </p:nvSpPr>
        <p:spPr>
          <a:xfrm>
            <a:off x="2377440" y="4279555"/>
            <a:ext cx="1463040" cy="256032"/>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REFERRED</a:t>
            </a:r>
          </a:p>
        </p:txBody>
      </p:sp>
      <p:sp>
        <p:nvSpPr>
          <p:cNvPr id="18" name="Rectangle 17"/>
          <p:cNvSpPr/>
          <p:nvPr/>
        </p:nvSpPr>
        <p:spPr>
          <a:xfrm>
            <a:off x="3840480" y="4279555"/>
            <a:ext cx="1920240" cy="256032"/>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application-manual</a:t>
            </a:r>
          </a:p>
        </p:txBody>
      </p:sp>
      <p:sp>
        <p:nvSpPr>
          <p:cNvPr id="19" name="Rectangle 18"/>
          <p:cNvSpPr/>
          <p:nvPr/>
        </p:nvSpPr>
        <p:spPr>
          <a:xfrm>
            <a:off x="5760720" y="4279555"/>
            <a:ext cx="3200400" cy="256032"/>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050" b="0" i="0">
                <a:solidFill>
                  <a:srgbClr val="22302B"/>
                </a:solidFill>
                <a:latin typeface="Calibri"/>
              </a:rPr>
              <a:t>parks for a person</a:t>
            </a:r>
          </a:p>
        </p:txBody>
      </p:sp>
      <p:sp>
        <p:nvSpPr>
          <p:cNvPr id="20" name="TextBox 19"/>
          <p:cNvSpPr txBox="1"/>
          <p:nvPr/>
        </p:nvSpPr>
        <p:spPr>
          <a:xfrm>
            <a:off x="1280160" y="4627026"/>
            <a:ext cx="9601200" cy="320040"/>
          </a:xfrm>
          <a:prstGeom prst="rect">
            <a:avLst/>
          </a:prstGeom>
          <a:noFill/>
        </p:spPr>
        <p:txBody>
          <a:bodyPr wrap="square" lIns="0" rIns="0" tIns="0" bIns="0">
            <a:spAutoFit/>
          </a:bodyPr>
          <a:lstStyle/>
          <a:p>
            <a:pPr algn="l">
              <a:lnSpc>
                <a:spcPct val="100000"/>
              </a:lnSpc>
            </a:pPr>
            <a:r>
              <a:rPr sz="1050" b="0" i="1">
                <a:solidFill>
                  <a:srgbClr val="B7791F"/>
                </a:solidFill>
                <a:latin typeface="Calibri"/>
              </a:rPr>
              <a:t>Every so often your module must disobey its own rules — on purpose, on a schedule. Find out why a bank would want that.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6304"/>
            <a:ext cx="9326880" cy="274320"/>
          </a:xfrm>
          <a:prstGeom prst="rect">
            <a:avLst/>
          </a:prstGeom>
          <a:noFill/>
        </p:spPr>
        <p:txBody>
          <a:bodyPr wrap="square" lIns="0" rIns="0" tIns="0" bIns="0">
            <a:spAutoFit/>
          </a:bodyPr>
          <a:lstStyle/>
          <a:p>
            <a:pPr algn="l">
              <a:lnSpc>
                <a:spcPct val="100000"/>
              </a:lnSpc>
            </a:pPr>
            <a:r>
              <a:rPr sz="1200" b="1" i="0">
                <a:solidFill>
                  <a:srgbClr val="94A9A1"/>
                </a:solidFill>
                <a:latin typeface="Calibri"/>
              </a:rPr>
              <a:t>MODULE 2</a:t>
            </a:r>
          </a:p>
        </p:txBody>
      </p:sp>
      <p:sp>
        <p:nvSpPr>
          <p:cNvPr id="4" name="TextBox 3"/>
          <p:cNvSpPr txBox="1"/>
          <p:nvPr/>
        </p:nvSpPr>
        <p:spPr>
          <a:xfrm>
            <a:off x="548640" y="402336"/>
            <a:ext cx="9326880" cy="548640"/>
          </a:xfrm>
          <a:prstGeom prst="rect">
            <a:avLst/>
          </a:prstGeom>
          <a:noFill/>
        </p:spPr>
        <p:txBody>
          <a:bodyPr wrap="square" lIns="0" rIns="0" tIns="0" bIns="0">
            <a:spAutoFit/>
          </a:bodyPr>
          <a:lstStyle/>
          <a:p>
            <a:pPr algn="l">
              <a:lnSpc>
                <a:spcPct val="100000"/>
              </a:lnSpc>
            </a:pPr>
            <a:r>
              <a:rPr sz="2800" b="1" i="0">
                <a:solidFill>
                  <a:srgbClr val="FFFFFF"/>
                </a:solidFill>
                <a:latin typeface="Calibri"/>
              </a:rPr>
              <a:t>Your use cases</a:t>
            </a:r>
          </a:p>
        </p:txBody>
      </p:sp>
      <p:sp>
        <p:nvSpPr>
          <p:cNvPr id="5" name="Rectangle 4"/>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6" name="TextBox 5"/>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Student Brief — the scope; the depth of each one is yours to elicit</a:t>
            </a:r>
          </a:p>
        </p:txBody>
      </p:sp>
      <p:sp>
        <p:nvSpPr>
          <p:cNvPr id="7" name="Rectangle 6"/>
          <p:cNvSpPr/>
          <p:nvPr/>
        </p:nvSpPr>
        <p:spPr>
          <a:xfrm>
            <a:off x="548640" y="1325880"/>
            <a:ext cx="502920" cy="329184"/>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1" i="0">
                <a:solidFill>
                  <a:srgbClr val="FFFFFF"/>
                </a:solidFill>
                <a:latin typeface="Calibri"/>
              </a:rPr>
              <a:t>#</a:t>
            </a:r>
          </a:p>
        </p:txBody>
      </p:sp>
      <p:sp>
        <p:nvSpPr>
          <p:cNvPr id="8" name="Rectangle 7"/>
          <p:cNvSpPr/>
          <p:nvPr/>
        </p:nvSpPr>
        <p:spPr>
          <a:xfrm>
            <a:off x="1051560" y="1325880"/>
            <a:ext cx="2743200" cy="329184"/>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1" i="0">
                <a:solidFill>
                  <a:srgbClr val="FFFFFF"/>
                </a:solidFill>
                <a:latin typeface="Calibri"/>
              </a:rPr>
              <a:t>use case</a:t>
            </a:r>
          </a:p>
        </p:txBody>
      </p:sp>
      <p:sp>
        <p:nvSpPr>
          <p:cNvPr id="9" name="Rectangle 8"/>
          <p:cNvSpPr/>
          <p:nvPr/>
        </p:nvSpPr>
        <p:spPr>
          <a:xfrm>
            <a:off x="3794759" y="1325880"/>
            <a:ext cx="5486400" cy="329184"/>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1" i="0">
                <a:solidFill>
                  <a:srgbClr val="FFFFFF"/>
                </a:solidFill>
                <a:latin typeface="Calibri"/>
              </a:rPr>
              <a:t>what it means</a:t>
            </a:r>
          </a:p>
        </p:txBody>
      </p:sp>
      <p:sp>
        <p:nvSpPr>
          <p:cNvPr id="10" name="Rectangle 9"/>
          <p:cNvSpPr/>
          <p:nvPr/>
        </p:nvSpPr>
        <p:spPr>
          <a:xfrm>
            <a:off x="9281160" y="1325880"/>
            <a:ext cx="2377440" cy="329184"/>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1" i="0">
                <a:solidFill>
                  <a:srgbClr val="FFFFFF"/>
                </a:solidFill>
                <a:latin typeface="Calibri"/>
              </a:rPr>
              <a:t>primary screen</a:t>
            </a:r>
          </a:p>
        </p:txBody>
      </p:sp>
      <p:sp>
        <p:nvSpPr>
          <p:cNvPr id="11" name="Rectangle 10"/>
          <p:cNvSpPr/>
          <p:nvPr/>
        </p:nvSpPr>
        <p:spPr>
          <a:xfrm>
            <a:off x="548640" y="1655064"/>
            <a:ext cx="50292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00</a:t>
            </a:r>
          </a:p>
        </p:txBody>
      </p:sp>
      <p:sp>
        <p:nvSpPr>
          <p:cNvPr id="12" name="Rectangle 11"/>
          <p:cNvSpPr/>
          <p:nvPr/>
        </p:nvSpPr>
        <p:spPr>
          <a:xfrm>
            <a:off x="1051560" y="1655064"/>
            <a:ext cx="274320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Process Application</a:t>
            </a:r>
          </a:p>
        </p:txBody>
      </p:sp>
      <p:sp>
        <p:nvSpPr>
          <p:cNvPr id="13" name="Rectangle 12"/>
          <p:cNvSpPr/>
          <p:nvPr/>
        </p:nvSpPr>
        <p:spPr>
          <a:xfrm>
            <a:off x="3794759" y="1655064"/>
            <a:ext cx="548640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the front door — every /execute is acknowledged and stored; nothing else exists without it</a:t>
            </a:r>
          </a:p>
        </p:txBody>
      </p:sp>
      <p:sp>
        <p:nvSpPr>
          <p:cNvPr id="14" name="Rectangle 13"/>
          <p:cNvSpPr/>
          <p:nvPr/>
        </p:nvSpPr>
        <p:spPr>
          <a:xfrm>
            <a:off x="9281160" y="1655064"/>
            <a:ext cx="237744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 feeds every screen (row visible on the board)</a:t>
            </a:r>
          </a:p>
        </p:txBody>
      </p:sp>
      <p:sp>
        <p:nvSpPr>
          <p:cNvPr id="15" name="Rectangle 14"/>
          <p:cNvSpPr/>
          <p:nvPr/>
        </p:nvSpPr>
        <p:spPr>
          <a:xfrm>
            <a:off x="548640" y="2130552"/>
            <a:ext cx="502920" cy="47548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01</a:t>
            </a:r>
          </a:p>
        </p:txBody>
      </p:sp>
      <p:sp>
        <p:nvSpPr>
          <p:cNvPr id="16" name="Rectangle 15"/>
          <p:cNvSpPr/>
          <p:nvPr/>
        </p:nvSpPr>
        <p:spPr>
          <a:xfrm>
            <a:off x="1051560" y="2130552"/>
            <a:ext cx="2743200" cy="47548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Search Cases</a:t>
            </a:r>
          </a:p>
        </p:txBody>
      </p:sp>
      <p:sp>
        <p:nvSpPr>
          <p:cNvPr id="17" name="Rectangle 16"/>
          <p:cNvSpPr/>
          <p:nvPr/>
        </p:nvSpPr>
        <p:spPr>
          <a:xfrm>
            <a:off x="3794759" y="2130552"/>
            <a:ext cx="5486400" cy="47548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find a policy case by application id or applicant name — empty by default, never more than 10 rows</a:t>
            </a:r>
          </a:p>
        </p:txBody>
      </p:sp>
      <p:sp>
        <p:nvSpPr>
          <p:cNvPr id="18" name="Rectangle 17"/>
          <p:cNvSpPr/>
          <p:nvPr/>
        </p:nvSpPr>
        <p:spPr>
          <a:xfrm>
            <a:off x="9281160" y="2130552"/>
            <a:ext cx="2377440" cy="47548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Policy Board</a:t>
            </a:r>
          </a:p>
        </p:txBody>
      </p:sp>
      <p:sp>
        <p:nvSpPr>
          <p:cNvPr id="19" name="Rectangle 18"/>
          <p:cNvSpPr/>
          <p:nvPr/>
        </p:nvSpPr>
        <p:spPr>
          <a:xfrm>
            <a:off x="548640" y="2606040"/>
            <a:ext cx="50292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02</a:t>
            </a:r>
          </a:p>
        </p:txBody>
      </p:sp>
      <p:sp>
        <p:nvSpPr>
          <p:cNvPr id="20" name="Rectangle 19"/>
          <p:cNvSpPr/>
          <p:nvPr/>
        </p:nvSpPr>
        <p:spPr>
          <a:xfrm>
            <a:off x="1051560" y="2606040"/>
            <a:ext cx="274320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Review Decision</a:t>
            </a:r>
          </a:p>
        </p:txBody>
      </p:sp>
      <p:sp>
        <p:nvSpPr>
          <p:cNvPr id="21" name="Rectangle 20"/>
          <p:cNvSpPr/>
          <p:nvPr/>
        </p:nvSpPr>
        <p:spPr>
          <a:xfrm>
            <a:off x="3794759" y="2606040"/>
            <a:ext cx="548640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open one decision — outcome, machineOutcome and every rule's result; the rule engine lives here</a:t>
            </a:r>
          </a:p>
        </p:txBody>
      </p:sp>
      <p:sp>
        <p:nvSpPr>
          <p:cNvPr id="22" name="Rectangle 21"/>
          <p:cNvSpPr/>
          <p:nvPr/>
        </p:nvSpPr>
        <p:spPr>
          <a:xfrm>
            <a:off x="9281160" y="2606040"/>
            <a:ext cx="237744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Decision Detail</a:t>
            </a:r>
          </a:p>
        </p:txBody>
      </p:sp>
      <p:sp>
        <p:nvSpPr>
          <p:cNvPr id="23" name="Rectangle 22"/>
          <p:cNvSpPr/>
          <p:nvPr/>
        </p:nvSpPr>
        <p:spPr>
          <a:xfrm>
            <a:off x="548640" y="3081528"/>
            <a:ext cx="502920" cy="47548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03</a:t>
            </a:r>
          </a:p>
        </p:txBody>
      </p:sp>
      <p:sp>
        <p:nvSpPr>
          <p:cNvPr id="24" name="Rectangle 23"/>
          <p:cNvSpPr/>
          <p:nvPr/>
        </p:nvSpPr>
        <p:spPr>
          <a:xfrm>
            <a:off x="1051560" y="3081528"/>
            <a:ext cx="2743200" cy="47548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View Applicant</a:t>
            </a:r>
          </a:p>
        </p:txBody>
      </p:sp>
      <p:sp>
        <p:nvSpPr>
          <p:cNvPr id="25" name="Rectangle 24"/>
          <p:cNvSpPr/>
          <p:nvPr/>
        </p:nvSpPr>
        <p:spPr>
          <a:xfrm>
            <a:off x="3794759" y="3081528"/>
            <a:ext cx="5486400" cy="47548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see the person behind a case, fetched live from the orchestrator — never stored</a:t>
            </a:r>
          </a:p>
        </p:txBody>
      </p:sp>
      <p:sp>
        <p:nvSpPr>
          <p:cNvPr id="26" name="Rectangle 25"/>
          <p:cNvSpPr/>
          <p:nvPr/>
        </p:nvSpPr>
        <p:spPr>
          <a:xfrm>
            <a:off x="9281160" y="3081528"/>
            <a:ext cx="2377440" cy="47548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Decision Detail sidebar</a:t>
            </a:r>
          </a:p>
        </p:txBody>
      </p:sp>
      <p:sp>
        <p:nvSpPr>
          <p:cNvPr id="27" name="Rectangle 26"/>
          <p:cNvSpPr/>
          <p:nvPr/>
        </p:nvSpPr>
        <p:spPr>
          <a:xfrm>
            <a:off x="548640" y="3557016"/>
            <a:ext cx="50292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04</a:t>
            </a:r>
          </a:p>
        </p:txBody>
      </p:sp>
      <p:sp>
        <p:nvSpPr>
          <p:cNvPr id="28" name="Rectangle 27"/>
          <p:cNvSpPr/>
          <p:nvPr/>
        </p:nvSpPr>
        <p:spPr>
          <a:xfrm>
            <a:off x="1051560" y="3557016"/>
            <a:ext cx="274320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Work Referral Queue</a:t>
            </a:r>
          </a:p>
        </p:txBody>
      </p:sp>
      <p:sp>
        <p:nvSpPr>
          <p:cNvPr id="29" name="Rectangle 28"/>
          <p:cNvSpPr/>
          <p:nvPr/>
        </p:nvSpPr>
        <p:spPr>
          <a:xfrm>
            <a:off x="3794759" y="3557016"/>
            <a:ext cx="548640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a person works the REFERRED cases — machine workings always on screen, decision with a reason, journey resumes</a:t>
            </a:r>
          </a:p>
        </p:txBody>
      </p:sp>
      <p:sp>
        <p:nvSpPr>
          <p:cNvPr id="30" name="Rectangle 29"/>
          <p:cNvSpPr/>
          <p:nvPr/>
        </p:nvSpPr>
        <p:spPr>
          <a:xfrm>
            <a:off x="9281160" y="3557016"/>
            <a:ext cx="237744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Referral Queue</a:t>
            </a:r>
          </a:p>
        </p:txBody>
      </p:sp>
      <p:sp>
        <p:nvSpPr>
          <p:cNvPr id="31" name="Rectangle 30"/>
          <p:cNvSpPr/>
          <p:nvPr/>
        </p:nvSpPr>
        <p:spPr>
          <a:xfrm>
            <a:off x="548640" y="4032504"/>
            <a:ext cx="502920" cy="47548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05</a:t>
            </a:r>
          </a:p>
        </p:txBody>
      </p:sp>
      <p:sp>
        <p:nvSpPr>
          <p:cNvPr id="32" name="Rectangle 31"/>
          <p:cNvSpPr/>
          <p:nvPr/>
        </p:nvSpPr>
        <p:spPr>
          <a:xfrm>
            <a:off x="1051560" y="4032504"/>
            <a:ext cx="2743200" cy="47548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Rejection Patterns</a:t>
            </a:r>
          </a:p>
        </p:txBody>
      </p:sp>
      <p:sp>
        <p:nvSpPr>
          <p:cNvPr id="33" name="Rectangle 32"/>
          <p:cNvSpPr/>
          <p:nvPr/>
        </p:nvSpPr>
        <p:spPr>
          <a:xfrm>
            <a:off x="3794759" y="4032504"/>
            <a:ext cx="5486400" cy="47548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which policy reasons fire most over a date range — is a list too tight, or the sampling rate too high?</a:t>
            </a:r>
          </a:p>
        </p:txBody>
      </p:sp>
      <p:sp>
        <p:nvSpPr>
          <p:cNvPr id="34" name="Rectangle 33"/>
          <p:cNvSpPr/>
          <p:nvPr/>
        </p:nvSpPr>
        <p:spPr>
          <a:xfrm>
            <a:off x="9281160" y="4032504"/>
            <a:ext cx="2377440" cy="47548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Rejection Patterns</a:t>
            </a:r>
          </a:p>
        </p:txBody>
      </p:sp>
      <p:sp>
        <p:nvSpPr>
          <p:cNvPr id="35" name="Rectangle 34"/>
          <p:cNvSpPr/>
          <p:nvPr/>
        </p:nvSpPr>
        <p:spPr>
          <a:xfrm>
            <a:off x="548640" y="4507992"/>
            <a:ext cx="50292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06</a:t>
            </a:r>
          </a:p>
        </p:txBody>
      </p:sp>
      <p:sp>
        <p:nvSpPr>
          <p:cNvPr id="36" name="Rectangle 35"/>
          <p:cNvSpPr/>
          <p:nvPr/>
        </p:nvSpPr>
        <p:spPr>
          <a:xfrm>
            <a:off x="1051560" y="4507992"/>
            <a:ext cx="274320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Override Case</a:t>
            </a:r>
          </a:p>
        </p:txBody>
      </p:sp>
      <p:sp>
        <p:nvSpPr>
          <p:cNvPr id="37" name="Rectangle 36"/>
          <p:cNvSpPr/>
          <p:nvPr/>
        </p:nvSpPr>
        <p:spPr>
          <a:xfrm>
            <a:off x="3794759" y="4507992"/>
            <a:ext cx="548640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a person corrects a wrong decision — with a reason, leaving a trace, resuming the journey</a:t>
            </a:r>
          </a:p>
        </p:txBody>
      </p:sp>
      <p:sp>
        <p:nvSpPr>
          <p:cNvPr id="38" name="Rectangle 37"/>
          <p:cNvSpPr/>
          <p:nvPr/>
        </p:nvSpPr>
        <p:spPr>
          <a:xfrm>
            <a:off x="9281160" y="4507992"/>
            <a:ext cx="237744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Override modal</a:t>
            </a:r>
          </a:p>
        </p:txBody>
      </p:sp>
      <p:sp>
        <p:nvSpPr>
          <p:cNvPr id="39" name="Rectangle 38"/>
          <p:cNvSpPr/>
          <p:nvPr/>
        </p:nvSpPr>
        <p:spPr>
          <a:xfrm>
            <a:off x="548640" y="4983479"/>
            <a:ext cx="502920" cy="47548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07</a:t>
            </a:r>
          </a:p>
        </p:txBody>
      </p:sp>
      <p:sp>
        <p:nvSpPr>
          <p:cNvPr id="40" name="Rectangle 39"/>
          <p:cNvSpPr/>
          <p:nvPr/>
        </p:nvSpPr>
        <p:spPr>
          <a:xfrm>
            <a:off x="1051560" y="4983479"/>
            <a:ext cx="2743200" cy="47548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Edit Policy Config</a:t>
            </a:r>
          </a:p>
        </p:txBody>
      </p:sp>
      <p:sp>
        <p:nvSpPr>
          <p:cNvPr id="41" name="Rectangle 40"/>
          <p:cNvSpPr/>
          <p:nvPr/>
        </p:nvSpPr>
        <p:spPr>
          <a:xfrm>
            <a:off x="3794759" y="4983479"/>
            <a:ext cx="5486400" cy="47548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change the residency lists, the restriction list or the sampling rate as data — insert-only versions</a:t>
            </a:r>
          </a:p>
        </p:txBody>
      </p:sp>
      <p:sp>
        <p:nvSpPr>
          <p:cNvPr id="42" name="Rectangle 41"/>
          <p:cNvSpPr/>
          <p:nvPr/>
        </p:nvSpPr>
        <p:spPr>
          <a:xfrm>
            <a:off x="9281160" y="4983479"/>
            <a:ext cx="2377440" cy="47548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Policy Configuration</a:t>
            </a:r>
          </a:p>
        </p:txBody>
      </p:sp>
      <p:sp>
        <p:nvSpPr>
          <p:cNvPr id="43" name="Rectangle 42"/>
          <p:cNvSpPr/>
          <p:nvPr/>
        </p:nvSpPr>
        <p:spPr>
          <a:xfrm>
            <a:off x="548640" y="5458967"/>
            <a:ext cx="50292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08</a:t>
            </a:r>
          </a:p>
        </p:txBody>
      </p:sp>
      <p:sp>
        <p:nvSpPr>
          <p:cNvPr id="44" name="Rectangle 43"/>
          <p:cNvSpPr/>
          <p:nvPr/>
        </p:nvSpPr>
        <p:spPr>
          <a:xfrm>
            <a:off x="1051560" y="5458967"/>
            <a:ext cx="274320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View Config History</a:t>
            </a:r>
          </a:p>
        </p:txBody>
      </p:sp>
      <p:sp>
        <p:nvSpPr>
          <p:cNvPr id="45" name="Rectangle 44"/>
          <p:cNvSpPr/>
          <p:nvPr/>
        </p:nvSpPr>
        <p:spPr>
          <a:xfrm>
            <a:off x="3794759" y="5458967"/>
            <a:ext cx="548640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every version the policy ever had, so old decisions stay explainable</a:t>
            </a:r>
          </a:p>
        </p:txBody>
      </p:sp>
      <p:sp>
        <p:nvSpPr>
          <p:cNvPr id="46" name="Rectangle 45"/>
          <p:cNvSpPr/>
          <p:nvPr/>
        </p:nvSpPr>
        <p:spPr>
          <a:xfrm>
            <a:off x="9281160" y="5458967"/>
            <a:ext cx="237744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Policy Configuration</a:t>
            </a:r>
          </a:p>
        </p:txBody>
      </p:sp>
      <p:sp>
        <p:nvSpPr>
          <p:cNvPr id="47" name="Rectangle 46"/>
          <p:cNvSpPr/>
          <p:nvPr/>
        </p:nvSpPr>
        <p:spPr>
          <a:xfrm>
            <a:off x="548640" y="5934455"/>
            <a:ext cx="502920" cy="47548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1" i="0">
                <a:solidFill>
                  <a:srgbClr val="B7791F"/>
                </a:solidFill>
                <a:latin typeface="Calibri"/>
              </a:rPr>
              <a:t>09</a:t>
            </a:r>
          </a:p>
        </p:txBody>
      </p:sp>
      <p:sp>
        <p:nvSpPr>
          <p:cNvPr id="48" name="Rectangle 47"/>
          <p:cNvSpPr/>
          <p:nvPr/>
        </p:nvSpPr>
        <p:spPr>
          <a:xfrm>
            <a:off x="1051560" y="5934455"/>
            <a:ext cx="2743200" cy="47548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1" i="0">
                <a:solidFill>
                  <a:srgbClr val="B7791F"/>
                </a:solidFill>
                <a:latin typeface="Calibri"/>
              </a:rPr>
              <a:t>Minimum relationship tenure</a:t>
            </a:r>
          </a:p>
        </p:txBody>
      </p:sp>
      <p:sp>
        <p:nvSpPr>
          <p:cNvPr id="49" name="Rectangle 48"/>
          <p:cNvSpPr/>
          <p:nvPr/>
        </p:nvSpPr>
        <p:spPr>
          <a:xfrm>
            <a:off x="3794759" y="5934455"/>
            <a:ext cx="5486400" cy="47548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B7791F"/>
                </a:solidFill>
                <a:latin typeface="Calibri"/>
              </a:rPr>
              <a:t>CANDIDATE — returning customers must wait; touch it only when 01–08 are complete</a:t>
            </a:r>
          </a:p>
        </p:txBody>
      </p:sp>
      <p:sp>
        <p:nvSpPr>
          <p:cNvPr id="50" name="Rectangle 49"/>
          <p:cNvSpPr/>
          <p:nvPr/>
        </p:nvSpPr>
        <p:spPr>
          <a:xfrm>
            <a:off x="9281160" y="5934455"/>
            <a:ext cx="2377440" cy="47548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Decision Detail (rule 5)</a:t>
            </a:r>
          </a:p>
        </p:txBody>
      </p:sp>
      <p:sp>
        <p:nvSpPr>
          <p:cNvPr id="51" name="Rectangle 50"/>
          <p:cNvSpPr/>
          <p:nvPr/>
        </p:nvSpPr>
        <p:spPr>
          <a:xfrm>
            <a:off x="548640" y="6409943"/>
            <a:ext cx="50292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1" i="0">
                <a:solidFill>
                  <a:srgbClr val="B7791F"/>
                </a:solidFill>
                <a:latin typeface="Calibri"/>
              </a:rPr>
              <a:t>10</a:t>
            </a:r>
          </a:p>
        </p:txBody>
      </p:sp>
      <p:sp>
        <p:nvSpPr>
          <p:cNvPr id="52" name="Rectangle 51"/>
          <p:cNvSpPr/>
          <p:nvPr/>
        </p:nvSpPr>
        <p:spPr>
          <a:xfrm>
            <a:off x="1051560" y="6409943"/>
            <a:ext cx="274320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1" i="0">
                <a:solidFill>
                  <a:srgbClr val="B7791F"/>
                </a:solidFill>
                <a:latin typeface="Calibri"/>
              </a:rPr>
              <a:t>Marketing consent for partner products</a:t>
            </a:r>
          </a:p>
        </p:txBody>
      </p:sp>
      <p:sp>
        <p:nvSpPr>
          <p:cNvPr id="53" name="Rectangle 52"/>
          <p:cNvSpPr/>
          <p:nvPr/>
        </p:nvSpPr>
        <p:spPr>
          <a:xfrm>
            <a:off x="3794759" y="6409943"/>
            <a:ext cx="548640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B7791F"/>
                </a:solidFill>
                <a:latin typeface="Calibri"/>
              </a:rPr>
              <a:t>CANDIDATE — partner co-branded products need data-sharing consent; touch only when 01–08 are complete</a:t>
            </a:r>
          </a:p>
        </p:txBody>
      </p:sp>
      <p:sp>
        <p:nvSpPr>
          <p:cNvPr id="54" name="Rectangle 53"/>
          <p:cNvSpPr/>
          <p:nvPr/>
        </p:nvSpPr>
        <p:spPr>
          <a:xfrm>
            <a:off x="9281160" y="6409943"/>
            <a:ext cx="2377440" cy="47548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Decision Detail (rule 6)</a:t>
            </a:r>
          </a:p>
        </p:txBody>
      </p:sp>
      <p:sp>
        <p:nvSpPr>
          <p:cNvPr id="55" name="TextBox 54"/>
          <p:cNvSpPr txBox="1"/>
          <p:nvPr/>
        </p:nvSpPr>
        <p:spPr>
          <a:xfrm>
            <a:off x="548640" y="7260336"/>
            <a:ext cx="11064240" cy="548640"/>
          </a:xfrm>
          <a:prstGeom prst="rect">
            <a:avLst/>
          </a:prstGeom>
          <a:noFill/>
        </p:spPr>
        <p:txBody>
          <a:bodyPr wrap="square" lIns="0" rIns="0" tIns="0" bIns="0">
            <a:spAutoFit/>
          </a:bodyPr>
          <a:lstStyle/>
          <a:p>
            <a:pPr algn="l">
              <a:lnSpc>
                <a:spcPct val="100000"/>
              </a:lnSpc>
            </a:pPr>
            <a:r>
              <a:rPr sz="1250" b="1" i="0">
                <a:solidFill>
                  <a:srgbClr val="2EA98D"/>
                </a:solidFill>
                <a:latin typeface="Calibri"/>
              </a:rPr>
              <a:t>For every use case your customer holds detailed acceptance criteria. Your job: elicit them, agree them, complete them — a use case without agreed acceptance criteria is not started, let alone done.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6304"/>
            <a:ext cx="9326880" cy="274320"/>
          </a:xfrm>
          <a:prstGeom prst="rect">
            <a:avLst/>
          </a:prstGeom>
          <a:noFill/>
        </p:spPr>
        <p:txBody>
          <a:bodyPr wrap="square" lIns="0" rIns="0" tIns="0" bIns="0">
            <a:spAutoFit/>
          </a:bodyPr>
          <a:lstStyle/>
          <a:p>
            <a:pPr algn="l">
              <a:lnSpc>
                <a:spcPct val="100000"/>
              </a:lnSpc>
            </a:pPr>
            <a:r>
              <a:rPr sz="1200" b="1" i="0">
                <a:solidFill>
                  <a:srgbClr val="94A9A1"/>
                </a:solidFill>
                <a:latin typeface="Calibri"/>
              </a:rPr>
              <a:t>MODULE 2</a:t>
            </a:r>
          </a:p>
        </p:txBody>
      </p:sp>
      <p:sp>
        <p:nvSpPr>
          <p:cNvPr id="4" name="TextBox 3"/>
          <p:cNvSpPr txBox="1"/>
          <p:nvPr/>
        </p:nvSpPr>
        <p:spPr>
          <a:xfrm>
            <a:off x="548640" y="402336"/>
            <a:ext cx="9326880" cy="548640"/>
          </a:xfrm>
          <a:prstGeom prst="rect">
            <a:avLst/>
          </a:prstGeom>
          <a:noFill/>
        </p:spPr>
        <p:txBody>
          <a:bodyPr wrap="square" lIns="0" rIns="0" tIns="0" bIns="0">
            <a:spAutoFit/>
          </a:bodyPr>
          <a:lstStyle/>
          <a:p>
            <a:pPr algn="l">
              <a:lnSpc>
                <a:spcPct val="100000"/>
              </a:lnSpc>
            </a:pPr>
            <a:r>
              <a:rPr sz="2800" b="1" i="0">
                <a:solidFill>
                  <a:srgbClr val="FFFFFF"/>
                </a:solidFill>
                <a:latin typeface="Calibri"/>
              </a:rPr>
              <a:t>Build order — what depends on what, and where to start</a:t>
            </a:r>
          </a:p>
        </p:txBody>
      </p:sp>
      <p:sp>
        <p:nvSpPr>
          <p:cNvPr id="5" name="Rectangle 4"/>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6" name="TextBox 5"/>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Student Brief — the graph is the law; the order is advice. Deviate knowingly.</a:t>
            </a:r>
          </a:p>
        </p:txBody>
      </p:sp>
      <p:pic>
        <p:nvPicPr>
          <p:cNvPr id="7" name="Picture 6" descr="uc-dependency.jpg"/>
          <p:cNvPicPr>
            <a:picLocks noChangeAspect="1"/>
          </p:cNvPicPr>
          <p:nvPr/>
        </p:nvPicPr>
        <p:blipFill>
          <a:blip r:embed="rId2"/>
          <a:stretch>
            <a:fillRect/>
          </a:stretch>
        </p:blipFill>
        <p:spPr>
          <a:xfrm>
            <a:off x="411480" y="1463040"/>
            <a:ext cx="6126480" cy="3117940"/>
          </a:xfrm>
          <a:prstGeom prst="rect">
            <a:avLst/>
          </a:prstGeom>
        </p:spPr>
      </p:pic>
      <p:sp>
        <p:nvSpPr>
          <p:cNvPr id="8" name="TextBox 7"/>
          <p:cNvSpPr txBox="1"/>
          <p:nvPr/>
        </p:nvSpPr>
        <p:spPr>
          <a:xfrm>
            <a:off x="6812280" y="1371600"/>
            <a:ext cx="45720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SUGGESTED SEQUENCE — AND WHY</a:t>
            </a:r>
          </a:p>
        </p:txBody>
      </p:sp>
      <p:sp>
        <p:nvSpPr>
          <p:cNvPr id="9" name="TextBox 8"/>
          <p:cNvSpPr txBox="1"/>
          <p:nvPr/>
        </p:nvSpPr>
        <p:spPr>
          <a:xfrm>
            <a:off x="6812280" y="1664208"/>
            <a:ext cx="4846320" cy="4663440"/>
          </a:xfrm>
          <a:prstGeom prst="rect">
            <a:avLst/>
          </a:prstGeom>
          <a:noFill/>
        </p:spPr>
        <p:txBody>
          <a:bodyPr wrap="square" lIns="0" rIns="0" tIns="0" bIns="0">
            <a:spAutoFit/>
          </a:bodyPr>
          <a:lstStyle/>
          <a:p>
            <a:pPr>
              <a:lnSpc>
                <a:spcPct val="102000"/>
              </a:lnSpc>
              <a:spcAft>
                <a:spcPts val="500"/>
              </a:spcAft>
            </a:pPr>
            <a:r>
              <a:rPr sz="950" b="1">
                <a:solidFill>
                  <a:srgbClr val="2EA98D"/>
                </a:solidFill>
                <a:latin typeface="Calibri"/>
              </a:rPr>
              <a:t>1  </a:t>
            </a:r>
            <a:r>
              <a:rPr sz="950" b="1">
                <a:solidFill>
                  <a:srgbClr val="22302B"/>
                </a:solidFill>
                <a:latin typeface="Calibri"/>
              </a:rPr>
              <a:t>UC 00 · Process Application</a:t>
            </a:r>
            <a:r>
              <a:rPr sz="950" b="0">
                <a:solidFill>
                  <a:srgbClr val="22302B"/>
                </a:solidFill>
                <a:latin typeface="Calibri"/>
              </a:rPr>
              <a:t> — the front door, first: 202 + one durable row keyed by applicationId (the template gives the endpoint; you make it durable and idempotent). Nothing else in this module exists without this row.</a:t>
            </a:r>
          </a:p>
          <a:p>
            <a:pPr>
              <a:lnSpc>
                <a:spcPct val="102000"/>
              </a:lnSpc>
              <a:spcAft>
                <a:spcPts val="500"/>
              </a:spcAft>
            </a:pPr>
            <a:r>
              <a:rPr sz="950" b="1">
                <a:solidFill>
                  <a:srgbClr val="2EA98D"/>
                </a:solidFill>
                <a:latin typeface="Calibri"/>
              </a:rPr>
              <a:t>2  </a:t>
            </a:r>
            <a:r>
              <a:rPr sz="950" b="1">
                <a:solidFill>
                  <a:srgbClr val="22302B"/>
                </a:solidFill>
                <a:latin typeface="Calibri"/>
              </a:rPr>
              <a:t>UC 07 · Edit Policy Config</a:t>
            </a:r>
            <a:r>
              <a:rPr sz="950" b="0">
                <a:solidFill>
                  <a:srgbClr val="22302B"/>
                </a:solidFill>
                <a:latin typeface="Calibri"/>
              </a:rPr>
              <a:t> — it all starts here: residencies, the restriction list and sampling-X are the engine's inputs. Verify the Day-0 seed and own the entity before anything decides.</a:t>
            </a:r>
          </a:p>
          <a:p>
            <a:pPr>
              <a:lnSpc>
                <a:spcPct val="102000"/>
              </a:lnSpc>
              <a:spcAft>
                <a:spcPts val="500"/>
              </a:spcAft>
            </a:pPr>
            <a:r>
              <a:rPr sz="950" b="1">
                <a:solidFill>
                  <a:srgbClr val="2EA98D"/>
                </a:solidFill>
                <a:latin typeface="Calibri"/>
              </a:rPr>
              <a:t>3  </a:t>
            </a:r>
            <a:r>
              <a:rPr sz="950" b="1">
                <a:solidFill>
                  <a:srgbClr val="22302B"/>
                </a:solidFill>
                <a:latin typeface="Calibri"/>
              </a:rPr>
              <a:t>UC 02 · Review Decision (the engine)</a:t>
            </a:r>
            <a:r>
              <a:rPr sz="950" b="0">
                <a:solidFill>
                  <a:srgbClr val="22302B"/>
                </a:solidFill>
                <a:latin typeface="Calibri"/>
              </a:rPr>
              <a:t> — three rules against the seeded config; the registry read goes through one interface (in-memory James Whitfield map until the orchestrator stub is up).</a:t>
            </a:r>
          </a:p>
          <a:p>
            <a:pPr>
              <a:lnSpc>
                <a:spcPct val="102000"/>
              </a:lnSpc>
              <a:spcAft>
                <a:spcPts val="500"/>
              </a:spcAft>
            </a:pPr>
            <a:r>
              <a:rPr sz="950" b="1">
                <a:solidFill>
                  <a:srgbClr val="2EA98D"/>
                </a:solidFill>
                <a:latin typeface="Calibri"/>
              </a:rPr>
              <a:t>4  </a:t>
            </a:r>
            <a:r>
              <a:rPr sz="950" b="1">
                <a:solidFill>
                  <a:srgbClr val="22302B"/>
                </a:solidFill>
                <a:latin typeface="Calibri"/>
              </a:rPr>
              <a:t>UC 01 · Search Cases</a:t>
            </a:r>
            <a:r>
              <a:rPr sz="950" b="0">
                <a:solidFill>
                  <a:srgbClr val="22302B"/>
                </a:solidFill>
                <a:latin typeface="Calibri"/>
              </a:rPr>
              <a:t> — the entry screen.</a:t>
            </a:r>
          </a:p>
          <a:p>
            <a:pPr>
              <a:lnSpc>
                <a:spcPct val="102000"/>
              </a:lnSpc>
              <a:spcAft>
                <a:spcPts val="500"/>
              </a:spcAft>
            </a:pPr>
            <a:r>
              <a:rPr sz="950" b="1">
                <a:solidFill>
                  <a:srgbClr val="2EA98D"/>
                </a:solidFill>
                <a:latin typeface="Calibri"/>
              </a:rPr>
              <a:t>5  </a:t>
            </a:r>
            <a:r>
              <a:rPr sz="950" b="1">
                <a:solidFill>
                  <a:srgbClr val="22302B"/>
                </a:solidFill>
                <a:latin typeface="Calibri"/>
              </a:rPr>
              <a:t>UC 04 · Referral Queue</a:t>
            </a:r>
            <a:r>
              <a:rPr sz="950" b="0">
                <a:solidFill>
                  <a:srgbClr val="22302B"/>
                </a:solidFill>
                <a:latin typeface="Calibri"/>
              </a:rPr>
              <a:t> — REFERRED and sampled cases need somewhere to land; workings stay visible.</a:t>
            </a:r>
          </a:p>
          <a:p>
            <a:pPr>
              <a:lnSpc>
                <a:spcPct val="102000"/>
              </a:lnSpc>
              <a:spcAft>
                <a:spcPts val="500"/>
              </a:spcAft>
            </a:pPr>
            <a:r>
              <a:rPr sz="950" b="1">
                <a:solidFill>
                  <a:srgbClr val="2EA98D"/>
                </a:solidFill>
                <a:latin typeface="Calibri"/>
              </a:rPr>
              <a:t>6  </a:t>
            </a:r>
            <a:r>
              <a:rPr sz="950" b="1">
                <a:solidFill>
                  <a:srgbClr val="22302B"/>
                </a:solidFill>
                <a:latin typeface="Calibri"/>
              </a:rPr>
              <a:t>UC 03 · View Applicant</a:t>
            </a:r>
            <a:r>
              <a:rPr sz="950" b="0">
                <a:solidFill>
                  <a:srgbClr val="22302B"/>
                </a:solidFill>
                <a:latin typeface="Calibri"/>
              </a:rPr>
              <a:t> — the proxy.</a:t>
            </a:r>
          </a:p>
          <a:p>
            <a:pPr>
              <a:lnSpc>
                <a:spcPct val="102000"/>
              </a:lnSpc>
              <a:spcAft>
                <a:spcPts val="500"/>
              </a:spcAft>
            </a:pPr>
            <a:r>
              <a:rPr sz="950" b="1">
                <a:solidFill>
                  <a:srgbClr val="2EA98D"/>
                </a:solidFill>
                <a:latin typeface="Calibri"/>
              </a:rPr>
              <a:t>7  </a:t>
            </a:r>
            <a:r>
              <a:rPr sz="950" b="1">
                <a:solidFill>
                  <a:srgbClr val="22302B"/>
                </a:solidFill>
                <a:latin typeface="Calibri"/>
              </a:rPr>
              <a:t>UC 06 · Override Case</a:t>
            </a:r>
            <a:r>
              <a:rPr sz="950" b="0">
                <a:solidFill>
                  <a:srgbClr val="22302B"/>
                </a:solidFill>
                <a:latin typeface="Calibri"/>
              </a:rPr>
              <a:t> — the write path + local-manual callback.</a:t>
            </a:r>
          </a:p>
          <a:p>
            <a:pPr>
              <a:lnSpc>
                <a:spcPct val="102000"/>
              </a:lnSpc>
              <a:spcAft>
                <a:spcPts val="500"/>
              </a:spcAft>
            </a:pPr>
            <a:r>
              <a:rPr sz="950" b="1">
                <a:solidFill>
                  <a:srgbClr val="2EA98D"/>
                </a:solidFill>
                <a:latin typeface="Calibri"/>
              </a:rPr>
              <a:t>8  </a:t>
            </a:r>
            <a:r>
              <a:rPr sz="950" b="1">
                <a:solidFill>
                  <a:srgbClr val="22302B"/>
                </a:solidFill>
                <a:latin typeface="Calibri"/>
              </a:rPr>
              <a:t>UC 05 · Rejection Patterns</a:t>
            </a:r>
            <a:r>
              <a:rPr sz="950" b="0">
                <a:solidFill>
                  <a:srgbClr val="22302B"/>
                </a:solidFill>
                <a:latin typeface="Calibri"/>
              </a:rPr>
              <a:t> — aggregate over rows you now have.</a:t>
            </a:r>
          </a:p>
          <a:p>
            <a:pPr>
              <a:lnSpc>
                <a:spcPct val="102000"/>
              </a:lnSpc>
              <a:spcAft>
                <a:spcPts val="500"/>
              </a:spcAft>
            </a:pPr>
            <a:r>
              <a:rPr sz="950" b="1">
                <a:solidFill>
                  <a:srgbClr val="2EA98D"/>
                </a:solidFill>
                <a:latin typeface="Calibri"/>
              </a:rPr>
              <a:t>9  </a:t>
            </a:r>
            <a:r>
              <a:rPr sz="950" b="1">
                <a:solidFill>
                  <a:srgbClr val="22302B"/>
                </a:solidFill>
                <a:latin typeface="Calibri"/>
              </a:rPr>
              <a:t>UC 08 · Config History</a:t>
            </a:r>
            <a:r>
              <a:rPr sz="950" b="0">
                <a:solidFill>
                  <a:srgbClr val="22302B"/>
                </a:solidFill>
                <a:latin typeface="Calibri"/>
              </a:rPr>
              <a:t> — the audit close-out.</a:t>
            </a:r>
          </a:p>
          <a:p>
            <a:pPr>
              <a:lnSpc>
                <a:spcPct val="102000"/>
              </a:lnSpc>
              <a:spcAft>
                <a:spcPts val="500"/>
              </a:spcAft>
            </a:pPr>
            <a:r>
              <a:rPr sz="950" b="1">
                <a:solidFill>
                  <a:srgbClr val="2EA98D"/>
                </a:solidFill>
                <a:latin typeface="Calibri"/>
              </a:rPr>
              <a:t>10  </a:t>
            </a:r>
            <a:r>
              <a:rPr sz="950" b="1">
                <a:solidFill>
                  <a:srgbClr val="22302B"/>
                </a:solidFill>
                <a:latin typeface="Calibri"/>
              </a:rPr>
              <a:t>UC 09/10 · Candidates</a:t>
            </a:r>
            <a:r>
              <a:rPr sz="950" b="0">
                <a:solidFill>
                  <a:srgbClr val="22302B"/>
                </a:solidFill>
                <a:latin typeface="Calibri"/>
              </a:rPr>
              <a:t> — tenure first (pure rule), consent second.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6304"/>
            <a:ext cx="9326880" cy="274320"/>
          </a:xfrm>
          <a:prstGeom prst="rect">
            <a:avLst/>
          </a:prstGeom>
          <a:noFill/>
        </p:spPr>
        <p:txBody>
          <a:bodyPr wrap="square" lIns="0" rIns="0" tIns="0" bIns="0">
            <a:spAutoFit/>
          </a:bodyPr>
          <a:lstStyle/>
          <a:p>
            <a:pPr algn="l">
              <a:lnSpc>
                <a:spcPct val="100000"/>
              </a:lnSpc>
            </a:pPr>
            <a:r>
              <a:rPr sz="1200" b="1" i="0">
                <a:solidFill>
                  <a:srgbClr val="94A9A1"/>
                </a:solidFill>
                <a:latin typeface="Calibri"/>
              </a:rPr>
              <a:t>MODULE 2</a:t>
            </a:r>
          </a:p>
        </p:txBody>
      </p:sp>
      <p:sp>
        <p:nvSpPr>
          <p:cNvPr id="4" name="TextBox 3"/>
          <p:cNvSpPr txBox="1"/>
          <p:nvPr/>
        </p:nvSpPr>
        <p:spPr>
          <a:xfrm>
            <a:off x="548640" y="402336"/>
            <a:ext cx="9326880" cy="548640"/>
          </a:xfrm>
          <a:prstGeom prst="rect">
            <a:avLst/>
          </a:prstGeom>
          <a:noFill/>
        </p:spPr>
        <p:txBody>
          <a:bodyPr wrap="square" lIns="0" rIns="0" tIns="0" bIns="0">
            <a:spAutoFit/>
          </a:bodyPr>
          <a:lstStyle/>
          <a:p>
            <a:pPr algn="l">
              <a:lnSpc>
                <a:spcPct val="100000"/>
              </a:lnSpc>
            </a:pPr>
            <a:r>
              <a:rPr sz="2800" b="1" i="0">
                <a:solidFill>
                  <a:srgbClr val="FFFFFF"/>
                </a:solidFill>
                <a:latin typeface="Calibri"/>
              </a:rPr>
              <a:t>Entity design comes first</a:t>
            </a:r>
          </a:p>
        </p:txBody>
      </p:sp>
      <p:sp>
        <p:nvSpPr>
          <p:cNvPr id="5" name="Rectangle 4"/>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6" name="TextBox 5"/>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Student Brief — agree the model on Day 0; the ER diagram is part of your documentation</a:t>
            </a:r>
          </a:p>
        </p:txBody>
      </p:sp>
      <p:sp>
        <p:nvSpPr>
          <p:cNvPr id="7" name="TextBox 6"/>
          <p:cNvSpPr txBox="1"/>
          <p:nvPr/>
        </p:nvSpPr>
        <p:spPr>
          <a:xfrm>
            <a:off x="548640" y="1371600"/>
            <a:ext cx="5120640" cy="4754880"/>
          </a:xfrm>
          <a:prstGeom prst="rect">
            <a:avLst/>
          </a:prstGeom>
          <a:noFill/>
        </p:spPr>
        <p:txBody>
          <a:bodyPr wrap="square" lIns="0" rIns="0" tIns="0" bIns="0">
            <a:spAutoFit/>
          </a:bodyPr>
          <a:lstStyle/>
          <a:p>
            <a:pPr algn="l">
              <a:lnSpc>
                <a:spcPct val="102000"/>
              </a:lnSpc>
              <a:spcAft>
                <a:spcPts val="800"/>
              </a:spcAft>
            </a:pPr>
            <a:r>
              <a:rPr sz="1150">
                <a:solidFill>
                  <a:srgbClr val="22302B"/>
                </a:solidFill>
                <a:latin typeface="Calibri"/>
              </a:rPr>
              <a:t>•  </a:t>
            </a:r>
            <a:r>
              <a:rPr sz="1150" b="1" i="0">
                <a:solidFill>
                  <a:srgbClr val="22302B"/>
                </a:solidFill>
                <a:latin typeface="Calibri"/>
              </a:rPr>
              <a:t>One of your very FIRST tasks is entity design.</a:t>
            </a:r>
            <a:r>
              <a:rPr sz="1150" b="0" i="0">
                <a:solidFill>
                  <a:srgbClr val="22302B"/>
                </a:solidFill>
                <a:latin typeface="Calibri"/>
              </a:rPr>
              <a:t> Agree the data model as a whole team before anyone writes code — the biggest problem teams have is starting with a model that is too complicated.</a:t>
            </a:r>
          </a:p>
          <a:p>
            <a:pPr algn="l">
              <a:lnSpc>
                <a:spcPct val="102000"/>
              </a:lnSpc>
              <a:spcAft>
                <a:spcPts val="800"/>
              </a:spcAft>
            </a:pPr>
            <a:r>
              <a:rPr sz="1150">
                <a:solidFill>
                  <a:srgbClr val="22302B"/>
                </a:solidFill>
                <a:latin typeface="Calibri"/>
              </a:rPr>
              <a:t>•  </a:t>
            </a:r>
            <a:r>
              <a:rPr sz="1150" b="1" i="0">
                <a:solidFill>
                  <a:srgbClr val="22302B"/>
                </a:solidFill>
                <a:latin typeface="Calibri"/>
              </a:rPr>
              <a:t>Suggested key entities:</a:t>
            </a:r>
            <a:r>
              <a:rPr sz="1150" b="0" i="0">
                <a:solidFill>
                  <a:srgbClr val="22302B"/>
                </a:solidFill>
                <a:latin typeface="Calibri"/>
              </a:rPr>
              <a:t> </a:t>
            </a:r>
            <a:r>
              <a:rPr sz="1150" b="1" i="0">
                <a:solidFill>
                  <a:srgbClr val="22302B"/>
                </a:solidFill>
                <a:latin typeface="Calibri"/>
              </a:rPr>
              <a:t>PolicyRecord</a:t>
            </a:r>
            <a:r>
              <a:rPr sz="1150" b="0" i="0">
                <a:solidFill>
                  <a:srgbClr val="22302B"/>
                </a:solidFill>
                <a:latin typeface="Calibri"/>
              </a:rPr>
              <a:t> — one row per applicationId (unique) · </a:t>
            </a:r>
            <a:r>
              <a:rPr sz="1150" b="1" i="0">
                <a:solidFill>
                  <a:srgbClr val="22302B"/>
                </a:solidFill>
                <a:latin typeface="Calibri"/>
              </a:rPr>
              <a:t>PolicyConfig</a:t>
            </a:r>
            <a:r>
              <a:rPr sz="1150" b="0" i="0">
                <a:solidFill>
                  <a:srgbClr val="22302B"/>
                </a:solidFill>
                <a:latin typeface="Calibri"/>
              </a:rPr>
              <a:t> — insert-only, versioned lists; the current version is the highest · </a:t>
            </a:r>
            <a:r>
              <a:rPr sz="1150" b="1" i="0">
                <a:solidFill>
                  <a:srgbClr val="22302B"/>
                </a:solidFill>
                <a:latin typeface="Calibri"/>
              </a:rPr>
              <a:t>OverrideLog</a:t>
            </a:r>
            <a:r>
              <a:rPr sz="1150" b="0" i="0">
                <a:solidFill>
                  <a:srgbClr val="22302B"/>
                </a:solidFill>
                <a:latin typeface="Calibri"/>
              </a:rPr>
              <a:t> — audit trail; one row per manual override, none ever deleted. A starting point, not a mandate — be ready to defend deviations to your customer.</a:t>
            </a:r>
          </a:p>
          <a:p>
            <a:pPr algn="l">
              <a:lnSpc>
                <a:spcPct val="102000"/>
              </a:lnSpc>
              <a:spcAft>
                <a:spcPts val="800"/>
              </a:spcAft>
            </a:pPr>
            <a:r>
              <a:rPr sz="1150">
                <a:solidFill>
                  <a:srgbClr val="22302B"/>
                </a:solidFill>
                <a:latin typeface="Calibri"/>
              </a:rPr>
              <a:t>•  </a:t>
            </a:r>
            <a:r>
              <a:rPr sz="1150" b="1" i="0">
                <a:solidFill>
                  <a:srgbClr val="22302B"/>
                </a:solidFill>
                <a:latin typeface="Calibri"/>
              </a:rPr>
              <a:t>Draw the ER diagram and keep it in your documentation</a:t>
            </a:r>
            <a:r>
              <a:rPr sz="1150" b="0" i="0">
                <a:solidFill>
                  <a:srgbClr val="22302B"/>
                </a:solidFill>
                <a:latin typeface="Calibri"/>
              </a:rPr>
              <a:t> (docs/) — updated in the same PR as any schema change. The suggestion on the right is the shape to beat.</a:t>
            </a:r>
          </a:p>
          <a:p>
            <a:pPr algn="l">
              <a:lnSpc>
                <a:spcPct val="102000"/>
              </a:lnSpc>
              <a:spcAft>
                <a:spcPts val="800"/>
              </a:spcAft>
            </a:pPr>
            <a:r>
              <a:rPr sz="1150">
                <a:solidFill>
                  <a:srgbClr val="22302B"/>
                </a:solidFill>
                <a:latin typeface="Calibri"/>
              </a:rPr>
              <a:t>•  </a:t>
            </a:r>
            <a:r>
              <a:rPr sz="1150" b="1" i="0">
                <a:solidFill>
                  <a:srgbClr val="22302B"/>
                </a:solidFill>
                <a:latin typeface="Calibri"/>
              </a:rPr>
              <a:t>Every incoming request from the orchestrator is persisted.</a:t>
            </a:r>
            <a:r>
              <a:rPr sz="1150" b="0" i="0">
                <a:solidFill>
                  <a:srgbClr val="22302B"/>
                </a:solidFill>
                <a:latin typeface="Calibri"/>
              </a:rPr>
              <a:t> Each /execute stores exactly ONE row, keyed by applicationId — and that id is the ONLY applicant data in your schema. The application payload itself is NEVER stored.</a:t>
            </a:r>
          </a:p>
        </p:txBody>
      </p:sp>
      <p:sp>
        <p:nvSpPr>
          <p:cNvPr id="8" name="TextBox 7"/>
          <p:cNvSpPr txBox="1"/>
          <p:nvPr/>
        </p:nvSpPr>
        <p:spPr>
          <a:xfrm>
            <a:off x="5943600" y="1325880"/>
            <a:ext cx="4572000" cy="228600"/>
          </a:xfrm>
          <a:prstGeom prst="rect">
            <a:avLst/>
          </a:prstGeom>
          <a:noFill/>
        </p:spPr>
        <p:txBody>
          <a:bodyPr wrap="square" lIns="0" rIns="0" tIns="0" bIns="0">
            <a:spAutoFit/>
          </a:bodyPr>
          <a:lstStyle/>
          <a:p>
            <a:pPr algn="l">
              <a:lnSpc>
                <a:spcPct val="100000"/>
              </a:lnSpc>
            </a:pPr>
            <a:r>
              <a:rPr sz="1150" b="1" i="0">
                <a:solidFill>
                  <a:srgbClr val="5E736B"/>
                </a:solidFill>
                <a:latin typeface="Calibri"/>
              </a:rPr>
              <a:t>SUGGESTED ER — STARTING POINT</a:t>
            </a:r>
          </a:p>
        </p:txBody>
      </p:sp>
      <p:pic>
        <p:nvPicPr>
          <p:cNvPr id="9" name="Picture 8" descr="er-suggested.jpg"/>
          <p:cNvPicPr>
            <a:picLocks noChangeAspect="1"/>
          </p:cNvPicPr>
          <p:nvPr/>
        </p:nvPicPr>
        <p:blipFill>
          <a:blip r:embed="rId2"/>
          <a:stretch>
            <a:fillRect/>
          </a:stretch>
        </p:blipFill>
        <p:spPr>
          <a:xfrm>
            <a:off x="5943600" y="1600200"/>
            <a:ext cx="5715000" cy="38047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6304"/>
            <a:ext cx="9326880" cy="274320"/>
          </a:xfrm>
          <a:prstGeom prst="rect">
            <a:avLst/>
          </a:prstGeom>
          <a:noFill/>
        </p:spPr>
        <p:txBody>
          <a:bodyPr wrap="square" lIns="0" rIns="0" tIns="0" bIns="0">
            <a:spAutoFit/>
          </a:bodyPr>
          <a:lstStyle/>
          <a:p>
            <a:pPr algn="l">
              <a:lnSpc>
                <a:spcPct val="100000"/>
              </a:lnSpc>
            </a:pPr>
            <a:r>
              <a:rPr sz="1200" b="1" i="0">
                <a:solidFill>
                  <a:srgbClr val="94A9A1"/>
                </a:solidFill>
                <a:latin typeface="Calibri"/>
              </a:rPr>
              <a:t>MODULE 2</a:t>
            </a:r>
          </a:p>
        </p:txBody>
      </p:sp>
      <p:sp>
        <p:nvSpPr>
          <p:cNvPr id="4" name="TextBox 3"/>
          <p:cNvSpPr txBox="1"/>
          <p:nvPr/>
        </p:nvSpPr>
        <p:spPr>
          <a:xfrm>
            <a:off x="548640" y="402336"/>
            <a:ext cx="9326880" cy="548640"/>
          </a:xfrm>
          <a:prstGeom prst="rect">
            <a:avLst/>
          </a:prstGeom>
          <a:noFill/>
        </p:spPr>
        <p:txBody>
          <a:bodyPr wrap="square" lIns="0" rIns="0" tIns="0" bIns="0">
            <a:spAutoFit/>
          </a:bodyPr>
          <a:lstStyle/>
          <a:p>
            <a:pPr algn="l">
              <a:lnSpc>
                <a:spcPct val="100000"/>
              </a:lnSpc>
            </a:pPr>
            <a:r>
              <a:rPr sz="2800" b="1" i="0">
                <a:solidFill>
                  <a:srgbClr val="FFFFFF"/>
                </a:solidFill>
                <a:latin typeface="Calibri"/>
              </a:rPr>
              <a:t>The shape of what you build</a:t>
            </a:r>
          </a:p>
        </p:txBody>
      </p:sp>
      <p:sp>
        <p:nvSpPr>
          <p:cNvPr id="5" name="Rectangle 4"/>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6" name="TextBox 5"/>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Student Brief — components and the calls between them; your names may differ, the shape should not</a:t>
            </a:r>
          </a:p>
        </p:txBody>
      </p:sp>
      <p:pic>
        <p:nvPicPr>
          <p:cNvPr id="7" name="Picture 6" descr="component.jpg"/>
          <p:cNvPicPr>
            <a:picLocks noChangeAspect="1"/>
          </p:cNvPicPr>
          <p:nvPr/>
        </p:nvPicPr>
        <p:blipFill>
          <a:blip r:embed="rId2"/>
          <a:stretch>
            <a:fillRect/>
          </a:stretch>
        </p:blipFill>
        <p:spPr>
          <a:xfrm>
            <a:off x="548640" y="1280160"/>
            <a:ext cx="11064240" cy="2258008"/>
          </a:xfrm>
          <a:prstGeom prst="rect">
            <a:avLst/>
          </a:prstGeom>
        </p:spPr>
      </p:pic>
      <p:sp>
        <p:nvSpPr>
          <p:cNvPr id="8" name="TextBox 7"/>
          <p:cNvSpPr txBox="1"/>
          <p:nvPr/>
        </p:nvSpPr>
        <p:spPr>
          <a:xfrm>
            <a:off x="731520" y="3949648"/>
            <a:ext cx="10698480" cy="777240"/>
          </a:xfrm>
          <a:prstGeom prst="rect">
            <a:avLst/>
          </a:prstGeom>
          <a:noFill/>
        </p:spPr>
        <p:txBody>
          <a:bodyPr wrap="square" lIns="0" rIns="0" tIns="0" bIns="0">
            <a:spAutoFit/>
          </a:bodyPr>
          <a:lstStyle/>
          <a:p>
            <a:pPr algn="l">
              <a:lnSpc>
                <a:spcPct val="100000"/>
              </a:lnSpc>
            </a:pPr>
            <a:r>
              <a:rPr sz="1200" b="0" i="0">
                <a:solidFill>
                  <a:srgbClr val="5E736B"/>
                </a:solidFill>
                <a:latin typeface="Calibri"/>
              </a:rPr>
              <a:t>Same uniform shape as module 1 plus ONE extra outbound read: the customer registry lives in the orchestrator, so the engine reaches out through a single client interface — in-memory stub in dev, real GET in integration. Kill it and cases park instead of guessing.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6304"/>
            <a:ext cx="9326880" cy="274320"/>
          </a:xfrm>
          <a:prstGeom prst="rect">
            <a:avLst/>
          </a:prstGeom>
          <a:noFill/>
        </p:spPr>
        <p:txBody>
          <a:bodyPr wrap="square" lIns="0" rIns="0" tIns="0" bIns="0">
            <a:spAutoFit/>
          </a:bodyPr>
          <a:lstStyle/>
          <a:p>
            <a:pPr algn="l">
              <a:lnSpc>
                <a:spcPct val="100000"/>
              </a:lnSpc>
            </a:pPr>
            <a:r>
              <a:rPr sz="1200" b="1" i="0">
                <a:solidFill>
                  <a:srgbClr val="94A9A1"/>
                </a:solidFill>
                <a:latin typeface="Calibri"/>
              </a:rPr>
              <a:t>MODULE 02</a:t>
            </a:r>
          </a:p>
        </p:txBody>
      </p:sp>
      <p:sp>
        <p:nvSpPr>
          <p:cNvPr id="4" name="TextBox 3"/>
          <p:cNvSpPr txBox="1"/>
          <p:nvPr/>
        </p:nvSpPr>
        <p:spPr>
          <a:xfrm>
            <a:off x="548640" y="402336"/>
            <a:ext cx="9326880" cy="548640"/>
          </a:xfrm>
          <a:prstGeom prst="rect">
            <a:avLst/>
          </a:prstGeom>
          <a:noFill/>
        </p:spPr>
        <p:txBody>
          <a:bodyPr wrap="square" lIns="0" rIns="0" tIns="0" bIns="0">
            <a:spAutoFit/>
          </a:bodyPr>
          <a:lstStyle/>
          <a:p>
            <a:pPr algn="l">
              <a:lnSpc>
                <a:spcPct val="100000"/>
              </a:lnSpc>
            </a:pPr>
            <a:r>
              <a:rPr sz="2800" b="1" i="0">
                <a:solidFill>
                  <a:srgbClr val="FFFFFF"/>
                </a:solidFill>
                <a:latin typeface="Calibri"/>
              </a:rPr>
              <a:t>Where you sit — in one picture</a:t>
            </a:r>
          </a:p>
        </p:txBody>
      </p:sp>
      <p:sp>
        <p:nvSpPr>
          <p:cNvPr id="5" name="Rectangle 4"/>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6" name="TextBox 5"/>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the orchestrator calls you · your rules decide · your config is versioned · your downstream is mocked</a:t>
            </a:r>
          </a:p>
        </p:txBody>
      </p:sp>
      <p:pic>
        <p:nvPicPr>
          <p:cNvPr id="7" name="Picture 6" descr="m02.png"/>
          <p:cNvPicPr>
            <a:picLocks noChangeAspect="1"/>
          </p:cNvPicPr>
          <p:nvPr/>
        </p:nvPicPr>
        <p:blipFill>
          <a:blip r:embed="rId2"/>
          <a:stretch>
            <a:fillRect/>
          </a:stretch>
        </p:blipFill>
        <p:spPr>
          <a:xfrm>
            <a:off x="640080" y="2240280"/>
            <a:ext cx="10881360" cy="2959651"/>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6304"/>
            <a:ext cx="9326880" cy="274320"/>
          </a:xfrm>
          <a:prstGeom prst="rect">
            <a:avLst/>
          </a:prstGeom>
          <a:noFill/>
        </p:spPr>
        <p:txBody>
          <a:bodyPr wrap="square" lIns="0" rIns="0" tIns="0" bIns="0">
            <a:spAutoFit/>
          </a:bodyPr>
          <a:lstStyle/>
          <a:p>
            <a:pPr algn="l">
              <a:lnSpc>
                <a:spcPct val="100000"/>
              </a:lnSpc>
            </a:pPr>
            <a:r>
              <a:rPr sz="1200" b="1" i="0">
                <a:solidFill>
                  <a:srgbClr val="94A9A1"/>
                </a:solidFill>
                <a:latin typeface="Calibri"/>
              </a:rPr>
              <a:t>MODULE 2</a:t>
            </a:r>
          </a:p>
        </p:txBody>
      </p:sp>
      <p:sp>
        <p:nvSpPr>
          <p:cNvPr id="4" name="TextBox 3"/>
          <p:cNvSpPr txBox="1"/>
          <p:nvPr/>
        </p:nvSpPr>
        <p:spPr>
          <a:xfrm>
            <a:off x="548640" y="402336"/>
            <a:ext cx="9326880" cy="548640"/>
          </a:xfrm>
          <a:prstGeom prst="rect">
            <a:avLst/>
          </a:prstGeom>
          <a:noFill/>
        </p:spPr>
        <p:txBody>
          <a:bodyPr wrap="square" lIns="0" rIns="0" tIns="0" bIns="0">
            <a:spAutoFit/>
          </a:bodyPr>
          <a:lstStyle/>
          <a:p>
            <a:pPr algn="l">
              <a:lnSpc>
                <a:spcPct val="100000"/>
              </a:lnSpc>
            </a:pPr>
            <a:r>
              <a:rPr sz="2800" b="1" i="0">
                <a:solidFill>
                  <a:srgbClr val="FFFFFF"/>
                </a:solidFill>
                <a:latin typeface="Calibri"/>
              </a:rPr>
              <a:t>How it is used — steps per use case (1/3)</a:t>
            </a:r>
          </a:p>
        </p:txBody>
      </p:sp>
      <p:sp>
        <p:nvSpPr>
          <p:cNvPr id="5" name="Rectangle 4"/>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6" name="TextBox 5"/>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Student Brief — your UI may look different, the JOB each screen does may not</a:t>
            </a:r>
          </a:p>
        </p:txBody>
      </p:sp>
      <p:pic>
        <p:nvPicPr>
          <p:cNvPr id="7" name="Picture 6" descr="m02-board.png"/>
          <p:cNvPicPr>
            <a:picLocks noChangeAspect="1"/>
          </p:cNvPicPr>
          <p:nvPr/>
        </p:nvPicPr>
        <p:blipFill>
          <a:blip r:embed="rId2"/>
          <a:stretch>
            <a:fillRect/>
          </a:stretch>
        </p:blipFill>
        <p:spPr>
          <a:xfrm>
            <a:off x="548640" y="1399032"/>
            <a:ext cx="2651760" cy="1665849"/>
          </a:xfrm>
          <a:prstGeom prst="rect">
            <a:avLst/>
          </a:prstGeom>
        </p:spPr>
      </p:pic>
      <p:sp>
        <p:nvSpPr>
          <p:cNvPr id="8" name="TextBox 7"/>
          <p:cNvSpPr txBox="1"/>
          <p:nvPr/>
        </p:nvSpPr>
        <p:spPr>
          <a:xfrm>
            <a:off x="3383280" y="1325880"/>
            <a:ext cx="2788920" cy="274320"/>
          </a:xfrm>
          <a:prstGeom prst="rect">
            <a:avLst/>
          </a:prstGeom>
          <a:noFill/>
        </p:spPr>
        <p:txBody>
          <a:bodyPr wrap="square" lIns="0" rIns="0" tIns="0" bIns="0">
            <a:spAutoFit/>
          </a:bodyPr>
          <a:lstStyle/>
          <a:p>
            <a:pPr algn="l">
              <a:lnSpc>
                <a:spcPct val="100000"/>
              </a:lnSpc>
            </a:pPr>
            <a:r>
              <a:rPr sz="1200" b="1" i="0">
                <a:solidFill>
                  <a:srgbClr val="2EA98D"/>
                </a:solidFill>
                <a:latin typeface="Calibri"/>
              </a:rPr>
              <a:t>UC 00 · Process Application</a:t>
            </a:r>
          </a:p>
        </p:txBody>
      </p:sp>
      <p:sp>
        <p:nvSpPr>
          <p:cNvPr id="9" name="TextBox 8"/>
          <p:cNvSpPr txBox="1"/>
          <p:nvPr/>
        </p:nvSpPr>
        <p:spPr>
          <a:xfrm>
            <a:off x="3383280" y="1636776"/>
            <a:ext cx="2788920" cy="1737360"/>
          </a:xfrm>
          <a:prstGeom prst="rect">
            <a:avLst/>
          </a:prstGeom>
          <a:noFill/>
        </p:spPr>
        <p:txBody>
          <a:bodyPr wrap="square" lIns="0" rIns="0" tIns="0" bIns="0">
            <a:spAutoFit/>
          </a:bodyPr>
          <a:lstStyle/>
          <a:p>
            <a:pPr algn="l">
              <a:lnSpc>
                <a:spcPct val="102000"/>
              </a:lnSpc>
              <a:spcAft>
                <a:spcPts val="400"/>
              </a:spcAft>
            </a:pPr>
            <a:r>
              <a:rPr sz="1050">
                <a:solidFill>
                  <a:srgbClr val="22302B"/>
                </a:solidFill>
                <a:latin typeface="Calibri"/>
              </a:rPr>
              <a:t>•  </a:t>
            </a:r>
            <a:r>
              <a:rPr sz="1050" b="1" i="0">
                <a:solidFill>
                  <a:srgbClr val="5E736B"/>
                </a:solidFill>
                <a:latin typeface="Calibri"/>
              </a:rPr>
              <a:t>1  </a:t>
            </a:r>
            <a:r>
              <a:rPr sz="1050" b="0" i="0">
                <a:solidFill>
                  <a:srgbClr val="22302B"/>
                </a:solidFill>
                <a:latin typeface="Calibri"/>
              </a:rPr>
              <a:t>No human involved — the orchestrator POSTs, the 202 goes back instantly</a:t>
            </a:r>
          </a:p>
          <a:p>
            <a:pPr algn="l">
              <a:lnSpc>
                <a:spcPct val="102000"/>
              </a:lnSpc>
              <a:spcAft>
                <a:spcPts val="400"/>
              </a:spcAft>
            </a:pPr>
            <a:r>
              <a:rPr sz="1050">
                <a:solidFill>
                  <a:srgbClr val="22302B"/>
                </a:solidFill>
                <a:latin typeface="Calibri"/>
              </a:rPr>
              <a:t>•  </a:t>
            </a:r>
            <a:r>
              <a:rPr sz="1050" b="1" i="0">
                <a:solidFill>
                  <a:srgbClr val="5E736B"/>
                </a:solidFill>
                <a:latin typeface="Calibri"/>
              </a:rPr>
              <a:t>2  </a:t>
            </a:r>
            <a:r>
              <a:rPr sz="1050" b="0" i="0">
                <a:solidFill>
                  <a:srgbClr val="22302B"/>
                </a:solidFill>
                <a:latin typeface="Calibri"/>
              </a:rPr>
              <a:t>The row exists before the ack; a crash after it loses nothing</a:t>
            </a:r>
          </a:p>
          <a:p>
            <a:pPr algn="l">
              <a:lnSpc>
                <a:spcPct val="102000"/>
              </a:lnSpc>
              <a:spcAft>
                <a:spcPts val="400"/>
              </a:spcAft>
            </a:pPr>
            <a:r>
              <a:rPr sz="1050">
                <a:solidFill>
                  <a:srgbClr val="22302B"/>
                </a:solidFill>
                <a:latin typeface="Calibri"/>
              </a:rPr>
              <a:t>•  </a:t>
            </a:r>
            <a:r>
              <a:rPr sz="1050" b="1" i="0">
                <a:solidFill>
                  <a:srgbClr val="5E736B"/>
                </a:solidFill>
                <a:latin typeface="Calibri"/>
              </a:rPr>
              <a:t>3  </a:t>
            </a:r>
            <a:r>
              <a:rPr sz="1050" b="0" i="0">
                <a:solidFill>
                  <a:srgbClr val="22302B"/>
                </a:solidFill>
                <a:latin typeface="Calibri"/>
              </a:rPr>
              <a:t>Search the id on the board: the case shows as in-progress until the engine decides</a:t>
            </a:r>
          </a:p>
        </p:txBody>
      </p:sp>
      <p:pic>
        <p:nvPicPr>
          <p:cNvPr id="10" name="Picture 9" descr="m02-board.png"/>
          <p:cNvPicPr>
            <a:picLocks noChangeAspect="1"/>
          </p:cNvPicPr>
          <p:nvPr/>
        </p:nvPicPr>
        <p:blipFill>
          <a:blip r:embed="rId2"/>
          <a:stretch>
            <a:fillRect/>
          </a:stretch>
        </p:blipFill>
        <p:spPr>
          <a:xfrm>
            <a:off x="6355079" y="1399032"/>
            <a:ext cx="2651760" cy="1665849"/>
          </a:xfrm>
          <a:prstGeom prst="rect">
            <a:avLst/>
          </a:prstGeom>
        </p:spPr>
      </p:pic>
      <p:sp>
        <p:nvSpPr>
          <p:cNvPr id="11" name="TextBox 10"/>
          <p:cNvSpPr txBox="1"/>
          <p:nvPr/>
        </p:nvSpPr>
        <p:spPr>
          <a:xfrm>
            <a:off x="9189719" y="1325880"/>
            <a:ext cx="2788920" cy="274320"/>
          </a:xfrm>
          <a:prstGeom prst="rect">
            <a:avLst/>
          </a:prstGeom>
          <a:noFill/>
        </p:spPr>
        <p:txBody>
          <a:bodyPr wrap="square" lIns="0" rIns="0" tIns="0" bIns="0">
            <a:spAutoFit/>
          </a:bodyPr>
          <a:lstStyle/>
          <a:p>
            <a:pPr algn="l">
              <a:lnSpc>
                <a:spcPct val="100000"/>
              </a:lnSpc>
            </a:pPr>
            <a:r>
              <a:rPr sz="1200" b="1" i="0">
                <a:solidFill>
                  <a:srgbClr val="2EA98D"/>
                </a:solidFill>
                <a:latin typeface="Calibri"/>
              </a:rPr>
              <a:t>UC 01 · Search Cases</a:t>
            </a:r>
          </a:p>
        </p:txBody>
      </p:sp>
      <p:sp>
        <p:nvSpPr>
          <p:cNvPr id="12" name="TextBox 11"/>
          <p:cNvSpPr txBox="1"/>
          <p:nvPr/>
        </p:nvSpPr>
        <p:spPr>
          <a:xfrm>
            <a:off x="9189719" y="1636776"/>
            <a:ext cx="2788920" cy="1737360"/>
          </a:xfrm>
          <a:prstGeom prst="rect">
            <a:avLst/>
          </a:prstGeom>
          <a:noFill/>
        </p:spPr>
        <p:txBody>
          <a:bodyPr wrap="square" lIns="0" rIns="0" tIns="0" bIns="0">
            <a:spAutoFit/>
          </a:bodyPr>
          <a:lstStyle/>
          <a:p>
            <a:pPr algn="l">
              <a:lnSpc>
                <a:spcPct val="102000"/>
              </a:lnSpc>
              <a:spcAft>
                <a:spcPts val="400"/>
              </a:spcAft>
            </a:pPr>
            <a:r>
              <a:rPr sz="1050">
                <a:solidFill>
                  <a:srgbClr val="22302B"/>
                </a:solidFill>
                <a:latin typeface="Calibri"/>
              </a:rPr>
              <a:t>•  </a:t>
            </a:r>
            <a:r>
              <a:rPr sz="1050" b="1" i="0">
                <a:solidFill>
                  <a:srgbClr val="5E736B"/>
                </a:solidFill>
                <a:latin typeface="Calibri"/>
              </a:rPr>
              <a:t>1  </a:t>
            </a:r>
            <a:r>
              <a:rPr sz="1050" b="0" i="0">
                <a:solidFill>
                  <a:srgbClr val="22302B"/>
                </a:solidFill>
                <a:latin typeface="Calibri"/>
              </a:rPr>
              <a:t>Type a name or application id — the board is empty until you do</a:t>
            </a:r>
          </a:p>
          <a:p>
            <a:pPr algn="l">
              <a:lnSpc>
                <a:spcPct val="102000"/>
              </a:lnSpc>
              <a:spcAft>
                <a:spcPts val="400"/>
              </a:spcAft>
            </a:pPr>
            <a:r>
              <a:rPr sz="1050">
                <a:solidFill>
                  <a:srgbClr val="22302B"/>
                </a:solidFill>
                <a:latin typeface="Calibri"/>
              </a:rPr>
              <a:t>•  </a:t>
            </a:r>
            <a:r>
              <a:rPr sz="1050" b="1" i="0">
                <a:solidFill>
                  <a:srgbClr val="5E736B"/>
                </a:solidFill>
                <a:latin typeface="Calibri"/>
              </a:rPr>
              <a:t>2  </a:t>
            </a:r>
            <a:r>
              <a:rPr sz="1050" b="0" i="0">
                <a:solidFill>
                  <a:srgbClr val="22302B"/>
                </a:solidFill>
                <a:latin typeface="Calibri"/>
              </a:rPr>
              <a:t>At most 10 rows appear, newest first; refine if flagged "more"</a:t>
            </a:r>
          </a:p>
          <a:p>
            <a:pPr algn="l">
              <a:lnSpc>
                <a:spcPct val="102000"/>
              </a:lnSpc>
              <a:spcAft>
                <a:spcPts val="400"/>
              </a:spcAft>
            </a:pPr>
            <a:r>
              <a:rPr sz="1050">
                <a:solidFill>
                  <a:srgbClr val="22302B"/>
                </a:solidFill>
                <a:latin typeface="Calibri"/>
              </a:rPr>
              <a:t>•  </a:t>
            </a:r>
            <a:r>
              <a:rPr sz="1050" b="1" i="0">
                <a:solidFill>
                  <a:srgbClr val="5E736B"/>
                </a:solidFill>
                <a:latin typeface="Calibri"/>
              </a:rPr>
              <a:t>3  </a:t>
            </a:r>
            <a:r>
              <a:rPr sz="1050" b="0" i="0">
                <a:solidFill>
                  <a:srgbClr val="22302B"/>
                </a:solidFill>
                <a:latin typeface="Calibri"/>
              </a:rPr>
              <a:t>Click a row → Decision Detail</a:t>
            </a:r>
          </a:p>
        </p:txBody>
      </p:sp>
      <p:pic>
        <p:nvPicPr>
          <p:cNvPr id="13" name="Picture 12" descr="m02-case.png"/>
          <p:cNvPicPr>
            <a:picLocks noChangeAspect="1"/>
          </p:cNvPicPr>
          <p:nvPr/>
        </p:nvPicPr>
        <p:blipFill>
          <a:blip r:embed="rId3"/>
          <a:stretch>
            <a:fillRect/>
          </a:stretch>
        </p:blipFill>
        <p:spPr>
          <a:xfrm>
            <a:off x="548640" y="3913632"/>
            <a:ext cx="2651760" cy="1665849"/>
          </a:xfrm>
          <a:prstGeom prst="rect">
            <a:avLst/>
          </a:prstGeom>
        </p:spPr>
      </p:pic>
      <p:sp>
        <p:nvSpPr>
          <p:cNvPr id="14" name="TextBox 13"/>
          <p:cNvSpPr txBox="1"/>
          <p:nvPr/>
        </p:nvSpPr>
        <p:spPr>
          <a:xfrm>
            <a:off x="3383280" y="3840480"/>
            <a:ext cx="2788920" cy="274320"/>
          </a:xfrm>
          <a:prstGeom prst="rect">
            <a:avLst/>
          </a:prstGeom>
          <a:noFill/>
        </p:spPr>
        <p:txBody>
          <a:bodyPr wrap="square" lIns="0" rIns="0" tIns="0" bIns="0">
            <a:spAutoFit/>
          </a:bodyPr>
          <a:lstStyle/>
          <a:p>
            <a:pPr algn="l">
              <a:lnSpc>
                <a:spcPct val="100000"/>
              </a:lnSpc>
            </a:pPr>
            <a:r>
              <a:rPr sz="1200" b="1" i="0">
                <a:solidFill>
                  <a:srgbClr val="2EA98D"/>
                </a:solidFill>
                <a:latin typeface="Calibri"/>
              </a:rPr>
              <a:t>UC 02 · Review Decision</a:t>
            </a:r>
          </a:p>
        </p:txBody>
      </p:sp>
      <p:sp>
        <p:nvSpPr>
          <p:cNvPr id="15" name="TextBox 14"/>
          <p:cNvSpPr txBox="1"/>
          <p:nvPr/>
        </p:nvSpPr>
        <p:spPr>
          <a:xfrm>
            <a:off x="3383280" y="4151376"/>
            <a:ext cx="2788920" cy="1737360"/>
          </a:xfrm>
          <a:prstGeom prst="rect">
            <a:avLst/>
          </a:prstGeom>
          <a:noFill/>
        </p:spPr>
        <p:txBody>
          <a:bodyPr wrap="square" lIns="0" rIns="0" tIns="0" bIns="0">
            <a:spAutoFit/>
          </a:bodyPr>
          <a:lstStyle/>
          <a:p>
            <a:pPr algn="l">
              <a:lnSpc>
                <a:spcPct val="102000"/>
              </a:lnSpc>
              <a:spcAft>
                <a:spcPts val="400"/>
              </a:spcAft>
            </a:pPr>
            <a:r>
              <a:rPr sz="1050">
                <a:solidFill>
                  <a:srgbClr val="22302B"/>
                </a:solidFill>
                <a:latin typeface="Calibri"/>
              </a:rPr>
              <a:t>•  </a:t>
            </a:r>
            <a:r>
              <a:rPr sz="1050" b="1" i="0">
                <a:solidFill>
                  <a:srgbClr val="5E736B"/>
                </a:solidFill>
                <a:latin typeface="Calibri"/>
              </a:rPr>
              <a:t>1  </a:t>
            </a:r>
            <a:r>
              <a:rPr sz="1050" b="0" i="0">
                <a:solidFill>
                  <a:srgbClr val="22302B"/>
                </a:solidFill>
                <a:latin typeface="Calibri"/>
              </a:rPr>
              <a:t>Open a case from the board</a:t>
            </a:r>
          </a:p>
          <a:p>
            <a:pPr algn="l">
              <a:lnSpc>
                <a:spcPct val="102000"/>
              </a:lnSpc>
              <a:spcAft>
                <a:spcPts val="400"/>
              </a:spcAft>
            </a:pPr>
            <a:r>
              <a:rPr sz="1050">
                <a:solidFill>
                  <a:srgbClr val="22302B"/>
                </a:solidFill>
                <a:latin typeface="Calibri"/>
              </a:rPr>
              <a:t>•  </a:t>
            </a:r>
            <a:r>
              <a:rPr sz="1050" b="1" i="0">
                <a:solidFill>
                  <a:srgbClr val="5E736B"/>
                </a:solidFill>
                <a:latin typeface="Calibri"/>
              </a:rPr>
              <a:t>2  </a:t>
            </a:r>
            <a:r>
              <a:rPr sz="1050" b="0" i="0">
                <a:solidFill>
                  <a:srgbClr val="22302B"/>
                </a:solidFill>
                <a:latin typeface="Calibri"/>
              </a:rPr>
              <a:t>Read the outcome badge + one card per rule — sampled cases show the machine's own answer too</a:t>
            </a:r>
          </a:p>
          <a:p>
            <a:pPr algn="l">
              <a:lnSpc>
                <a:spcPct val="102000"/>
              </a:lnSpc>
              <a:spcAft>
                <a:spcPts val="400"/>
              </a:spcAft>
            </a:pPr>
            <a:r>
              <a:rPr sz="1050">
                <a:solidFill>
                  <a:srgbClr val="22302B"/>
                </a:solidFill>
                <a:latin typeface="Calibri"/>
              </a:rPr>
              <a:t>•  </a:t>
            </a:r>
            <a:r>
              <a:rPr sz="1050" b="1" i="0">
                <a:solidFill>
                  <a:srgbClr val="5E736B"/>
                </a:solidFill>
                <a:latin typeface="Calibri"/>
              </a:rPr>
              <a:t>3  </a:t>
            </a:r>
            <a:r>
              <a:rPr sz="1050" b="0" i="0">
                <a:solidFill>
                  <a:srgbClr val="22302B"/>
                </a:solidFill>
                <a:latin typeface="Calibri"/>
              </a:rPr>
              <a:t>Every reason is on screen — never just the first</a:t>
            </a:r>
          </a:p>
        </p:txBody>
      </p:sp>
      <p:pic>
        <p:nvPicPr>
          <p:cNvPr id="16" name="Picture 15" descr="m02-case.png"/>
          <p:cNvPicPr>
            <a:picLocks noChangeAspect="1"/>
          </p:cNvPicPr>
          <p:nvPr/>
        </p:nvPicPr>
        <p:blipFill>
          <a:blip r:embed="rId3"/>
          <a:stretch>
            <a:fillRect/>
          </a:stretch>
        </p:blipFill>
        <p:spPr>
          <a:xfrm>
            <a:off x="6355079" y="3913632"/>
            <a:ext cx="2651760" cy="1665849"/>
          </a:xfrm>
          <a:prstGeom prst="rect">
            <a:avLst/>
          </a:prstGeom>
        </p:spPr>
      </p:pic>
      <p:sp>
        <p:nvSpPr>
          <p:cNvPr id="17" name="TextBox 16"/>
          <p:cNvSpPr txBox="1"/>
          <p:nvPr/>
        </p:nvSpPr>
        <p:spPr>
          <a:xfrm>
            <a:off x="9189719" y="3840480"/>
            <a:ext cx="2788920" cy="274320"/>
          </a:xfrm>
          <a:prstGeom prst="rect">
            <a:avLst/>
          </a:prstGeom>
          <a:noFill/>
        </p:spPr>
        <p:txBody>
          <a:bodyPr wrap="square" lIns="0" rIns="0" tIns="0" bIns="0">
            <a:spAutoFit/>
          </a:bodyPr>
          <a:lstStyle/>
          <a:p>
            <a:pPr algn="l">
              <a:lnSpc>
                <a:spcPct val="100000"/>
              </a:lnSpc>
            </a:pPr>
            <a:r>
              <a:rPr sz="1200" b="1" i="0">
                <a:solidFill>
                  <a:srgbClr val="2EA98D"/>
                </a:solidFill>
                <a:latin typeface="Calibri"/>
              </a:rPr>
              <a:t>UC 03 · View Applicant</a:t>
            </a:r>
          </a:p>
        </p:txBody>
      </p:sp>
      <p:sp>
        <p:nvSpPr>
          <p:cNvPr id="18" name="TextBox 17"/>
          <p:cNvSpPr txBox="1"/>
          <p:nvPr/>
        </p:nvSpPr>
        <p:spPr>
          <a:xfrm>
            <a:off x="9189719" y="4151376"/>
            <a:ext cx="2788920" cy="1737360"/>
          </a:xfrm>
          <a:prstGeom prst="rect">
            <a:avLst/>
          </a:prstGeom>
          <a:noFill/>
        </p:spPr>
        <p:txBody>
          <a:bodyPr wrap="square" lIns="0" rIns="0" tIns="0" bIns="0">
            <a:spAutoFit/>
          </a:bodyPr>
          <a:lstStyle/>
          <a:p>
            <a:pPr algn="l">
              <a:lnSpc>
                <a:spcPct val="102000"/>
              </a:lnSpc>
              <a:spcAft>
                <a:spcPts val="400"/>
              </a:spcAft>
            </a:pPr>
            <a:r>
              <a:rPr sz="1050">
                <a:solidFill>
                  <a:srgbClr val="22302B"/>
                </a:solidFill>
                <a:latin typeface="Calibri"/>
              </a:rPr>
              <a:t>•  </a:t>
            </a:r>
            <a:r>
              <a:rPr sz="1050" b="1" i="0">
                <a:solidFill>
                  <a:srgbClr val="5E736B"/>
                </a:solidFill>
                <a:latin typeface="Calibri"/>
              </a:rPr>
              <a:t>1  </a:t>
            </a:r>
            <a:r>
              <a:rPr sz="1050" b="0" i="0">
                <a:solidFill>
                  <a:srgbClr val="22302B"/>
                </a:solidFill>
                <a:latin typeface="Calibri"/>
              </a:rPr>
              <a:t>Open any case — the sidebar loads the applicant live</a:t>
            </a:r>
          </a:p>
          <a:p>
            <a:pPr algn="l">
              <a:lnSpc>
                <a:spcPct val="102000"/>
              </a:lnSpc>
              <a:spcAft>
                <a:spcPts val="400"/>
              </a:spcAft>
            </a:pPr>
            <a:r>
              <a:rPr sz="1050">
                <a:solidFill>
                  <a:srgbClr val="22302B"/>
                </a:solidFill>
                <a:latin typeface="Calibri"/>
              </a:rPr>
              <a:t>•  </a:t>
            </a:r>
            <a:r>
              <a:rPr sz="1050" b="1" i="0">
                <a:solidFill>
                  <a:srgbClr val="5E736B"/>
                </a:solidFill>
                <a:latin typeface="Calibri"/>
              </a:rPr>
              <a:t>2  </a:t>
            </a:r>
            <a:r>
              <a:rPr sz="1050" b="0" i="0">
                <a:solidFill>
                  <a:srgbClr val="22302B"/>
                </a:solidFill>
                <a:latin typeface="Calibri"/>
              </a:rPr>
              <a:t>Orchestrator down? The case still renders; the sidebar degrades</a:t>
            </a:r>
          </a:p>
          <a:p>
            <a:pPr algn="l">
              <a:lnSpc>
                <a:spcPct val="102000"/>
              </a:lnSpc>
              <a:spcAft>
                <a:spcPts val="400"/>
              </a:spcAft>
            </a:pPr>
            <a:r>
              <a:rPr sz="1050">
                <a:solidFill>
                  <a:srgbClr val="22302B"/>
                </a:solidFill>
                <a:latin typeface="Calibri"/>
              </a:rPr>
              <a:t>•  </a:t>
            </a:r>
            <a:r>
              <a:rPr sz="1050" b="1" i="0">
                <a:solidFill>
                  <a:srgbClr val="5E736B"/>
                </a:solidFill>
                <a:latin typeface="Calibri"/>
              </a:rPr>
              <a:t>3  </a:t>
            </a:r>
            <a:r>
              <a:rPr sz="1050" b="0" i="0">
                <a:solidFill>
                  <a:srgbClr val="22302B"/>
                </a:solidFill>
                <a:latin typeface="Calibri"/>
              </a:rPr>
              <a:t>Nothing applicant-related is ever stored locally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6304"/>
            <a:ext cx="9326880" cy="274320"/>
          </a:xfrm>
          <a:prstGeom prst="rect">
            <a:avLst/>
          </a:prstGeom>
          <a:noFill/>
        </p:spPr>
        <p:txBody>
          <a:bodyPr wrap="square" lIns="0" rIns="0" tIns="0" bIns="0">
            <a:spAutoFit/>
          </a:bodyPr>
          <a:lstStyle/>
          <a:p>
            <a:pPr algn="l">
              <a:lnSpc>
                <a:spcPct val="100000"/>
              </a:lnSpc>
            </a:pPr>
            <a:r>
              <a:rPr sz="1200" b="1" i="0">
                <a:solidFill>
                  <a:srgbClr val="94A9A1"/>
                </a:solidFill>
                <a:latin typeface="Calibri"/>
              </a:rPr>
              <a:t>MODULE 2</a:t>
            </a:r>
          </a:p>
        </p:txBody>
      </p:sp>
      <p:sp>
        <p:nvSpPr>
          <p:cNvPr id="4" name="TextBox 3"/>
          <p:cNvSpPr txBox="1"/>
          <p:nvPr/>
        </p:nvSpPr>
        <p:spPr>
          <a:xfrm>
            <a:off x="548640" y="402336"/>
            <a:ext cx="9326880" cy="548640"/>
          </a:xfrm>
          <a:prstGeom prst="rect">
            <a:avLst/>
          </a:prstGeom>
          <a:noFill/>
        </p:spPr>
        <p:txBody>
          <a:bodyPr wrap="square" lIns="0" rIns="0" tIns="0" bIns="0">
            <a:spAutoFit/>
          </a:bodyPr>
          <a:lstStyle/>
          <a:p>
            <a:pPr algn="l">
              <a:lnSpc>
                <a:spcPct val="100000"/>
              </a:lnSpc>
            </a:pPr>
            <a:r>
              <a:rPr sz="2800" b="1" i="0">
                <a:solidFill>
                  <a:srgbClr val="FFFFFF"/>
                </a:solidFill>
                <a:latin typeface="Calibri"/>
              </a:rPr>
              <a:t>How it is used — steps per use case (2/3)</a:t>
            </a:r>
          </a:p>
        </p:txBody>
      </p:sp>
      <p:sp>
        <p:nvSpPr>
          <p:cNvPr id="5" name="Rectangle 4"/>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6" name="TextBox 5"/>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Student Brief — your UI may look different, the JOB each screen does may not</a:t>
            </a:r>
          </a:p>
        </p:txBody>
      </p:sp>
      <p:pic>
        <p:nvPicPr>
          <p:cNvPr id="7" name="Picture 6" descr="m02-queue.png"/>
          <p:cNvPicPr>
            <a:picLocks noChangeAspect="1"/>
          </p:cNvPicPr>
          <p:nvPr/>
        </p:nvPicPr>
        <p:blipFill>
          <a:blip r:embed="rId2"/>
          <a:stretch>
            <a:fillRect/>
          </a:stretch>
        </p:blipFill>
        <p:spPr>
          <a:xfrm>
            <a:off x="548640" y="1399032"/>
            <a:ext cx="2651760" cy="1665849"/>
          </a:xfrm>
          <a:prstGeom prst="rect">
            <a:avLst/>
          </a:prstGeom>
        </p:spPr>
      </p:pic>
      <p:sp>
        <p:nvSpPr>
          <p:cNvPr id="8" name="TextBox 7"/>
          <p:cNvSpPr txBox="1"/>
          <p:nvPr/>
        </p:nvSpPr>
        <p:spPr>
          <a:xfrm>
            <a:off x="3383280" y="1325880"/>
            <a:ext cx="2788920" cy="274320"/>
          </a:xfrm>
          <a:prstGeom prst="rect">
            <a:avLst/>
          </a:prstGeom>
          <a:noFill/>
        </p:spPr>
        <p:txBody>
          <a:bodyPr wrap="square" lIns="0" rIns="0" tIns="0" bIns="0">
            <a:spAutoFit/>
          </a:bodyPr>
          <a:lstStyle/>
          <a:p>
            <a:pPr algn="l">
              <a:lnSpc>
                <a:spcPct val="100000"/>
              </a:lnSpc>
            </a:pPr>
            <a:r>
              <a:rPr sz="1200" b="1" i="0">
                <a:solidFill>
                  <a:srgbClr val="2EA98D"/>
                </a:solidFill>
                <a:latin typeface="Calibri"/>
              </a:rPr>
              <a:t>UC 04 · Work Referral Queue</a:t>
            </a:r>
          </a:p>
        </p:txBody>
      </p:sp>
      <p:sp>
        <p:nvSpPr>
          <p:cNvPr id="9" name="TextBox 8"/>
          <p:cNvSpPr txBox="1"/>
          <p:nvPr/>
        </p:nvSpPr>
        <p:spPr>
          <a:xfrm>
            <a:off x="3383280" y="1636776"/>
            <a:ext cx="2788920" cy="1737360"/>
          </a:xfrm>
          <a:prstGeom prst="rect">
            <a:avLst/>
          </a:prstGeom>
          <a:noFill/>
        </p:spPr>
        <p:txBody>
          <a:bodyPr wrap="square" lIns="0" rIns="0" tIns="0" bIns="0">
            <a:spAutoFit/>
          </a:bodyPr>
          <a:lstStyle/>
          <a:p>
            <a:pPr algn="l">
              <a:lnSpc>
                <a:spcPct val="102000"/>
              </a:lnSpc>
              <a:spcAft>
                <a:spcPts val="400"/>
              </a:spcAft>
            </a:pPr>
            <a:r>
              <a:rPr sz="1050">
                <a:solidFill>
                  <a:srgbClr val="22302B"/>
                </a:solidFill>
                <a:latin typeface="Calibri"/>
              </a:rPr>
              <a:t>•  </a:t>
            </a:r>
            <a:r>
              <a:rPr sz="1050" b="1" i="0">
                <a:solidFill>
                  <a:srgbClr val="5E736B"/>
                </a:solidFill>
                <a:latin typeface="Calibri"/>
              </a:rPr>
              <a:t>1  </a:t>
            </a:r>
            <a:r>
              <a:rPr sz="1050" b="0" i="0">
                <a:solidFill>
                  <a:srgbClr val="22302B"/>
                </a:solidFill>
                <a:latin typeface="Calibri"/>
              </a:rPr>
              <a:t>Open the queue — oldest referred case first, claim it</a:t>
            </a:r>
          </a:p>
          <a:p>
            <a:pPr algn="l">
              <a:lnSpc>
                <a:spcPct val="102000"/>
              </a:lnSpc>
              <a:spcAft>
                <a:spcPts val="400"/>
              </a:spcAft>
            </a:pPr>
            <a:r>
              <a:rPr sz="1050">
                <a:solidFill>
                  <a:srgbClr val="22302B"/>
                </a:solidFill>
                <a:latin typeface="Calibri"/>
              </a:rPr>
              <a:t>•  </a:t>
            </a:r>
            <a:r>
              <a:rPr sz="1050" b="1" i="0">
                <a:solidFill>
                  <a:srgbClr val="5E736B"/>
                </a:solidFill>
                <a:latin typeface="Calibri"/>
              </a:rPr>
              <a:t>2  </a:t>
            </a:r>
            <a:r>
              <a:rPr sz="1050" b="0" i="0">
                <a:solidFill>
                  <a:srgbClr val="22302B"/>
                </a:solidFill>
                <a:latin typeface="Calibri"/>
              </a:rPr>
              <a:t>Read the machine's workings — they are always on screen</a:t>
            </a:r>
          </a:p>
          <a:p>
            <a:pPr algn="l">
              <a:lnSpc>
                <a:spcPct val="102000"/>
              </a:lnSpc>
              <a:spcAft>
                <a:spcPts val="400"/>
              </a:spcAft>
            </a:pPr>
            <a:r>
              <a:rPr sz="1050">
                <a:solidFill>
                  <a:srgbClr val="22302B"/>
                </a:solidFill>
                <a:latin typeface="Calibri"/>
              </a:rPr>
              <a:t>•  </a:t>
            </a:r>
            <a:r>
              <a:rPr sz="1050" b="1" i="0">
                <a:solidFill>
                  <a:srgbClr val="5E736B"/>
                </a:solidFill>
                <a:latin typeface="Calibri"/>
              </a:rPr>
              <a:t>3  </a:t>
            </a:r>
            <a:r>
              <a:rPr sz="1050" b="0" i="0">
                <a:solidFill>
                  <a:srgbClr val="22302B"/>
                </a:solidFill>
                <a:latin typeface="Calibri"/>
              </a:rPr>
              <a:t>Decide with a reason — the journey resumes, the trace is permanent</a:t>
            </a:r>
          </a:p>
        </p:txBody>
      </p:sp>
      <p:pic>
        <p:nvPicPr>
          <p:cNvPr id="10" name="Picture 9" descr="m02-patterns.png"/>
          <p:cNvPicPr>
            <a:picLocks noChangeAspect="1"/>
          </p:cNvPicPr>
          <p:nvPr/>
        </p:nvPicPr>
        <p:blipFill>
          <a:blip r:embed="rId3"/>
          <a:stretch>
            <a:fillRect/>
          </a:stretch>
        </p:blipFill>
        <p:spPr>
          <a:xfrm>
            <a:off x="6355079" y="1399032"/>
            <a:ext cx="2651760" cy="1665849"/>
          </a:xfrm>
          <a:prstGeom prst="rect">
            <a:avLst/>
          </a:prstGeom>
        </p:spPr>
      </p:pic>
      <p:sp>
        <p:nvSpPr>
          <p:cNvPr id="11" name="TextBox 10"/>
          <p:cNvSpPr txBox="1"/>
          <p:nvPr/>
        </p:nvSpPr>
        <p:spPr>
          <a:xfrm>
            <a:off x="9189719" y="1325880"/>
            <a:ext cx="2788920" cy="274320"/>
          </a:xfrm>
          <a:prstGeom prst="rect">
            <a:avLst/>
          </a:prstGeom>
          <a:noFill/>
        </p:spPr>
        <p:txBody>
          <a:bodyPr wrap="square" lIns="0" rIns="0" tIns="0" bIns="0">
            <a:spAutoFit/>
          </a:bodyPr>
          <a:lstStyle/>
          <a:p>
            <a:pPr algn="l">
              <a:lnSpc>
                <a:spcPct val="100000"/>
              </a:lnSpc>
            </a:pPr>
            <a:r>
              <a:rPr sz="1200" b="1" i="0">
                <a:solidFill>
                  <a:srgbClr val="2EA98D"/>
                </a:solidFill>
                <a:latin typeface="Calibri"/>
              </a:rPr>
              <a:t>UC 05 · Rejection Patterns</a:t>
            </a:r>
          </a:p>
        </p:txBody>
      </p:sp>
      <p:sp>
        <p:nvSpPr>
          <p:cNvPr id="12" name="TextBox 11"/>
          <p:cNvSpPr txBox="1"/>
          <p:nvPr/>
        </p:nvSpPr>
        <p:spPr>
          <a:xfrm>
            <a:off x="9189719" y="1636776"/>
            <a:ext cx="2788920" cy="1737360"/>
          </a:xfrm>
          <a:prstGeom prst="rect">
            <a:avLst/>
          </a:prstGeom>
          <a:noFill/>
        </p:spPr>
        <p:txBody>
          <a:bodyPr wrap="square" lIns="0" rIns="0" tIns="0" bIns="0">
            <a:spAutoFit/>
          </a:bodyPr>
          <a:lstStyle/>
          <a:p>
            <a:pPr algn="l">
              <a:lnSpc>
                <a:spcPct val="102000"/>
              </a:lnSpc>
              <a:spcAft>
                <a:spcPts val="400"/>
              </a:spcAft>
            </a:pPr>
            <a:r>
              <a:rPr sz="1050">
                <a:solidFill>
                  <a:srgbClr val="22302B"/>
                </a:solidFill>
                <a:latin typeface="Calibri"/>
              </a:rPr>
              <a:t>•  </a:t>
            </a:r>
            <a:r>
              <a:rPr sz="1050" b="1" i="0">
                <a:solidFill>
                  <a:srgbClr val="5E736B"/>
                </a:solidFill>
                <a:latin typeface="Calibri"/>
              </a:rPr>
              <a:t>1  </a:t>
            </a:r>
            <a:r>
              <a:rPr sz="1050" b="0" i="0">
                <a:solidFill>
                  <a:srgbClr val="22302B"/>
                </a:solidFill>
                <a:latin typeface="Calibri"/>
              </a:rPr>
              <a:t>Pick a from/to range and apply</a:t>
            </a:r>
          </a:p>
          <a:p>
            <a:pPr algn="l">
              <a:lnSpc>
                <a:spcPct val="102000"/>
              </a:lnSpc>
              <a:spcAft>
                <a:spcPts val="400"/>
              </a:spcAft>
            </a:pPr>
            <a:r>
              <a:rPr sz="1050">
                <a:solidFill>
                  <a:srgbClr val="22302B"/>
                </a:solidFill>
                <a:latin typeface="Calibri"/>
              </a:rPr>
              <a:t>•  </a:t>
            </a:r>
            <a:r>
              <a:rPr sz="1050" b="1" i="0">
                <a:solidFill>
                  <a:srgbClr val="5E736B"/>
                </a:solidFill>
                <a:latin typeface="Calibri"/>
              </a:rPr>
              <a:t>2  </a:t>
            </a:r>
            <a:r>
              <a:rPr sz="1050" b="0" i="0">
                <a:solidFill>
                  <a:srgbClr val="22302B"/>
                </a:solidFill>
                <a:latin typeface="Calibri"/>
              </a:rPr>
              <a:t>Read the ranked chart — rejections vs review causes</a:t>
            </a:r>
          </a:p>
          <a:p>
            <a:pPr algn="l">
              <a:lnSpc>
                <a:spcPct val="102000"/>
              </a:lnSpc>
              <a:spcAft>
                <a:spcPts val="400"/>
              </a:spcAft>
            </a:pPr>
            <a:r>
              <a:rPr sz="1050">
                <a:solidFill>
                  <a:srgbClr val="22302B"/>
                </a:solidFill>
                <a:latin typeface="Calibri"/>
              </a:rPr>
              <a:t>•  </a:t>
            </a:r>
            <a:r>
              <a:rPr sz="1050" b="1" i="0">
                <a:solidFill>
                  <a:srgbClr val="5E736B"/>
                </a:solidFill>
                <a:latin typeface="Calibri"/>
              </a:rPr>
              <a:t>3  </a:t>
            </a:r>
            <a:r>
              <a:rPr sz="1050" b="0" i="0">
                <a:solidFill>
                  <a:srgbClr val="22302B"/>
                </a:solidFill>
                <a:latin typeface="Calibri"/>
              </a:rPr>
              <a:t>Sampling on top is normal — a rejection code spiking is the alarm</a:t>
            </a:r>
          </a:p>
        </p:txBody>
      </p:sp>
      <p:pic>
        <p:nvPicPr>
          <p:cNvPr id="13" name="Picture 12" descr="m02-case.png"/>
          <p:cNvPicPr>
            <a:picLocks noChangeAspect="1"/>
          </p:cNvPicPr>
          <p:nvPr/>
        </p:nvPicPr>
        <p:blipFill>
          <a:blip r:embed="rId4"/>
          <a:stretch>
            <a:fillRect/>
          </a:stretch>
        </p:blipFill>
        <p:spPr>
          <a:xfrm>
            <a:off x="548640" y="3913632"/>
            <a:ext cx="2651760" cy="1665849"/>
          </a:xfrm>
          <a:prstGeom prst="rect">
            <a:avLst/>
          </a:prstGeom>
        </p:spPr>
      </p:pic>
      <p:sp>
        <p:nvSpPr>
          <p:cNvPr id="14" name="TextBox 13"/>
          <p:cNvSpPr txBox="1"/>
          <p:nvPr/>
        </p:nvSpPr>
        <p:spPr>
          <a:xfrm>
            <a:off x="3383280" y="3840480"/>
            <a:ext cx="2788920" cy="274320"/>
          </a:xfrm>
          <a:prstGeom prst="rect">
            <a:avLst/>
          </a:prstGeom>
          <a:noFill/>
        </p:spPr>
        <p:txBody>
          <a:bodyPr wrap="square" lIns="0" rIns="0" tIns="0" bIns="0">
            <a:spAutoFit/>
          </a:bodyPr>
          <a:lstStyle/>
          <a:p>
            <a:pPr algn="l">
              <a:lnSpc>
                <a:spcPct val="100000"/>
              </a:lnSpc>
            </a:pPr>
            <a:r>
              <a:rPr sz="1200" b="1" i="0">
                <a:solidFill>
                  <a:srgbClr val="2EA98D"/>
                </a:solidFill>
                <a:latin typeface="Calibri"/>
              </a:rPr>
              <a:t>UC 06 · Override Case</a:t>
            </a:r>
          </a:p>
        </p:txBody>
      </p:sp>
      <p:sp>
        <p:nvSpPr>
          <p:cNvPr id="15" name="TextBox 14"/>
          <p:cNvSpPr txBox="1"/>
          <p:nvPr/>
        </p:nvSpPr>
        <p:spPr>
          <a:xfrm>
            <a:off x="3383280" y="4151376"/>
            <a:ext cx="2788920" cy="1737360"/>
          </a:xfrm>
          <a:prstGeom prst="rect">
            <a:avLst/>
          </a:prstGeom>
          <a:noFill/>
        </p:spPr>
        <p:txBody>
          <a:bodyPr wrap="square" lIns="0" rIns="0" tIns="0" bIns="0">
            <a:spAutoFit/>
          </a:bodyPr>
          <a:lstStyle/>
          <a:p>
            <a:pPr algn="l">
              <a:lnSpc>
                <a:spcPct val="102000"/>
              </a:lnSpc>
              <a:spcAft>
                <a:spcPts val="400"/>
              </a:spcAft>
            </a:pPr>
            <a:r>
              <a:rPr sz="1050">
                <a:solidFill>
                  <a:srgbClr val="22302B"/>
                </a:solidFill>
                <a:latin typeface="Calibri"/>
              </a:rPr>
              <a:t>•  </a:t>
            </a:r>
            <a:r>
              <a:rPr sz="1050" b="1" i="0">
                <a:solidFill>
                  <a:srgbClr val="5E736B"/>
                </a:solidFill>
                <a:latin typeface="Calibri"/>
              </a:rPr>
              <a:t>1  </a:t>
            </a:r>
            <a:r>
              <a:rPr sz="1050" b="0" i="0">
                <a:solidFill>
                  <a:srgbClr val="22302B"/>
                </a:solidFill>
                <a:latin typeface="Calibri"/>
              </a:rPr>
              <a:t>Open the case → "Override decision…"</a:t>
            </a:r>
          </a:p>
          <a:p>
            <a:pPr algn="l">
              <a:lnSpc>
                <a:spcPct val="102000"/>
              </a:lnSpc>
              <a:spcAft>
                <a:spcPts val="400"/>
              </a:spcAft>
            </a:pPr>
            <a:r>
              <a:rPr sz="1050">
                <a:solidFill>
                  <a:srgbClr val="22302B"/>
                </a:solidFill>
                <a:latin typeface="Calibri"/>
              </a:rPr>
              <a:t>•  </a:t>
            </a:r>
            <a:r>
              <a:rPr sz="1050" b="1" i="0">
                <a:solidFill>
                  <a:srgbClr val="5E736B"/>
                </a:solidFill>
                <a:latin typeface="Calibri"/>
              </a:rPr>
              <a:t>2  </a:t>
            </a:r>
            <a:r>
              <a:rPr sz="1050" b="0" i="0">
                <a:solidFill>
                  <a:srgbClr val="22302B"/>
                </a:solidFill>
                <a:latin typeface="Calibri"/>
              </a:rPr>
              <a:t>Pick the new outcome; reason + operator are mandatory</a:t>
            </a:r>
          </a:p>
          <a:p>
            <a:pPr algn="l">
              <a:lnSpc>
                <a:spcPct val="102000"/>
              </a:lnSpc>
              <a:spcAft>
                <a:spcPts val="400"/>
              </a:spcAft>
            </a:pPr>
            <a:r>
              <a:rPr sz="1050">
                <a:solidFill>
                  <a:srgbClr val="22302B"/>
                </a:solidFill>
                <a:latin typeface="Calibri"/>
              </a:rPr>
              <a:t>•  </a:t>
            </a:r>
            <a:r>
              <a:rPr sz="1050" b="1" i="0">
                <a:solidFill>
                  <a:srgbClr val="5E736B"/>
                </a:solidFill>
                <a:latin typeface="Calibri"/>
              </a:rPr>
              <a:t>3  </a:t>
            </a:r>
            <a:r>
              <a:rPr sz="1050" b="0" i="0">
                <a:solidFill>
                  <a:srgbClr val="22302B"/>
                </a:solidFill>
                <a:latin typeface="Calibri"/>
              </a:rPr>
              <a:t>Confirm — the trace is permanent, the journey resumes</a:t>
            </a:r>
          </a:p>
        </p:txBody>
      </p:sp>
      <p:pic>
        <p:nvPicPr>
          <p:cNvPr id="16" name="Picture 15" descr="m02-config.png"/>
          <p:cNvPicPr>
            <a:picLocks noChangeAspect="1"/>
          </p:cNvPicPr>
          <p:nvPr/>
        </p:nvPicPr>
        <p:blipFill>
          <a:blip r:embed="rId5"/>
          <a:stretch>
            <a:fillRect/>
          </a:stretch>
        </p:blipFill>
        <p:spPr>
          <a:xfrm>
            <a:off x="6355079" y="3913632"/>
            <a:ext cx="2651760" cy="1665849"/>
          </a:xfrm>
          <a:prstGeom prst="rect">
            <a:avLst/>
          </a:prstGeom>
        </p:spPr>
      </p:pic>
      <p:sp>
        <p:nvSpPr>
          <p:cNvPr id="17" name="TextBox 16"/>
          <p:cNvSpPr txBox="1"/>
          <p:nvPr/>
        </p:nvSpPr>
        <p:spPr>
          <a:xfrm>
            <a:off x="9189719" y="3840480"/>
            <a:ext cx="2788920" cy="274320"/>
          </a:xfrm>
          <a:prstGeom prst="rect">
            <a:avLst/>
          </a:prstGeom>
          <a:noFill/>
        </p:spPr>
        <p:txBody>
          <a:bodyPr wrap="square" lIns="0" rIns="0" tIns="0" bIns="0">
            <a:spAutoFit/>
          </a:bodyPr>
          <a:lstStyle/>
          <a:p>
            <a:pPr algn="l">
              <a:lnSpc>
                <a:spcPct val="100000"/>
              </a:lnSpc>
            </a:pPr>
            <a:r>
              <a:rPr sz="1200" b="1" i="0">
                <a:solidFill>
                  <a:srgbClr val="2EA98D"/>
                </a:solidFill>
                <a:latin typeface="Calibri"/>
              </a:rPr>
              <a:t>UC 07 · Edit Policy Config</a:t>
            </a:r>
          </a:p>
        </p:txBody>
      </p:sp>
      <p:sp>
        <p:nvSpPr>
          <p:cNvPr id="18" name="TextBox 17"/>
          <p:cNvSpPr txBox="1"/>
          <p:nvPr/>
        </p:nvSpPr>
        <p:spPr>
          <a:xfrm>
            <a:off x="9189719" y="4151376"/>
            <a:ext cx="2788920" cy="1737360"/>
          </a:xfrm>
          <a:prstGeom prst="rect">
            <a:avLst/>
          </a:prstGeom>
          <a:noFill/>
        </p:spPr>
        <p:txBody>
          <a:bodyPr wrap="square" lIns="0" rIns="0" tIns="0" bIns="0">
            <a:spAutoFit/>
          </a:bodyPr>
          <a:lstStyle/>
          <a:p>
            <a:pPr algn="l">
              <a:lnSpc>
                <a:spcPct val="102000"/>
              </a:lnSpc>
              <a:spcAft>
                <a:spcPts val="400"/>
              </a:spcAft>
            </a:pPr>
            <a:r>
              <a:rPr sz="1050">
                <a:solidFill>
                  <a:srgbClr val="22302B"/>
                </a:solidFill>
                <a:latin typeface="Calibri"/>
              </a:rPr>
              <a:t>•  </a:t>
            </a:r>
            <a:r>
              <a:rPr sz="1050" b="1" i="0">
                <a:solidFill>
                  <a:srgbClr val="5E736B"/>
                </a:solidFill>
                <a:latin typeface="Calibri"/>
              </a:rPr>
              <a:t>1  </a:t>
            </a:r>
            <a:r>
              <a:rPr sz="1050" b="0" i="0">
                <a:solidFill>
                  <a:srgbClr val="22302B"/>
                </a:solidFill>
                <a:latin typeface="Calibri"/>
              </a:rPr>
              <a:t>Policy Configuration → edit lists, restriction entries or the sampling rate</a:t>
            </a:r>
          </a:p>
          <a:p>
            <a:pPr algn="l">
              <a:lnSpc>
                <a:spcPct val="102000"/>
              </a:lnSpc>
              <a:spcAft>
                <a:spcPts val="400"/>
              </a:spcAft>
            </a:pPr>
            <a:r>
              <a:rPr sz="1050">
                <a:solidFill>
                  <a:srgbClr val="22302B"/>
                </a:solidFill>
                <a:latin typeface="Calibri"/>
              </a:rPr>
              <a:t>•  </a:t>
            </a:r>
            <a:r>
              <a:rPr sz="1050" b="1" i="0">
                <a:solidFill>
                  <a:srgbClr val="5E736B"/>
                </a:solidFill>
                <a:latin typeface="Calibri"/>
              </a:rPr>
              <a:t>2  </a:t>
            </a:r>
            <a:r>
              <a:rPr sz="1050" b="0" i="0">
                <a:solidFill>
                  <a:srgbClr val="22302B"/>
                </a:solidFill>
                <a:latin typeface="Calibri"/>
              </a:rPr>
              <a:t>Save — a NEW version appears; nothing old is edited</a:t>
            </a:r>
          </a:p>
          <a:p>
            <a:pPr algn="l">
              <a:lnSpc>
                <a:spcPct val="102000"/>
              </a:lnSpc>
              <a:spcAft>
                <a:spcPts val="400"/>
              </a:spcAft>
            </a:pPr>
            <a:r>
              <a:rPr sz="1050">
                <a:solidFill>
                  <a:srgbClr val="22302B"/>
                </a:solidFill>
                <a:latin typeface="Calibri"/>
              </a:rPr>
              <a:t>•  </a:t>
            </a:r>
            <a:r>
              <a:rPr sz="1050" b="1" i="0">
                <a:solidFill>
                  <a:srgbClr val="5E736B"/>
                </a:solidFill>
                <a:latin typeface="Calibri"/>
              </a:rPr>
              <a:t>3  </a:t>
            </a:r>
            <a:r>
              <a:rPr sz="1050" b="0" i="0">
                <a:solidFill>
                  <a:srgbClr val="22302B"/>
                </a:solidFill>
                <a:latin typeface="Calibri"/>
              </a:rPr>
              <a:t>The very next application decides under the new version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6304"/>
            <a:ext cx="9326880" cy="274320"/>
          </a:xfrm>
          <a:prstGeom prst="rect">
            <a:avLst/>
          </a:prstGeom>
          <a:noFill/>
        </p:spPr>
        <p:txBody>
          <a:bodyPr wrap="square" lIns="0" rIns="0" tIns="0" bIns="0">
            <a:spAutoFit/>
          </a:bodyPr>
          <a:lstStyle/>
          <a:p>
            <a:pPr algn="l">
              <a:lnSpc>
                <a:spcPct val="100000"/>
              </a:lnSpc>
            </a:pPr>
            <a:r>
              <a:rPr sz="1200" b="1" i="0">
                <a:solidFill>
                  <a:srgbClr val="94A9A1"/>
                </a:solidFill>
                <a:latin typeface="Calibri"/>
              </a:rPr>
              <a:t>MODULE 2</a:t>
            </a:r>
          </a:p>
        </p:txBody>
      </p:sp>
      <p:sp>
        <p:nvSpPr>
          <p:cNvPr id="4" name="TextBox 3"/>
          <p:cNvSpPr txBox="1"/>
          <p:nvPr/>
        </p:nvSpPr>
        <p:spPr>
          <a:xfrm>
            <a:off x="548640" y="402336"/>
            <a:ext cx="9326880" cy="548640"/>
          </a:xfrm>
          <a:prstGeom prst="rect">
            <a:avLst/>
          </a:prstGeom>
          <a:noFill/>
        </p:spPr>
        <p:txBody>
          <a:bodyPr wrap="square" lIns="0" rIns="0" tIns="0" bIns="0">
            <a:spAutoFit/>
          </a:bodyPr>
          <a:lstStyle/>
          <a:p>
            <a:pPr algn="l">
              <a:lnSpc>
                <a:spcPct val="100000"/>
              </a:lnSpc>
            </a:pPr>
            <a:r>
              <a:rPr sz="2800" b="1" i="0">
                <a:solidFill>
                  <a:srgbClr val="FFFFFF"/>
                </a:solidFill>
                <a:latin typeface="Calibri"/>
              </a:rPr>
              <a:t>How it is used — steps per use case (3/3)</a:t>
            </a:r>
          </a:p>
        </p:txBody>
      </p:sp>
      <p:sp>
        <p:nvSpPr>
          <p:cNvPr id="5" name="Rectangle 4"/>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6" name="TextBox 5"/>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Student Brief — your UI may look different, the JOB each screen does may not</a:t>
            </a:r>
          </a:p>
        </p:txBody>
      </p:sp>
      <p:pic>
        <p:nvPicPr>
          <p:cNvPr id="7" name="Picture 6" descr="m02-config.png"/>
          <p:cNvPicPr>
            <a:picLocks noChangeAspect="1"/>
          </p:cNvPicPr>
          <p:nvPr/>
        </p:nvPicPr>
        <p:blipFill>
          <a:blip r:embed="rId2"/>
          <a:stretch>
            <a:fillRect/>
          </a:stretch>
        </p:blipFill>
        <p:spPr>
          <a:xfrm>
            <a:off x="548640" y="1399032"/>
            <a:ext cx="2651760" cy="1665849"/>
          </a:xfrm>
          <a:prstGeom prst="rect">
            <a:avLst/>
          </a:prstGeom>
        </p:spPr>
      </p:pic>
      <p:sp>
        <p:nvSpPr>
          <p:cNvPr id="8" name="TextBox 7"/>
          <p:cNvSpPr txBox="1"/>
          <p:nvPr/>
        </p:nvSpPr>
        <p:spPr>
          <a:xfrm>
            <a:off x="3383280" y="1325880"/>
            <a:ext cx="2788920" cy="274320"/>
          </a:xfrm>
          <a:prstGeom prst="rect">
            <a:avLst/>
          </a:prstGeom>
          <a:noFill/>
        </p:spPr>
        <p:txBody>
          <a:bodyPr wrap="square" lIns="0" rIns="0" tIns="0" bIns="0">
            <a:spAutoFit/>
          </a:bodyPr>
          <a:lstStyle/>
          <a:p>
            <a:pPr algn="l">
              <a:lnSpc>
                <a:spcPct val="100000"/>
              </a:lnSpc>
            </a:pPr>
            <a:r>
              <a:rPr sz="1200" b="1" i="0">
                <a:solidFill>
                  <a:srgbClr val="2EA98D"/>
                </a:solidFill>
                <a:latin typeface="Calibri"/>
              </a:rPr>
              <a:t>UC 08 · View Config History</a:t>
            </a:r>
          </a:p>
        </p:txBody>
      </p:sp>
      <p:sp>
        <p:nvSpPr>
          <p:cNvPr id="9" name="TextBox 8"/>
          <p:cNvSpPr txBox="1"/>
          <p:nvPr/>
        </p:nvSpPr>
        <p:spPr>
          <a:xfrm>
            <a:off x="3383280" y="1636776"/>
            <a:ext cx="2788920" cy="1737360"/>
          </a:xfrm>
          <a:prstGeom prst="rect">
            <a:avLst/>
          </a:prstGeom>
          <a:noFill/>
        </p:spPr>
        <p:txBody>
          <a:bodyPr wrap="square" lIns="0" rIns="0" tIns="0" bIns="0">
            <a:spAutoFit/>
          </a:bodyPr>
          <a:lstStyle/>
          <a:p>
            <a:pPr algn="l">
              <a:lnSpc>
                <a:spcPct val="102000"/>
              </a:lnSpc>
              <a:spcAft>
                <a:spcPts val="400"/>
              </a:spcAft>
            </a:pPr>
            <a:r>
              <a:rPr sz="1050">
                <a:solidFill>
                  <a:srgbClr val="22302B"/>
                </a:solidFill>
                <a:latin typeface="Calibri"/>
              </a:rPr>
              <a:t>•  </a:t>
            </a:r>
            <a:r>
              <a:rPr sz="1050" b="1" i="0">
                <a:solidFill>
                  <a:srgbClr val="5E736B"/>
                </a:solidFill>
                <a:latin typeface="Calibri"/>
              </a:rPr>
              <a:t>1  </a:t>
            </a:r>
            <a:r>
              <a:rPr sz="1050" b="0" i="0">
                <a:solidFill>
                  <a:srgbClr val="22302B"/>
                </a:solidFill>
                <a:latin typeface="Calibri"/>
              </a:rPr>
              <a:t>Open the history — every version, oldest first</a:t>
            </a:r>
          </a:p>
          <a:p>
            <a:pPr algn="l">
              <a:lnSpc>
                <a:spcPct val="102000"/>
              </a:lnSpc>
              <a:spcAft>
                <a:spcPts val="400"/>
              </a:spcAft>
            </a:pPr>
            <a:r>
              <a:rPr sz="1050">
                <a:solidFill>
                  <a:srgbClr val="22302B"/>
                </a:solidFill>
                <a:latin typeface="Calibri"/>
              </a:rPr>
              <a:t>•  </a:t>
            </a:r>
            <a:r>
              <a:rPr sz="1050" b="1" i="0">
                <a:solidFill>
                  <a:srgbClr val="5E736B"/>
                </a:solidFill>
                <a:latin typeface="Calibri"/>
              </a:rPr>
              <a:t>2  </a:t>
            </a:r>
            <a:r>
              <a:rPr sz="1050" b="0" i="0">
                <a:solidFill>
                  <a:srgbClr val="22302B"/>
                </a:solidFill>
                <a:latin typeface="Calibri"/>
              </a:rPr>
              <a:t>The current version is marked</a:t>
            </a:r>
          </a:p>
          <a:p>
            <a:pPr algn="l">
              <a:lnSpc>
                <a:spcPct val="102000"/>
              </a:lnSpc>
              <a:spcAft>
                <a:spcPts val="400"/>
              </a:spcAft>
            </a:pPr>
            <a:r>
              <a:rPr sz="1050">
                <a:solidFill>
                  <a:srgbClr val="22302B"/>
                </a:solidFill>
                <a:latin typeface="Calibri"/>
              </a:rPr>
              <a:t>•  </a:t>
            </a:r>
            <a:r>
              <a:rPr sz="1050" b="1" i="0">
                <a:solidFill>
                  <a:srgbClr val="5E736B"/>
                </a:solidFill>
                <a:latin typeface="Calibri"/>
              </a:rPr>
              <a:t>3  </a:t>
            </a:r>
            <a:r>
              <a:rPr sz="1050" b="0" i="0">
                <a:solidFill>
                  <a:srgbClr val="22302B"/>
                </a:solidFill>
                <a:latin typeface="Calibri"/>
              </a:rPr>
              <a:t>Old cases still point at the version that decided them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6304"/>
            <a:ext cx="9326880" cy="274320"/>
          </a:xfrm>
          <a:prstGeom prst="rect">
            <a:avLst/>
          </a:prstGeom>
          <a:noFill/>
        </p:spPr>
        <p:txBody>
          <a:bodyPr wrap="square" lIns="0" rIns="0" tIns="0" bIns="0">
            <a:spAutoFit/>
          </a:bodyPr>
          <a:lstStyle/>
          <a:p>
            <a:pPr algn="l">
              <a:lnSpc>
                <a:spcPct val="100000"/>
              </a:lnSpc>
            </a:pPr>
            <a:r>
              <a:rPr sz="1200" b="1" i="0">
                <a:solidFill>
                  <a:srgbClr val="94A9A1"/>
                </a:solidFill>
                <a:latin typeface="Calibri"/>
              </a:rPr>
              <a:t>MODULE 2</a:t>
            </a:r>
          </a:p>
        </p:txBody>
      </p:sp>
      <p:sp>
        <p:nvSpPr>
          <p:cNvPr id="4" name="TextBox 3"/>
          <p:cNvSpPr txBox="1"/>
          <p:nvPr/>
        </p:nvSpPr>
        <p:spPr>
          <a:xfrm>
            <a:off x="548640" y="402336"/>
            <a:ext cx="9326880" cy="548640"/>
          </a:xfrm>
          <a:prstGeom prst="rect">
            <a:avLst/>
          </a:prstGeom>
          <a:noFill/>
        </p:spPr>
        <p:txBody>
          <a:bodyPr wrap="square" lIns="0" rIns="0" tIns="0" bIns="0">
            <a:spAutoFit/>
          </a:bodyPr>
          <a:lstStyle/>
          <a:p>
            <a:pPr algn="l">
              <a:lnSpc>
                <a:spcPct val="100000"/>
              </a:lnSpc>
            </a:pPr>
            <a:r>
              <a:rPr sz="2800" b="1" i="0">
                <a:solidFill>
                  <a:srgbClr val="FFFFFF"/>
                </a:solidFill>
                <a:latin typeface="Calibri"/>
              </a:rPr>
              <a:t>Expected state transitions</a:t>
            </a:r>
          </a:p>
        </p:txBody>
      </p:sp>
      <p:sp>
        <p:nvSpPr>
          <p:cNvPr id="5" name="Rectangle 4"/>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6" name="TextBox 5"/>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Student Brief — outcomes are terminal for the machine</a:t>
            </a:r>
          </a:p>
        </p:txBody>
      </p:sp>
      <p:pic>
        <p:nvPicPr>
          <p:cNvPr id="7" name="Picture 6" descr="case-states.jpg"/>
          <p:cNvPicPr>
            <a:picLocks noChangeAspect="1"/>
          </p:cNvPicPr>
          <p:nvPr/>
        </p:nvPicPr>
        <p:blipFill>
          <a:blip r:embed="rId2"/>
          <a:stretch>
            <a:fillRect/>
          </a:stretch>
        </p:blipFill>
        <p:spPr>
          <a:xfrm>
            <a:off x="2520050" y="1371600"/>
            <a:ext cx="7121419" cy="2743200"/>
          </a:xfrm>
          <a:prstGeom prst="rect">
            <a:avLst/>
          </a:prstGeom>
        </p:spPr>
      </p:pic>
      <p:pic>
        <p:nvPicPr>
          <p:cNvPr id="8" name="Picture 7" descr="config-states.jpg"/>
          <p:cNvPicPr>
            <a:picLocks noChangeAspect="1"/>
          </p:cNvPicPr>
          <p:nvPr/>
        </p:nvPicPr>
        <p:blipFill>
          <a:blip r:embed="rId3"/>
          <a:stretch>
            <a:fillRect/>
          </a:stretch>
        </p:blipFill>
        <p:spPr>
          <a:xfrm>
            <a:off x="548640" y="4206240"/>
            <a:ext cx="4428661" cy="1463040"/>
          </a:xfrm>
          <a:prstGeom prst="rect">
            <a:avLst/>
          </a:prstGeom>
        </p:spPr>
      </p:pic>
      <p:sp>
        <p:nvSpPr>
          <p:cNvPr id="9" name="TextBox 8"/>
          <p:cNvSpPr txBox="1"/>
          <p:nvPr/>
        </p:nvSpPr>
        <p:spPr>
          <a:xfrm>
            <a:off x="6766560" y="4206240"/>
            <a:ext cx="4846320" cy="2011680"/>
          </a:xfrm>
          <a:prstGeom prst="rect">
            <a:avLst/>
          </a:prstGeom>
          <a:noFill/>
        </p:spPr>
        <p:txBody>
          <a:bodyPr wrap="square" lIns="0" rIns="0" tIns="0" bIns="0">
            <a:spAutoFit/>
          </a:bodyPr>
          <a:lstStyle/>
          <a:p>
            <a:pPr algn="l">
              <a:lnSpc>
                <a:spcPct val="105000"/>
              </a:lnSpc>
            </a:pPr>
            <a:r>
              <a:rPr sz="1050" b="1" i="1">
                <a:solidFill>
                  <a:srgbClr val="22302B"/>
                </a:solidFill>
                <a:latin typeface="Calibri"/>
              </a:rPr>
              <a:t>Dashed amber = a human decision — the ONLY way an outcome ever changes.</a:t>
            </a:r>
            <a:r>
              <a:rPr sz="1050" b="0" i="1">
                <a:solidFill>
                  <a:srgbClr val="22302B"/>
                </a:solidFill>
                <a:latin typeface="Calibri"/>
              </a:rPr>
              <a:t> Your REFERRED state has three entrances; can you name all three? What must a queue decision always carry, and what does the orchestrator hear when it happens? A repeated /execute for the same applicationId must NOT create a second row, a second registry call or a second decision. Prove it.</a:t>
            </a:r>
          </a:p>
          <a:p>
            <a:pPr algn="l">
              <a:lnSpc>
                <a:spcPct val="105000"/>
              </a:lnSpc>
            </a:pPr>
            <a:r>
              <a:rPr sz="1400" b="0" i="0">
                <a:solidFill>
                  <a:srgbClr val="22302B"/>
                </a:solidFill>
                <a:latin typeface="Calibri"/>
              </a:rPr>
              <a:t/>
            </a:r>
          </a:p>
          <a:p>
            <a:pPr algn="l">
              <a:lnSpc>
                <a:spcPct val="105000"/>
              </a:lnSpc>
            </a:pPr>
            <a:r>
              <a:rPr sz="1050" b="1" i="1">
                <a:solidFill>
                  <a:srgbClr val="22302B"/>
                </a:solidFill>
                <a:latin typeface="Calibri"/>
              </a:rPr>
              <a:t>Compliance adds a residency on Tuesday; an auditor asks on Friday why Monday's case rejected.</a:t>
            </a:r>
            <a:r>
              <a:rPr sz="1050" b="0" i="1">
                <a:solidFill>
                  <a:srgbClr val="22302B"/>
                </a:solidFill>
                <a:latin typeface="Calibri"/>
              </a:rPr>
              <a:t> What must your case record remember for the old answer to still be explainable? And which single config field, changed, alters how often your queue fills up — without touching any rule?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6304"/>
            <a:ext cx="9326880" cy="274320"/>
          </a:xfrm>
          <a:prstGeom prst="rect">
            <a:avLst/>
          </a:prstGeom>
          <a:noFill/>
        </p:spPr>
        <p:txBody>
          <a:bodyPr wrap="square" lIns="0" rIns="0" tIns="0" bIns="0">
            <a:spAutoFit/>
          </a:bodyPr>
          <a:lstStyle/>
          <a:p>
            <a:pPr algn="l">
              <a:lnSpc>
                <a:spcPct val="100000"/>
              </a:lnSpc>
            </a:pPr>
            <a:r>
              <a:rPr sz="1200" b="1" i="0">
                <a:solidFill>
                  <a:srgbClr val="94A9A1"/>
                </a:solidFill>
                <a:latin typeface="Calibri"/>
              </a:rPr>
              <a:t>MODULE 2</a:t>
            </a:r>
          </a:p>
        </p:txBody>
      </p:sp>
      <p:sp>
        <p:nvSpPr>
          <p:cNvPr id="4" name="TextBox 3"/>
          <p:cNvSpPr txBox="1"/>
          <p:nvPr/>
        </p:nvSpPr>
        <p:spPr>
          <a:xfrm>
            <a:off x="548640" y="402336"/>
            <a:ext cx="9326880" cy="548640"/>
          </a:xfrm>
          <a:prstGeom prst="rect">
            <a:avLst/>
          </a:prstGeom>
          <a:noFill/>
        </p:spPr>
        <p:txBody>
          <a:bodyPr wrap="square" lIns="0" rIns="0" tIns="0" bIns="0">
            <a:spAutoFit/>
          </a:bodyPr>
          <a:lstStyle/>
          <a:p>
            <a:pPr algn="l">
              <a:lnSpc>
                <a:spcPct val="100000"/>
              </a:lnSpc>
            </a:pPr>
            <a:r>
              <a:rPr sz="2800" b="1" i="0">
                <a:solidFill>
                  <a:srgbClr val="FFFFFF"/>
                </a:solidFill>
                <a:latin typeface="Calibri"/>
              </a:rPr>
              <a:t>You are done when</a:t>
            </a:r>
          </a:p>
        </p:txBody>
      </p:sp>
      <p:sp>
        <p:nvSpPr>
          <p:cNvPr id="5" name="Rectangle 4"/>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6" name="TextBox 5"/>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Student Brief — an acceptance criterion that fails beats an extra that works</a:t>
            </a:r>
          </a:p>
        </p:txBody>
      </p:sp>
      <p:sp>
        <p:nvSpPr>
          <p:cNvPr id="7" name="TextBox 6"/>
          <p:cNvSpPr txBox="1"/>
          <p:nvPr/>
        </p:nvSpPr>
        <p:spPr>
          <a:xfrm>
            <a:off x="548640" y="1463040"/>
            <a:ext cx="10881360" cy="3840480"/>
          </a:xfrm>
          <a:prstGeom prst="rect">
            <a:avLst/>
          </a:prstGeom>
          <a:noFill/>
        </p:spPr>
        <p:txBody>
          <a:bodyPr wrap="square" lIns="0" rIns="0" tIns="0" bIns="0">
            <a:spAutoFit/>
          </a:bodyPr>
          <a:lstStyle/>
          <a:p>
            <a:pPr algn="l">
              <a:lnSpc>
                <a:spcPct val="102000"/>
              </a:lnSpc>
              <a:spcAft>
                <a:spcPts val="1100"/>
              </a:spcAft>
            </a:pPr>
            <a:r>
              <a:rPr sz="1300">
                <a:solidFill>
                  <a:srgbClr val="22302B"/>
                </a:solidFill>
                <a:latin typeface="Calibri"/>
              </a:rPr>
              <a:t>•  </a:t>
            </a:r>
            <a:r>
              <a:rPr sz="1300" b="1" i="0">
                <a:solidFill>
                  <a:srgbClr val="22302B"/>
                </a:solidFill>
                <a:latin typeface="Calibri"/>
              </a:rPr>
              <a:t>Every use case's acceptance criteria are complete</a:t>
            </a:r>
            <a:r>
              <a:rPr sz="1300" b="0" i="0">
                <a:solidFill>
                  <a:srgbClr val="22302B"/>
                </a:solidFill>
                <a:latin typeface="Calibri"/>
              </a:rPr>
              <a:t> — elicited from your customer, agreed, and verified per case against the running app. This is THE definition of done; nothing below substitutes for it.</a:t>
            </a:r>
          </a:p>
          <a:p>
            <a:pPr algn="l">
              <a:lnSpc>
                <a:spcPct val="102000"/>
              </a:lnSpc>
              <a:spcAft>
                <a:spcPts val="1100"/>
              </a:spcAft>
            </a:pPr>
            <a:r>
              <a:rPr sz="1300">
                <a:solidFill>
                  <a:srgbClr val="22302B"/>
                </a:solidFill>
                <a:latin typeface="Calibri"/>
              </a:rPr>
              <a:t>•  </a:t>
            </a:r>
            <a:r>
              <a:rPr sz="1300" b="1" i="0">
                <a:solidFill>
                  <a:srgbClr val="22302B"/>
                </a:solidFill>
                <a:latin typeface="Calibri"/>
              </a:rPr>
              <a:t>The orchestrator's contract check passes</a:t>
            </a:r>
            <a:r>
              <a:rPr sz="1300" b="0" i="0">
                <a:solidFill>
                  <a:srgbClr val="22302B"/>
                </a:solidFill>
                <a:latin typeface="Calibri"/>
              </a:rPr>
              <a:t> against your running container — 202 then callback, statuses mapped exactly as the table on slide 3, and a repeated /execute changes nothing.</a:t>
            </a:r>
          </a:p>
          <a:p>
            <a:pPr algn="l">
              <a:lnSpc>
                <a:spcPct val="102000"/>
              </a:lnSpc>
              <a:spcAft>
                <a:spcPts val="1100"/>
              </a:spcAft>
            </a:pPr>
            <a:r>
              <a:rPr sz="1300">
                <a:solidFill>
                  <a:srgbClr val="22302B"/>
                </a:solidFill>
                <a:latin typeface="Calibri"/>
              </a:rPr>
              <a:t>•  </a:t>
            </a:r>
            <a:r>
              <a:rPr sz="1300" b="1" i="0">
                <a:solidFill>
                  <a:srgbClr val="22302B"/>
                </a:solidFill>
                <a:latin typeface="Calibri"/>
              </a:rPr>
              <a:t>A bank employee can do their whole job from your UI</a:t>
            </a:r>
            <a:r>
              <a:rPr sz="1300" b="0" i="0">
                <a:solidFill>
                  <a:srgbClr val="22302B"/>
                </a:solidFill>
                <a:latin typeface="Calibri"/>
              </a:rPr>
              <a:t> — find a case, understand exactly why it decided what it decided, work the referral queue with the machine's workings on screen, fix a wrong decision with a reason, and change policy without a deploy.</a:t>
            </a:r>
          </a:p>
          <a:p>
            <a:pPr algn="l">
              <a:lnSpc>
                <a:spcPct val="102000"/>
              </a:lnSpc>
              <a:spcAft>
                <a:spcPts val="1100"/>
              </a:spcAft>
            </a:pPr>
            <a:r>
              <a:rPr sz="1300">
                <a:solidFill>
                  <a:srgbClr val="22302B"/>
                </a:solidFill>
                <a:latin typeface="Calibri"/>
              </a:rPr>
              <a:t>•  </a:t>
            </a:r>
            <a:r>
              <a:rPr sz="1300" b="1" i="0">
                <a:solidFill>
                  <a:srgbClr val="22302B"/>
                </a:solidFill>
                <a:latin typeface="Calibri"/>
              </a:rPr>
              <a:t>Your schema contains zero applicant data</a:t>
            </a:r>
            <a:r>
              <a:rPr sz="1300" b="0" i="0">
                <a:solidFill>
                  <a:srgbClr val="22302B"/>
                </a:solidFill>
                <a:latin typeface="Calibri"/>
              </a:rPr>
              <a:t> — and your lists stay within the 10-row rule.</a:t>
            </a:r>
          </a:p>
          <a:p>
            <a:pPr algn="l">
              <a:lnSpc>
                <a:spcPct val="102000"/>
              </a:lnSpc>
              <a:spcAft>
                <a:spcPts val="1100"/>
              </a:spcAft>
            </a:pPr>
            <a:r>
              <a:rPr sz="1300">
                <a:solidFill>
                  <a:srgbClr val="22302B"/>
                </a:solidFill>
                <a:latin typeface="Calibri"/>
              </a:rPr>
              <a:t>•  </a:t>
            </a:r>
            <a:r>
              <a:rPr sz="1300" b="1" i="0">
                <a:solidFill>
                  <a:srgbClr val="22302B"/>
                </a:solidFill>
                <a:latin typeface="Calibri"/>
              </a:rPr>
              <a:t>Quality holds</a:t>
            </a:r>
            <a:r>
              <a:rPr sz="1300" b="0" i="0">
                <a:solidFill>
                  <a:srgbClr val="22302B"/>
                </a:solidFill>
                <a:latin typeface="Calibri"/>
              </a:rPr>
              <a:t> — ≥ 70% line coverage on business logic, main green on a fresh clone, docker compose up works offline.</a:t>
            </a:r>
          </a:p>
          <a:p>
            <a:pPr algn="l">
              <a:lnSpc>
                <a:spcPct val="102000"/>
              </a:lnSpc>
              <a:spcAft>
                <a:spcPts val="1100"/>
              </a:spcAft>
            </a:pPr>
            <a:r>
              <a:rPr sz="1300">
                <a:solidFill>
                  <a:srgbClr val="22302B"/>
                </a:solidFill>
                <a:latin typeface="Calibri"/>
              </a:rPr>
              <a:t>•  </a:t>
            </a:r>
            <a:r>
              <a:rPr sz="1300" b="1" i="0">
                <a:solidFill>
                  <a:srgbClr val="22302B"/>
                </a:solidFill>
                <a:latin typeface="Calibri"/>
              </a:rPr>
              <a:t>The deliverables exist</a:t>
            </a:r>
            <a:r>
              <a:rPr sz="1300" b="0" i="0">
                <a:solidFill>
                  <a:srgbClr val="22302B"/>
                </a:solidFill>
                <a:latin typeface="Calibri"/>
              </a:rPr>
              <a:t> — presentation, user instructions a new operator could follow, the what-we-mocked register, upgrade notes, C4 diagram.</a:t>
            </a:r>
          </a:p>
          <a:p>
            <a:pPr algn="l">
              <a:lnSpc>
                <a:spcPct val="102000"/>
              </a:lnSpc>
              <a:spcAft>
                <a:spcPts val="1100"/>
              </a:spcAft>
            </a:pPr>
            <a:r>
              <a:rPr sz="1300">
                <a:solidFill>
                  <a:srgbClr val="22302B"/>
                </a:solidFill>
                <a:latin typeface="Calibri"/>
              </a:rPr>
              <a:t>•  </a:t>
            </a:r>
            <a:r>
              <a:rPr sz="1300" b="1" i="0">
                <a:solidFill>
                  <a:srgbClr val="22302B"/>
                </a:solidFill>
                <a:latin typeface="Calibri"/>
              </a:rPr>
              <a:t>The API is documented and idempotent</a:t>
            </a:r>
            <a:r>
              <a:rPr sz="1300" b="0" i="0">
                <a:solidFill>
                  <a:srgbClr val="22302B"/>
                </a:solidFill>
                <a:latin typeface="Calibri"/>
              </a:rPr>
              <a:t> — OpenAPI 3.0 (Swagger) served per service (mock app included), and repeating any call changes nothing the second time.</a:t>
            </a:r>
          </a:p>
        </p:txBody>
      </p:sp>
      <p:sp>
        <p:nvSpPr>
          <p:cNvPr id="8" name="Rounded Rectangle 7"/>
          <p:cNvSpPr/>
          <p:nvPr/>
        </p:nvSpPr>
        <p:spPr>
          <a:xfrm>
            <a:off x="548640" y="5623560"/>
            <a:ext cx="11109960" cy="685800"/>
          </a:xfrm>
          <a:prstGeom prst="roundRect">
            <a:avLst>
              <a:gd name="adj" fmla="val 5000"/>
            </a:avLst>
          </a:prstGeom>
          <a:solidFill>
            <a:srgbClr val="ECF6F1"/>
          </a:solidFill>
          <a:ln w="9525">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760720"/>
            <a:ext cx="10698480" cy="457200"/>
          </a:xfrm>
          <a:prstGeom prst="rect">
            <a:avLst/>
          </a:prstGeom>
          <a:noFill/>
        </p:spPr>
        <p:txBody>
          <a:bodyPr wrap="square" lIns="0" rIns="0" tIns="0" bIns="0">
            <a:spAutoFit/>
          </a:bodyPr>
          <a:lstStyle/>
          <a:p>
            <a:pPr algn="l">
              <a:lnSpc>
                <a:spcPct val="100000"/>
              </a:lnSpc>
            </a:pPr>
            <a:r>
              <a:rPr sz="1250" b="1" i="0">
                <a:solidFill>
                  <a:srgbClr val="2EA98D"/>
                </a:solidFill>
                <a:latin typeface="Calibri"/>
              </a:rPr>
              <a:t>A far more detailed version of this brief exists — your instructor holds it, in the role of your customer. The teams that do best are the ones that ask the most precise questions, earliest.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6304"/>
            <a:ext cx="9326880" cy="274320"/>
          </a:xfrm>
          <a:prstGeom prst="rect">
            <a:avLst/>
          </a:prstGeom>
          <a:noFill/>
        </p:spPr>
        <p:txBody>
          <a:bodyPr wrap="square" lIns="0" rIns="0" tIns="0" bIns="0">
            <a:spAutoFit/>
          </a:bodyPr>
          <a:lstStyle/>
          <a:p>
            <a:pPr algn="l">
              <a:lnSpc>
                <a:spcPct val="100000"/>
              </a:lnSpc>
            </a:pPr>
            <a:r>
              <a:rPr sz="1200" b="1" i="0">
                <a:solidFill>
                  <a:srgbClr val="94A9A1"/>
                </a:solidFill>
                <a:latin typeface="Calibri"/>
              </a:rPr>
              <a:t>MODULE 2 · APPENDIX</a:t>
            </a:r>
          </a:p>
        </p:txBody>
      </p:sp>
      <p:sp>
        <p:nvSpPr>
          <p:cNvPr id="4" name="TextBox 3"/>
          <p:cNvSpPr txBox="1"/>
          <p:nvPr/>
        </p:nvSpPr>
        <p:spPr>
          <a:xfrm>
            <a:off x="548640" y="402336"/>
            <a:ext cx="9326880" cy="548640"/>
          </a:xfrm>
          <a:prstGeom prst="rect">
            <a:avLst/>
          </a:prstGeom>
          <a:noFill/>
        </p:spPr>
        <p:txBody>
          <a:bodyPr wrap="square" lIns="0" rIns="0" tIns="0" bIns="0">
            <a:spAutoFit/>
          </a:bodyPr>
          <a:lstStyle/>
          <a:p>
            <a:pPr algn="l">
              <a:lnSpc>
                <a:spcPct val="100000"/>
              </a:lnSpc>
            </a:pPr>
            <a:r>
              <a:rPr sz="2800" b="1" i="0">
                <a:solidFill>
                  <a:srgbClr val="FFFFFF"/>
                </a:solidFill>
                <a:latin typeface="Calibri"/>
              </a:rPr>
              <a:t>Worked examples — the cast</a:t>
            </a:r>
          </a:p>
        </p:txBody>
      </p:sp>
      <p:sp>
        <p:nvSpPr>
          <p:cNvPr id="5" name="Rectangle 4"/>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6" name="TextBox 5"/>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Student Brief — examples, not the target: your target is the acceptance criteria per use case</a:t>
            </a:r>
          </a:p>
        </p:txBody>
      </p:sp>
      <p:sp>
        <p:nvSpPr>
          <p:cNvPr id="7" name="Rectangle 6"/>
          <p:cNvSpPr/>
          <p:nvPr/>
        </p:nvSpPr>
        <p:spPr>
          <a:xfrm>
            <a:off x="548640" y="1371600"/>
            <a:ext cx="2834640" cy="329184"/>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1" i="0">
                <a:solidFill>
                  <a:srgbClr val="FFFFFF"/>
                </a:solidFill>
                <a:latin typeface="Calibri"/>
              </a:rPr>
              <a:t>who / what arrives</a:t>
            </a:r>
          </a:p>
        </p:txBody>
      </p:sp>
      <p:sp>
        <p:nvSpPr>
          <p:cNvPr id="8" name="Rectangle 7"/>
          <p:cNvSpPr/>
          <p:nvPr/>
        </p:nvSpPr>
        <p:spPr>
          <a:xfrm>
            <a:off x="3383280" y="1371600"/>
            <a:ext cx="1920240" cy="329184"/>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1" i="0">
                <a:solidFill>
                  <a:srgbClr val="FFFFFF"/>
                </a:solidFill>
                <a:latin typeface="Calibri"/>
              </a:rPr>
              <a:t>outcome</a:t>
            </a:r>
          </a:p>
        </p:txBody>
      </p:sp>
      <p:sp>
        <p:nvSpPr>
          <p:cNvPr id="9" name="Rectangle 8"/>
          <p:cNvSpPr/>
          <p:nvPr/>
        </p:nvSpPr>
        <p:spPr>
          <a:xfrm>
            <a:off x="5303520" y="1371600"/>
            <a:ext cx="1920240" cy="329184"/>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1" i="0">
                <a:solidFill>
                  <a:srgbClr val="FFFFFF"/>
                </a:solidFill>
                <a:latin typeface="Calibri"/>
              </a:rPr>
              <a:t>status</a:t>
            </a:r>
          </a:p>
        </p:txBody>
      </p:sp>
      <p:sp>
        <p:nvSpPr>
          <p:cNvPr id="10" name="Rectangle 9"/>
          <p:cNvSpPr/>
          <p:nvPr/>
        </p:nvSpPr>
        <p:spPr>
          <a:xfrm>
            <a:off x="7223760" y="1371600"/>
            <a:ext cx="4480560" cy="329184"/>
          </a:xfrm>
          <a:prstGeom prst="rect">
            <a:avLst/>
          </a:prstGeom>
          <a:solidFill>
            <a:srgbClr val="14352C"/>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1" i="0">
                <a:solidFill>
                  <a:srgbClr val="FFFFFF"/>
                </a:solidFill>
                <a:latin typeface="Calibri"/>
              </a:rPr>
              <a:t>what we expect to see</a:t>
            </a:r>
          </a:p>
        </p:txBody>
      </p:sp>
      <p:sp>
        <p:nvSpPr>
          <p:cNvPr id="11" name="Rectangle 10"/>
          <p:cNvSpPr/>
          <p:nvPr/>
        </p:nvSpPr>
        <p:spPr>
          <a:xfrm>
            <a:off x="548640" y="1700784"/>
            <a:ext cx="2834640" cy="56692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Maria Nowak — GB tax resident, no card, no restriction</a:t>
            </a:r>
          </a:p>
        </p:txBody>
      </p:sp>
      <p:sp>
        <p:nvSpPr>
          <p:cNvPr id="12" name="Rectangle 11"/>
          <p:cNvSpPr/>
          <p:nvPr/>
        </p:nvSpPr>
        <p:spPr>
          <a:xfrm>
            <a:off x="3383280" y="1700784"/>
            <a:ext cx="1920240" cy="56692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APPROVED</a:t>
            </a:r>
          </a:p>
        </p:txBody>
      </p:sp>
      <p:sp>
        <p:nvSpPr>
          <p:cNvPr id="13" name="Rectangle 12"/>
          <p:cNvSpPr/>
          <p:nvPr/>
        </p:nvSpPr>
        <p:spPr>
          <a:xfrm>
            <a:off x="5303520" y="1700784"/>
            <a:ext cx="1920240" cy="56692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completed</a:t>
            </a:r>
          </a:p>
        </p:txBody>
      </p:sp>
      <p:sp>
        <p:nvSpPr>
          <p:cNvPr id="14" name="Rectangle 13"/>
          <p:cNvSpPr/>
          <p:nvPr/>
        </p:nvSpPr>
        <p:spPr>
          <a:xfrm>
            <a:off x="7223760" y="1700784"/>
            <a:ext cx="4480560" cy="56692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the happy path — one reason: POL_ALL_CHECKS_PASSED</a:t>
            </a:r>
          </a:p>
        </p:txBody>
      </p:sp>
      <p:sp>
        <p:nvSpPr>
          <p:cNvPr id="15" name="Rectangle 14"/>
          <p:cNvSpPr/>
          <p:nvPr/>
        </p:nvSpPr>
        <p:spPr>
          <a:xfrm>
            <a:off x="548640" y="2267712"/>
            <a:ext cx="2834640" cy="56692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Sofia Ruiz — tax resident GB AND US</a:t>
            </a:r>
          </a:p>
        </p:txBody>
      </p:sp>
      <p:sp>
        <p:nvSpPr>
          <p:cNvPr id="16" name="Rectangle 15"/>
          <p:cNvSpPr/>
          <p:nvPr/>
        </p:nvSpPr>
        <p:spPr>
          <a:xfrm>
            <a:off x="3383280" y="2267712"/>
            <a:ext cx="1920240" cy="56692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REJECTED</a:t>
            </a:r>
          </a:p>
        </p:txBody>
      </p:sp>
      <p:sp>
        <p:nvSpPr>
          <p:cNvPr id="17" name="Rectangle 16"/>
          <p:cNvSpPr/>
          <p:nvPr/>
        </p:nvSpPr>
        <p:spPr>
          <a:xfrm>
            <a:off x="5303520" y="2267712"/>
            <a:ext cx="1920240" cy="56692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rejected</a:t>
            </a:r>
          </a:p>
        </p:txBody>
      </p:sp>
      <p:sp>
        <p:nvSpPr>
          <p:cNvPr id="18" name="Rectangle 17"/>
          <p:cNvSpPr/>
          <p:nvPr/>
        </p:nvSpPr>
        <p:spPr>
          <a:xfrm>
            <a:off x="7223760" y="2267712"/>
            <a:ext cx="4480560" cy="56692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the exclusion wins over the supported residency — the classic first-attempt bug</a:t>
            </a:r>
          </a:p>
        </p:txBody>
      </p:sp>
      <p:sp>
        <p:nvSpPr>
          <p:cNvPr id="19" name="Rectangle 18"/>
          <p:cNvSpPr/>
          <p:nvPr/>
        </p:nvSpPr>
        <p:spPr>
          <a:xfrm>
            <a:off x="548640" y="2834640"/>
            <a:ext cx="2834640" cy="56692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James Whitfield — already holds one of the bank's cards</a:t>
            </a:r>
          </a:p>
        </p:txBody>
      </p:sp>
      <p:sp>
        <p:nvSpPr>
          <p:cNvPr id="20" name="Rectangle 19"/>
          <p:cNvSpPr/>
          <p:nvPr/>
        </p:nvSpPr>
        <p:spPr>
          <a:xfrm>
            <a:off x="3383280" y="2834640"/>
            <a:ext cx="1920240" cy="56692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REJECTED</a:t>
            </a:r>
          </a:p>
        </p:txBody>
      </p:sp>
      <p:sp>
        <p:nvSpPr>
          <p:cNvPr id="21" name="Rectangle 20"/>
          <p:cNvSpPr/>
          <p:nvPr/>
        </p:nvSpPr>
        <p:spPr>
          <a:xfrm>
            <a:off x="5303520" y="2834640"/>
            <a:ext cx="1920240" cy="56692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rejected</a:t>
            </a:r>
          </a:p>
        </p:txBody>
      </p:sp>
      <p:sp>
        <p:nvSpPr>
          <p:cNvPr id="22" name="Rectangle 21"/>
          <p:cNvSpPr/>
          <p:nvPr/>
        </p:nvSpPr>
        <p:spPr>
          <a:xfrm>
            <a:off x="7223760" y="2834640"/>
            <a:ext cx="4480560" cy="56692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the registry answers; policy, not module 7, is where one-card-per-customer lives</a:t>
            </a:r>
          </a:p>
        </p:txBody>
      </p:sp>
      <p:sp>
        <p:nvSpPr>
          <p:cNvPr id="23" name="Rectangle 22"/>
          <p:cNvSpPr/>
          <p:nvPr/>
        </p:nvSpPr>
        <p:spPr>
          <a:xfrm>
            <a:off x="548640" y="3401568"/>
            <a:ext cx="2834640" cy="56692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An applicant on the restriction list</a:t>
            </a:r>
          </a:p>
        </p:txBody>
      </p:sp>
      <p:sp>
        <p:nvSpPr>
          <p:cNvPr id="24" name="Rectangle 23"/>
          <p:cNvSpPr/>
          <p:nvPr/>
        </p:nvSpPr>
        <p:spPr>
          <a:xfrm>
            <a:off x="3383280" y="3401568"/>
            <a:ext cx="1920240" cy="56692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REJECTED</a:t>
            </a:r>
          </a:p>
        </p:txBody>
      </p:sp>
      <p:sp>
        <p:nvSpPr>
          <p:cNvPr id="25" name="Rectangle 24"/>
          <p:cNvSpPr/>
          <p:nvPr/>
        </p:nvSpPr>
        <p:spPr>
          <a:xfrm>
            <a:off x="5303520" y="3401568"/>
            <a:ext cx="1920240" cy="56692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rejected</a:t>
            </a:r>
          </a:p>
        </p:txBody>
      </p:sp>
      <p:sp>
        <p:nvSpPr>
          <p:cNvPr id="26" name="Rectangle 25"/>
          <p:cNvSpPr/>
          <p:nvPr/>
        </p:nvSpPr>
        <p:spPr>
          <a:xfrm>
            <a:off x="7223760" y="3401568"/>
            <a:ext cx="4480560" cy="56692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exact match on the bank's own data, reason preserved forever</a:t>
            </a:r>
          </a:p>
        </p:txBody>
      </p:sp>
      <p:sp>
        <p:nvSpPr>
          <p:cNvPr id="27" name="Rectangle 26"/>
          <p:cNvSpPr/>
          <p:nvPr/>
        </p:nvSpPr>
        <p:spPr>
          <a:xfrm>
            <a:off x="548640" y="3968496"/>
            <a:ext cx="2834640" cy="56692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The 7th application — all rules pass</a:t>
            </a:r>
          </a:p>
        </p:txBody>
      </p:sp>
      <p:sp>
        <p:nvSpPr>
          <p:cNvPr id="28" name="Rectangle 27"/>
          <p:cNvSpPr/>
          <p:nvPr/>
        </p:nvSpPr>
        <p:spPr>
          <a:xfrm>
            <a:off x="3383280" y="3968496"/>
            <a:ext cx="1920240" cy="56692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REFERRED</a:t>
            </a:r>
          </a:p>
        </p:txBody>
      </p:sp>
      <p:sp>
        <p:nvSpPr>
          <p:cNvPr id="29" name="Rectangle 28"/>
          <p:cNvSpPr/>
          <p:nvPr/>
        </p:nvSpPr>
        <p:spPr>
          <a:xfrm>
            <a:off x="5303520" y="3968496"/>
            <a:ext cx="1920240" cy="56692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application-manual</a:t>
            </a:r>
          </a:p>
        </p:txBody>
      </p:sp>
      <p:sp>
        <p:nvSpPr>
          <p:cNvPr id="30" name="Rectangle 29"/>
          <p:cNvSpPr/>
          <p:nvPr/>
        </p:nvSpPr>
        <p:spPr>
          <a:xfrm>
            <a:off x="7223760" y="3968496"/>
            <a:ext cx="4480560" cy="56692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sampling outranks the rules; the reviewer sees the machine's APPROVED and confirms it</a:t>
            </a:r>
          </a:p>
        </p:txBody>
      </p:sp>
      <p:sp>
        <p:nvSpPr>
          <p:cNvPr id="31" name="Rectangle 30"/>
          <p:cNvSpPr/>
          <p:nvPr/>
        </p:nvSpPr>
        <p:spPr>
          <a:xfrm>
            <a:off x="548640" y="4535424"/>
            <a:ext cx="2834640" cy="56692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The registry does not answer</a:t>
            </a:r>
          </a:p>
        </p:txBody>
      </p:sp>
      <p:sp>
        <p:nvSpPr>
          <p:cNvPr id="32" name="Rectangle 31"/>
          <p:cNvSpPr/>
          <p:nvPr/>
        </p:nvSpPr>
        <p:spPr>
          <a:xfrm>
            <a:off x="3383280" y="4535424"/>
            <a:ext cx="1920240" cy="56692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REFERRED</a:t>
            </a:r>
          </a:p>
        </p:txBody>
      </p:sp>
      <p:sp>
        <p:nvSpPr>
          <p:cNvPr id="33" name="Rectangle 32"/>
          <p:cNvSpPr/>
          <p:nvPr/>
        </p:nvSpPr>
        <p:spPr>
          <a:xfrm>
            <a:off x="5303520" y="4535424"/>
            <a:ext cx="1920240" cy="56692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application-manual</a:t>
            </a:r>
          </a:p>
        </p:txBody>
      </p:sp>
      <p:sp>
        <p:nvSpPr>
          <p:cNvPr id="34" name="Rectangle 33"/>
          <p:cNvSpPr/>
          <p:nvPr/>
        </p:nvSpPr>
        <p:spPr>
          <a:xfrm>
            <a:off x="7223760" y="4535424"/>
            <a:ext cx="4480560" cy="566928"/>
          </a:xfrm>
          <a:prstGeom prst="rect">
            <a:avLst/>
          </a:prstGeom>
          <a:solidFill>
            <a:srgbClr val="ECF6F1"/>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a person decides — the module never guesses</a:t>
            </a:r>
          </a:p>
        </p:txBody>
      </p:sp>
      <p:sp>
        <p:nvSpPr>
          <p:cNvPr id="35" name="Rectangle 34"/>
          <p:cNvSpPr/>
          <p:nvPr/>
        </p:nvSpPr>
        <p:spPr>
          <a:xfrm>
            <a:off x="548640" y="5102352"/>
            <a:ext cx="2834640" cy="56692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A reviewer decides a referred case</a:t>
            </a:r>
          </a:p>
        </p:txBody>
      </p:sp>
      <p:sp>
        <p:nvSpPr>
          <p:cNvPr id="36" name="Rectangle 35"/>
          <p:cNvSpPr/>
          <p:nvPr/>
        </p:nvSpPr>
        <p:spPr>
          <a:xfrm>
            <a:off x="3383280" y="5102352"/>
            <a:ext cx="1920240" cy="56692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(changes)</a:t>
            </a:r>
          </a:p>
        </p:txBody>
      </p:sp>
      <p:sp>
        <p:nvSpPr>
          <p:cNvPr id="37" name="Rectangle 36"/>
          <p:cNvSpPr/>
          <p:nvPr/>
        </p:nvSpPr>
        <p:spPr>
          <a:xfrm>
            <a:off x="5303520" y="5102352"/>
            <a:ext cx="1920240" cy="56692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local-manual</a:t>
            </a:r>
          </a:p>
        </p:txBody>
      </p:sp>
      <p:sp>
        <p:nvSpPr>
          <p:cNvPr id="38" name="Rectangle 37"/>
          <p:cNvSpPr/>
          <p:nvPr/>
        </p:nvSpPr>
        <p:spPr>
          <a:xfrm>
            <a:off x="7223760" y="5102352"/>
            <a:ext cx="4480560" cy="566928"/>
          </a:xfrm>
          <a:prstGeom prst="rect">
            <a:avLst/>
          </a:prstGeom>
          <a:solidFill>
            <a:srgbClr val="FFFFFF"/>
          </a:solidFill>
          <a:ln w="6350">
            <a:solidFill>
              <a:srgbClr val="D5E9E0"/>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18288" bIns="18288" wrap="square"/>
          <a:lstStyle/>
          <a:p>
            <a:pPr algn="l">
              <a:lnSpc>
                <a:spcPct val="100000"/>
              </a:lnSpc>
            </a:pPr>
            <a:r>
              <a:rPr sz="1100" b="0" i="0">
                <a:solidFill>
                  <a:srgbClr val="22302B"/>
                </a:solidFill>
                <a:latin typeface="Calibri"/>
              </a:rPr>
              <a:t>reason + who + when survive forever; the journey resumes</a:t>
            </a:r>
          </a:p>
        </p:txBody>
      </p:sp>
      <p:sp>
        <p:nvSpPr>
          <p:cNvPr id="39" name="TextBox 38"/>
          <p:cNvSpPr txBox="1"/>
          <p:nvPr/>
        </p:nvSpPr>
        <p:spPr>
          <a:xfrm>
            <a:off x="548640" y="5623560"/>
            <a:ext cx="11064240" cy="640080"/>
          </a:xfrm>
          <a:prstGeom prst="rect">
            <a:avLst/>
          </a:prstGeom>
          <a:noFill/>
        </p:spPr>
        <p:txBody>
          <a:bodyPr wrap="square" lIns="0" rIns="0" tIns="0" bIns="0">
            <a:spAutoFit/>
          </a:bodyPr>
          <a:lstStyle/>
          <a:p>
            <a:pPr algn="l">
              <a:lnSpc>
                <a:spcPct val="100000"/>
              </a:lnSpc>
            </a:pPr>
            <a:r>
              <a:rPr sz="1150" b="0" i="0">
                <a:solidFill>
                  <a:srgbClr val="22302B"/>
                </a:solidFill>
                <a:latin typeface="Calibri"/>
              </a:rPr>
              <a:t>The locked reason codes for your domain: POL_ALL_CHECKS_PASSED · POL_EXISTING_PRODUCT_HELD · POL_TAX_RESIDENCY_UNSUPPORTED · POL_TAX_RESIDENCY_EXCLUDED · POL_CUSTOMER_BLOCKED · POL_MANUAL_APPROVED · POL_MANUAL_DECLINED. </a:t>
            </a:r>
            <a:r>
              <a:rPr sz="1150" b="1" i="0">
                <a:solidFill>
                  <a:srgbClr val="22302B"/>
                </a:solidFill>
                <a:latin typeface="Calibri"/>
              </a:rPr>
              <a:t>Read that list against the examples above very carefully.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3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6304"/>
            <a:ext cx="9326880" cy="274320"/>
          </a:xfrm>
          <a:prstGeom prst="rect">
            <a:avLst/>
          </a:prstGeom>
          <a:noFill/>
        </p:spPr>
        <p:txBody>
          <a:bodyPr wrap="square" lIns="0" rIns="0" tIns="0" bIns="0">
            <a:spAutoFit/>
          </a:bodyPr>
          <a:lstStyle/>
          <a:p>
            <a:pPr algn="l">
              <a:lnSpc>
                <a:spcPct val="100000"/>
              </a:lnSpc>
            </a:pPr>
            <a:r>
              <a:rPr sz="1200" b="1" i="0">
                <a:solidFill>
                  <a:srgbClr val="94A9A1"/>
                </a:solidFill>
                <a:latin typeface="Calibri"/>
              </a:rPr>
              <a:t>MODULE 02</a:t>
            </a:r>
          </a:p>
        </p:txBody>
      </p:sp>
      <p:sp>
        <p:nvSpPr>
          <p:cNvPr id="4" name="TextBox 3"/>
          <p:cNvSpPr txBox="1"/>
          <p:nvPr/>
        </p:nvSpPr>
        <p:spPr>
          <a:xfrm>
            <a:off x="548640" y="402336"/>
            <a:ext cx="9326880" cy="548640"/>
          </a:xfrm>
          <a:prstGeom prst="rect">
            <a:avLst/>
          </a:prstGeom>
          <a:noFill/>
        </p:spPr>
        <p:txBody>
          <a:bodyPr wrap="square" lIns="0" rIns="0" tIns="0" bIns="0">
            <a:spAutoFit/>
          </a:bodyPr>
          <a:lstStyle/>
          <a:p>
            <a:pPr algn="l">
              <a:lnSpc>
                <a:spcPct val="100000"/>
              </a:lnSpc>
            </a:pPr>
            <a:r>
              <a:rPr sz="2800" b="1" i="0">
                <a:solidFill>
                  <a:srgbClr val="FFFFFF"/>
                </a:solidFill>
                <a:latin typeface="Calibri"/>
              </a:rPr>
              <a:t>Manual review — a specialist decides</a:t>
            </a:r>
          </a:p>
        </p:txBody>
      </p:sp>
      <p:sp>
        <p:nvSpPr>
          <p:cNvPr id="5" name="Rectangle 4"/>
          <p:cNvSpPr/>
          <p:nvPr/>
        </p:nvSpPr>
        <p:spPr>
          <a:xfrm>
            <a:off x="10607040" y="320040"/>
            <a:ext cx="1371600" cy="411480"/>
          </a:xfrm>
          <a:prstGeom prst="rect">
            <a:avLst/>
          </a:prstGeom>
          <a:solidFill>
            <a:srgbClr val="2EA98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lnSpc>
                <a:spcPct val="100000"/>
              </a:lnSpc>
            </a:pPr>
            <a:r>
              <a:rPr sz="1300" b="1" i="0">
                <a:solidFill>
                  <a:srgbClr val="FFFFFF"/>
                </a:solidFill>
                <a:latin typeface="Calibri"/>
              </a:rPr>
              <a:t>Rule</a:t>
            </a:r>
          </a:p>
        </p:txBody>
      </p:sp>
      <p:sp>
        <p:nvSpPr>
          <p:cNvPr id="6" name="TextBox 5"/>
          <p:cNvSpPr txBox="1"/>
          <p:nvPr/>
        </p:nvSpPr>
        <p:spPr>
          <a:xfrm>
            <a:off x="548640" y="6510528"/>
            <a:ext cx="11064240" cy="274320"/>
          </a:xfrm>
          <a:prstGeom prst="rect">
            <a:avLst/>
          </a:prstGeom>
          <a:noFill/>
        </p:spPr>
        <p:txBody>
          <a:bodyPr wrap="square" lIns="0" rIns="0" tIns="0" bIns="0">
            <a:spAutoFit/>
          </a:bodyPr>
          <a:lstStyle/>
          <a:p>
            <a:pPr algn="l">
              <a:lnSpc>
                <a:spcPct val="100000"/>
              </a:lnSpc>
            </a:pPr>
            <a:r>
              <a:rPr sz="1000" b="0" i="0">
                <a:solidFill>
                  <a:srgbClr val="94A9A1"/>
                </a:solidFill>
                <a:latin typeface="Calibri"/>
              </a:rPr>
              <a:t>Customer Policy — in: a rule lands on REFERRED, or every X-th forced sample · the specialist sees the workings and makes only the final call · out: local-manual resumes, application-manual REFERS</a:t>
            </a:r>
          </a:p>
        </p:txBody>
      </p:sp>
      <p:pic>
        <p:nvPicPr>
          <p:cNvPr id="7" name="Picture 6" descr="review-m02.png"/>
          <p:cNvPicPr>
            <a:picLocks noChangeAspect="1"/>
          </p:cNvPicPr>
          <p:nvPr/>
        </p:nvPicPr>
        <p:blipFill>
          <a:blip r:embed="rId2"/>
          <a:stretch>
            <a:fillRect/>
          </a:stretch>
        </p:blipFill>
        <p:spPr>
          <a:xfrm>
            <a:off x="640080" y="2514600"/>
            <a:ext cx="10881360" cy="23149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