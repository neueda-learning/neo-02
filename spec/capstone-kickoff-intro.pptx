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notesMasterIdLst>
    <p:notesMasterId r:id="rId5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notesMaster" Target="notesMasters/notesMaster1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Welcome everyone, high energy. This is the capstone kickoff for the whole group.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topic has been used since the very start of these trainings, in every location in the world.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seeing how well this group uses AI tools, we decided to make a revolutionary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Instead of everybody building the same thing, each team receives a designated project that fits into a bigger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Managers no longer sit a full day listening to the same project ten times.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real functioning customer journey of a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Raise the bar from team to organisation: last week individual progress didn't count — the team did. This week the unit is all ten teams together. One team behind = everyone helps.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Plenty of mocking, but the core of the journey genuinely works end to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Entire platform deployed on AWS, real GitHub pipeline — exactly like their future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Callback to the Airplane Factory game from week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Agree on the model, review requirements, shared understanding — ONLY THEN we start building.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Quantity without quality impresses no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Commitment means delivery. Predictability beats volume.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help each other, even cross-team.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Publish issues on the channel so others see them and we don't answer the same question multiple times. Cross-team help is expected.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teams, 10 GitHub repositories, 1 OneDrive document for collaboration, Microsoft Teams for communication.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9am all-hands status, 11am coordinators, 2pm coordinators, 5pm all-hands status. Check-ins with coordinators 4 times per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Coordinator gives status updates, DevOps handles Docker/AWS/MySQL/CI-CD/GitHub, presentation owner takes care of slides and gets instructor input.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place for questions, blockers, announcements, status and files. Task 0: everyone joins the Teams community. Task 1: fill in the action tracker.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sit on a blocker. 30 minutes, then raise it on the channel.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set of use cases per iteration — like the airplanes: small committed batches.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Branch from main, develop one use case, test thoroughly, merge. The pipeline re-runs the tests, builds the Docker image, auto-deploys to DEV and updates the DEV DB via Liquibase. A manual approval promotes to PROD — same procedure. Don't pile up versions between DEV and PROD.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 0: everyone checks out and runs locally. Task 1: one executes, others observe — branch, change, merge, dev, prod. Task 2: everyone does it; sequence prod deploys.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story of your sub-system and what it does for the customer journey — not a tech showcase.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team; role of your sub-system; technology (mocked, built, test coverage); supported use cases; slim process overview; live demo up to 3 flows based on acceptance criteria. Similar (not identical) template for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IKEA approach — we prepared the parts, the craft of assembly is theirs.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identified the problem and provided the inputs engineers would usually get from BA / PM / risk / solutions architect.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fully functioning organisation of 40+ people working in harmony.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into the platform overview — what the ten projects add up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product is a credit card. The journey runs from application to an active card account with an approved limit, and a physical card in the post.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system flow: the orchestrator is instructor-owned, the only entry point and the only caller. Modules 1-8 all serve the same processApplication contract (202 + callback). 9 is invoked with a Ticket (open-case), 10 is never invoked — it reads the journey feed. Each integration module (3, 6, 7, 8) builds and ships its own mock; module 6 also serves the contract PDF and hosts signing.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1-8: the same processApplication envelope. 6: additionally serves the agreement PDF + signature-events. 9: a Ticket (open-case). 10: nothing — it polls the applications read API. All locked in api-contract.md.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00 walkthrough — Apply for a product (screen 1 of 6). Customer fills the one form — no module ever collects data itself. Submit: the Application is stored, journey RECEIVED, reference app-1234 returned. The saga engine dispatches step 1 — verify-application — immediately.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00 walkthrough — Journey board (screen 2 of 6). The board reads the orchestrator's own schema — applications + journey events, no hydration calls. Every dispatch, 202 and callback appends an event; rows update live as the saga walks 1→8. A terminal state colours the outcome pill — COMPLETED · REFERRED · REJECTED.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00 walkthrough — Journey detail + events (screen 3 of 6). Every step runs the same wire: dispatch → 202 Accepted → off-thread decision → callback. Each callback advances the state machine and lands in the events feed — “my module never called back” shows up here first. Outputs grow after steps 5–8 (limit/APR · agreementId · accountId · cardId); later steps read them from the envelope.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00 walkthrough — Customer registry (screen 4 of 6). The journey reaches COMPLETED — only then is the customer appended and the customerId minted. The journey-completed notification writes the cardId back, so the account record links here. Every LATER application meets this list at step 2 — the one-card-per-customer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00 walkthrough — Signing page (screen 5 of 6). request-signature makes the agreement PENDING — the journey parks and waits. The PDF is fetched from module 6 and proxied server-side — no CORS, no direct module access. SIGN / DECLINE posts a signature-event — idempotent, accepted only from PENDING. Module 6 calls back → the journey resumes with step 7, open-card-account.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00 walkthrough — My agreement (screen 6 of 6). Available from the moment the document exists — and forever, even after the journey ends. Always the byte-identical stored PDF, never a regeneration — years later you can prove what was signed. Buttons follow state: PENDING → sign / decline · SIGNED → download only · DECLINED / EXPIRED → view + status.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Inside each box — 01 Application Verification · 02 Customer Policy. Same anatomy for every module: intake API, internal rules/integration, versioned config, own MySQL schema, and (for integration modules) the mocked downstream dependency.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Inside each box — 03 Identity (KYC) · 04 Fraud &amp; AML Screening. Same anatomy for every module: intake API, internal rules/integration, versioned config, own MySQL schema, and (for integration modules) the mocked downstream dependency.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Inside each box — 05 Credit Decisioning · 06 Agreement Mgmt. Same anatomy for every module: intake API, internal rules/integration, versioned config, own MySQL schema, and (for integration modules) the mocked downstream dependency.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Inside each box — 07 Card Account Setup · 08 Card Issuing. Same anatomy for every module: intake API, internal rules/integration, versioned config, own MySQL schema, and (for integration modules) the mocked downstream dependency.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Inside each box — 09 Customer Support · 10 Portfolio &amp; Reg. Analytics. Same anatomy for every module: intake API, internal rules/integration, versioned config, own MySQL schema, and (for integration modules) the mocked downstream dependency.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Manual review, modules 02-05 only. Engine decides first and stores its workings; queue fills via rule triggers or every X-th sampled case; specialist makes only the final call; local-manual resumes, application-manual refers.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sidecar: a team never needs the other nine modules. The simulator speaks the locked contract; go-live = point the base URL at the real module 00 and pass the contract self-check.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designated projects, ten repos — every one a sub-system of the same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neo-mock runs the full journey end to end (python3 run.py). The mock is the spec: the platform works before any team writes a line, and each team swaps in their real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week we united all the elements used throughout the course into a base template repository: Spring backend, React frontend, MySQL, Liquibase, Docker, docker-compose, GitHub Actions CI/CD, tests. Emulates a real working environment.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over to team assignments / the detailed overview deck (neo-capstone-overview.pptx) as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NEUEDA · CAPSTONE 2026 · KICKOFF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737360"/>
            <a:ext cx="10607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 Bank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685800" y="44348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 Brief · 项目简报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58978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Monday, 27 July 2026 · 2026年7月27日 星期一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CHANGE · 改变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106070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year until now, every team — in every location in the world — built the same capstone project.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85800" y="452628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直到今年，世界各地的每一个团队，做的都是同一个毕业项目。</a:t>
            </a:r>
            <a:endParaRPr lang="en-US" sz="2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CHANGE · 改变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106070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was the plan for you too — until we saw how good you are with AI.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452628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原本你们也是这样安排的——直到我们看到你们运用 AI 工具的实力。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CHANGE · 改变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106070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we made a revolutionary change: each team gets its own project — and every project is a piece of one bigger platform.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452628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于是我们做了一个革命性的改变：每个团队有自己的项目——所有项目共同组成一个更大的平台。</a:t>
            </a:r>
            <a:endParaRPr lang="en-US" sz="2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CHANGE · 改变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106070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more ten identical demos — your managers will watch one story, told by ten teams.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85800" y="452628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不再是十场一模一样的演示——你们的经理将看到由十个团队共同讲述的一个故事。</a:t>
            </a:r>
            <a:endParaRPr lang="en-US" sz="2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BUILD · 我们要做什么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106070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 we will build a real, working customer journey of a bank.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452628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我们将一起构建一个真实可运行的银行客户旅程。</a:t>
            </a: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 · 这一周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106070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week we said individual progress doesn't count. This week it is all ten teams — done or not done as one organisation; if one team is behind, we all help.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452628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上周我们说过：个人进度不算数。这一周是全部十个团队——作为一个组织，要么一起完成，要么都没完成；哪支队伍落后，大家一起帮。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BUILD · 我们要做什么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106070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will mock a lot of things — but the core will be real.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452628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很多环节会用模拟实现——但核心是真实的。</a:t>
            </a:r>
            <a:endParaRPr lang="en-US" sz="2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BUILD · 我们要做什么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106070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runs on AWS and ships through a real GitHub pipeline — just like it will in your job.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85800" y="452628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平台部署在 AWS 上，通过真实的 GitHub 流水线发布——和你未来的工作完全一样。</a:t>
            </a:r>
            <a:endParaRPr lang="en-US" sz="2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C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8A6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ONE · 第一课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106070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the airplanes.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85800" y="452628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记住纸飞机。</a:t>
            </a:r>
            <a:endParaRPr lang="en-US" sz="2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THE AIRPLANES · 纸飞机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106070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we agree on the model plane, and everyone understands the requirements — only then do we start building.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85800" y="452628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先就飞机模型达成一致、每个人都理解需求——然后才开始制造。</a:t>
            </a:r>
            <a:endParaRPr lang="en-US" sz="2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THE AIRPLANES · 纸飞机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106070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is impressed by 25 planes when only 14 of them fly.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452628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造出25架飞机、却只有14架能飞——没有人会为此喝彩。</a:t>
            </a:r>
            <a:endParaRPr lang="en-US" sz="2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THE AIRPLANES · 纸飞机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106070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we say 12, then 12 out of 12 reach the destination — otherwise we commit to less.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85800" y="452628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如果我们承诺12架，就要12架全部抵达目的地——做不到，就承诺得更少。</a:t>
            </a:r>
            <a:endParaRPr lang="en-US" sz="2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C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8A6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WORK · 工作方式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106070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is key.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85800" y="452628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沟通是关键。</a:t>
            </a:r>
            <a:endParaRPr lang="en-US" sz="2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WORK · 工作方式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106070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problem — infra, AWS, CI/CD, Git, Java — goes on the shared channel, so one answer helps all ten teams.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85800" y="452628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任何问题——基础设施、AWS、CI/CD、Git、Java——都发到公共频道：一次解答，十个团队受益。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WORK · 工作方式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setup</a:t>
            </a:r>
            <a:pPr algn="l" indent="0" marL="0">
              <a:buNone/>
            </a:pPr>
            <a:r>
              <a:rPr lang="en-US" sz="2000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组织方式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85800" y="210312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1A1F29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23317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914400" y="34747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42976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十个团队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575304" y="210312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1A1F29"/>
          </a:solidFill>
          <a:ln/>
        </p:spPr>
      </p:sp>
      <p:sp>
        <p:nvSpPr>
          <p:cNvPr id="10" name="Text 7"/>
          <p:cNvSpPr/>
          <p:nvPr/>
        </p:nvSpPr>
        <p:spPr>
          <a:xfrm>
            <a:off x="3803904" y="23317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6000" dirty="0"/>
          </a:p>
        </p:txBody>
      </p:sp>
      <p:sp>
        <p:nvSpPr>
          <p:cNvPr id="11" name="Text 8"/>
          <p:cNvSpPr/>
          <p:nvPr/>
        </p:nvSpPr>
        <p:spPr>
          <a:xfrm>
            <a:off x="3803904" y="34747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repositories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803904" y="42976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十个代码仓库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464808" y="210312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1A1F29"/>
          </a:solidFill>
          <a:ln/>
        </p:spPr>
      </p:sp>
      <p:sp>
        <p:nvSpPr>
          <p:cNvPr id="14" name="Text 11"/>
          <p:cNvSpPr/>
          <p:nvPr/>
        </p:nvSpPr>
        <p:spPr>
          <a:xfrm>
            <a:off x="6693408" y="23317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0" dirty="0"/>
          </a:p>
        </p:txBody>
      </p:sp>
      <p:sp>
        <p:nvSpPr>
          <p:cNvPr id="15" name="Text 12"/>
          <p:cNvSpPr/>
          <p:nvPr/>
        </p:nvSpPr>
        <p:spPr>
          <a:xfrm>
            <a:off x="6693408" y="34747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OneDrive document for collaboration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693408" y="42976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一份 OneDrive 协作文档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9354312" y="210312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1A1F29"/>
          </a:solidFill>
          <a:ln/>
        </p:spPr>
      </p:sp>
      <p:sp>
        <p:nvSpPr>
          <p:cNvPr id="18" name="Text 15"/>
          <p:cNvSpPr/>
          <p:nvPr/>
        </p:nvSpPr>
        <p:spPr>
          <a:xfrm>
            <a:off x="9582912" y="23317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0" dirty="0"/>
          </a:p>
        </p:txBody>
      </p:sp>
      <p:sp>
        <p:nvSpPr>
          <p:cNvPr id="19" name="Text 16"/>
          <p:cNvSpPr/>
          <p:nvPr/>
        </p:nvSpPr>
        <p:spPr>
          <a:xfrm>
            <a:off x="9582912" y="34747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community for all communication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9582912" y="42976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所有沟通都在一个 Teams 社区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85800" y="53492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One team = one repository = one sub-system of the platform. · 一个团队 = 一个仓库 = 平台的一个子系统。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WORK · 工作方式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daily rhythm</a:t>
            </a:r>
            <a:pPr algn="l" indent="0" marL="0">
              <a:buNone/>
            </a:pPr>
            <a:r>
              <a:rPr lang="en-US" sz="2000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每日节奏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85800" y="210312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1A1F29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23317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09:00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914400" y="32004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All-hands — status update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全员状态会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575304" y="210312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1A1F29"/>
          </a:solidFill>
          <a:ln/>
        </p:spPr>
      </p:sp>
      <p:sp>
        <p:nvSpPr>
          <p:cNvPr id="10" name="Text 7"/>
          <p:cNvSpPr/>
          <p:nvPr/>
        </p:nvSpPr>
        <p:spPr>
          <a:xfrm>
            <a:off x="3803904" y="23317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11:00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3803904" y="32004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Coordinators check-in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803904" y="39776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协调人碰头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464808" y="210312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1A1F29"/>
          </a:solidFill>
          <a:ln/>
        </p:spPr>
      </p:sp>
      <p:sp>
        <p:nvSpPr>
          <p:cNvPr id="14" name="Text 11"/>
          <p:cNvSpPr/>
          <p:nvPr/>
        </p:nvSpPr>
        <p:spPr>
          <a:xfrm>
            <a:off x="6693408" y="23317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14:00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6693408" y="32004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Coordinators check-in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693408" y="39776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协调人碰头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9354312" y="210312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1A1F29"/>
          </a:solidFill>
          <a:ln/>
        </p:spPr>
      </p:sp>
      <p:sp>
        <p:nvSpPr>
          <p:cNvPr id="18" name="Text 15"/>
          <p:cNvSpPr/>
          <p:nvPr/>
        </p:nvSpPr>
        <p:spPr>
          <a:xfrm>
            <a:off x="9582912" y="23317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17:00</a:t>
            </a:r>
            <a:endParaRPr lang="en-US" sz="3800" dirty="0"/>
          </a:p>
        </p:txBody>
      </p:sp>
      <p:sp>
        <p:nvSpPr>
          <p:cNvPr id="19" name="Text 16"/>
          <p:cNvSpPr/>
          <p:nvPr/>
        </p:nvSpPr>
        <p:spPr>
          <a:xfrm>
            <a:off x="9582912" y="32004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All-hands — status update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9582912" y="39776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全员状态会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85800" y="4983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Four fixed touchpoints per day — everything else is asynchronous on Teams. · 每天四个固定节点，其余时间在 Teams 异步沟通。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WORK · 工作方式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roles in every team</a:t>
            </a:r>
            <a:pPr algn="l" indent="0" marL="0">
              <a:buNone/>
            </a:pPr>
            <a:r>
              <a:rPr lang="en-US" sz="2000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每队三个角色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85800" y="2103120"/>
            <a:ext cx="3566160" cy="3200400"/>
          </a:xfrm>
          <a:prstGeom prst="roundRect">
            <a:avLst>
              <a:gd name="adj" fmla="val 2286"/>
            </a:avLst>
          </a:prstGeom>
          <a:solidFill>
            <a:srgbClr val="1A1F29"/>
          </a:solidFill>
          <a:ln/>
        </p:spPr>
      </p:sp>
      <p:sp>
        <p:nvSpPr>
          <p:cNvPr id="6" name="Text 3"/>
          <p:cNvSpPr/>
          <p:nvPr/>
        </p:nvSpPr>
        <p:spPr>
          <a:xfrm>
            <a:off x="941832" y="2359152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Coordinator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941832" y="285292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协调人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41832" y="3429000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Speaks for the team at every status meeting.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41832" y="4434840"/>
            <a:ext cx="3054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在每次状态会上代表团队汇报进展。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0" y="2103120"/>
            <a:ext cx="3566160" cy="3200400"/>
          </a:xfrm>
          <a:prstGeom prst="roundRect">
            <a:avLst>
              <a:gd name="adj" fmla="val 2286"/>
            </a:avLst>
          </a:prstGeom>
          <a:solidFill>
            <a:srgbClr val="1A1F29"/>
          </a:solidFill>
          <a:ln/>
        </p:spPr>
      </p:sp>
      <p:sp>
        <p:nvSpPr>
          <p:cNvPr id="11" name="Text 8"/>
          <p:cNvSpPr/>
          <p:nvPr/>
        </p:nvSpPr>
        <p:spPr>
          <a:xfrm>
            <a:off x="4828032" y="2359152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4828032" y="285292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运维负责人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828032" y="3429000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responder for Docker, AWS, MySQL, CI/CD and GitHub issues.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828032" y="4434840"/>
            <a:ext cx="3054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负责处理 Docker、AWS、MySQL、CI/CD 和 GitHub 的问题。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458200" y="2103120"/>
            <a:ext cx="3566160" cy="3200400"/>
          </a:xfrm>
          <a:prstGeom prst="roundRect">
            <a:avLst>
              <a:gd name="adj" fmla="val 2286"/>
            </a:avLst>
          </a:prstGeom>
          <a:solidFill>
            <a:srgbClr val="1A1F29"/>
          </a:solidFill>
          <a:ln/>
        </p:spPr>
      </p:sp>
      <p:sp>
        <p:nvSpPr>
          <p:cNvPr id="16" name="Text 13"/>
          <p:cNvSpPr/>
          <p:nvPr/>
        </p:nvSpPr>
        <p:spPr>
          <a:xfrm>
            <a:off x="8714232" y="2359152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8714232" y="285292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演示负责人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714232" y="3429000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 the slides — and brings them to us early for input.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714232" y="4434840"/>
            <a:ext cx="3054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负责演示文稿，并尽早请讲师提出反馈。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85800" y="56235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Everyone codes — these are responsibilities on top, not job titles. · 每个人都要写代码——这些是附加职责，不是头衔。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WORK · 工作方式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comms go on Microsoft Teams</a:t>
            </a:r>
            <a:pPr algn="l" indent="0" marL="0">
              <a:buNone/>
            </a:pPr>
            <a:r>
              <a:rPr lang="en-US" sz="2000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所有沟通都在 Microsoft Teams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85800" y="1691640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Questions, blockers, announcements, status, files — one place, and everyone sees it. · 提问、卡点、通知、状态、文件——都在同一个地方，所有人都能看到。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85800" y="2697480"/>
            <a:ext cx="10817352" cy="1234440"/>
          </a:xfrm>
          <a:prstGeom prst="roundRect">
            <a:avLst>
              <a:gd name="adj" fmla="val 5926"/>
            </a:avLst>
          </a:prstGeom>
          <a:solidFill>
            <a:srgbClr val="1A1F29"/>
          </a:solidFill>
          <a:ln/>
        </p:spPr>
      </p:sp>
      <p:sp>
        <p:nvSpPr>
          <p:cNvPr id="7" name="Text 4"/>
          <p:cNvSpPr/>
          <p:nvPr/>
        </p:nvSpPr>
        <p:spPr>
          <a:xfrm>
            <a:off x="960120" y="283464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0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2697480" y="2825496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joins the Teams community — right now, before anything else.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2697480" y="342900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每个人现在就加入 Teams 社区——先做这件事。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85800" y="4206240"/>
            <a:ext cx="10817352" cy="1234440"/>
          </a:xfrm>
          <a:prstGeom prst="roundRect">
            <a:avLst>
              <a:gd name="adj" fmla="val 5926"/>
            </a:avLst>
          </a:prstGeom>
          <a:solidFill>
            <a:srgbClr val="1A1F29"/>
          </a:solidFill>
          <a:ln/>
        </p:spPr>
      </p:sp>
      <p:sp>
        <p:nvSpPr>
          <p:cNvPr id="11" name="Text 8"/>
          <p:cNvSpPr/>
          <p:nvPr/>
        </p:nvSpPr>
        <p:spPr>
          <a:xfrm>
            <a:off x="960120" y="434340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2697480" y="4334256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in the action tracker — team name, members, roles and your links.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2697480" y="493776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填写行动跟踪表——团队名称、成员、角色和相关链接。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85800" y="580644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Done with both? Then you exist. · 两件都完成，你们才算正式上场。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WORK · 工作方式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106070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for 30 minutes — if it doesn't work, ask for help: time is our enemy.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452628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先自己尝试30分钟——不行就求助：时间是我们的敌人。</a:t>
            </a:r>
            <a:endParaRPr lang="en-US" sz="2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 · 项目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106070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implement one set of use cases at a time.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5800" y="452628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我们一次只实现一组用例。</a:t>
            </a:r>
            <a:endParaRPr lang="en-US" sz="2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 · 项目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branch to production — the flow</a:t>
            </a:r>
            <a:pPr algn="l" indent="0" marL="0">
              <a:buNone/>
            </a:pPr>
            <a:r>
              <a:rPr lang="en-US" sz="2000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从分支到生产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85800" y="157276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YOU · 你们的循环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685800" y="1847088"/>
            <a:ext cx="2532888" cy="914400"/>
          </a:xfrm>
          <a:prstGeom prst="roundRect">
            <a:avLst>
              <a:gd name="adj" fmla="val 7000"/>
            </a:avLst>
          </a:prstGeom>
          <a:solidFill>
            <a:srgbClr val="1A1F29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1975104"/>
            <a:ext cx="2167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from main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2377440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main 拉分支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182112" y="2066544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447288" y="1847088"/>
            <a:ext cx="2532888" cy="914400"/>
          </a:xfrm>
          <a:prstGeom prst="roundRect">
            <a:avLst>
              <a:gd name="adj" fmla="val 7000"/>
            </a:avLst>
          </a:prstGeom>
          <a:solidFill>
            <a:srgbClr val="1A1F29"/>
          </a:solidFill>
          <a:ln/>
        </p:spPr>
      </p:sp>
      <p:sp>
        <p:nvSpPr>
          <p:cNvPr id="11" name="Text 8"/>
          <p:cNvSpPr/>
          <p:nvPr/>
        </p:nvSpPr>
        <p:spPr>
          <a:xfrm>
            <a:off x="3630168" y="1975104"/>
            <a:ext cx="2167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a use case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630168" y="2377440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开发一个用例（功能）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943600" y="2066544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208776" y="1847088"/>
            <a:ext cx="2532888" cy="914400"/>
          </a:xfrm>
          <a:prstGeom prst="roundRect">
            <a:avLst>
              <a:gd name="adj" fmla="val 7000"/>
            </a:avLst>
          </a:prstGeom>
          <a:solidFill>
            <a:srgbClr val="1A1F29"/>
          </a:solidFill>
          <a:ln/>
        </p:spPr>
      </p:sp>
      <p:sp>
        <p:nvSpPr>
          <p:cNvPr id="15" name="Text 12"/>
          <p:cNvSpPr/>
          <p:nvPr/>
        </p:nvSpPr>
        <p:spPr>
          <a:xfrm>
            <a:off x="6391656" y="1975104"/>
            <a:ext cx="2167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it thoroughly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391656" y="2377440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自己先充分测试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705088" y="2066544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8970264" y="1847088"/>
            <a:ext cx="2532888" cy="914400"/>
          </a:xfrm>
          <a:prstGeom prst="roundRect">
            <a:avLst>
              <a:gd name="adj" fmla="val 7000"/>
            </a:avLst>
          </a:prstGeom>
          <a:solidFill>
            <a:srgbClr val="1A1F29"/>
          </a:solidFill>
          <a:ln/>
        </p:spPr>
      </p:sp>
      <p:sp>
        <p:nvSpPr>
          <p:cNvPr id="19" name="Text 16"/>
          <p:cNvSpPr/>
          <p:nvPr/>
        </p:nvSpPr>
        <p:spPr>
          <a:xfrm>
            <a:off x="9153144" y="1975104"/>
            <a:ext cx="2167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to main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9153144" y="2377440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合并回 main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0236708" y="2798064"/>
            <a:ext cx="0" cy="384048"/>
          </a:xfrm>
          <a:prstGeom prst="line">
            <a:avLst/>
          </a:prstGeom>
          <a:noFill/>
          <a:ln w="19050">
            <a:solidFill>
              <a:srgbClr val="FFC53D"/>
            </a:solidFill>
            <a:prstDash val="solid"/>
            <a:tailEnd type="triangle"/>
          </a:ln>
        </p:spPr>
      </p:sp>
      <p:sp>
        <p:nvSpPr>
          <p:cNvPr id="22" name="Text 19"/>
          <p:cNvSpPr/>
          <p:nvPr/>
        </p:nvSpPr>
        <p:spPr>
          <a:xfrm>
            <a:off x="6304788" y="285292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merge triggers the pipeline · 合并即触发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85800" y="3200400"/>
            <a:ext cx="10817352" cy="1298448"/>
          </a:xfrm>
          <a:prstGeom prst="roundRect">
            <a:avLst>
              <a:gd name="adj" fmla="val 4930"/>
            </a:avLst>
          </a:prstGeom>
          <a:solidFill>
            <a:srgbClr val="0F1115"/>
          </a:solidFill>
          <a:ln w="15875">
            <a:solidFill>
              <a:srgbClr val="FFC53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14400" y="329184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PIPELINE · 流水线</a:t>
            </a:r>
            <a:pPr indent="0" marL="0">
              <a:buNone/>
            </a:pPr>
            <a:r>
              <a:rPr lang="en-US" sz="950" i="1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automatic — nobody clicks anything · 全自动，无人工操作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914400" y="3639312"/>
            <a:ext cx="2432304" cy="713232"/>
          </a:xfrm>
          <a:prstGeom prst="roundRect">
            <a:avLst>
              <a:gd name="adj" fmla="val 7692"/>
            </a:avLst>
          </a:prstGeom>
          <a:solidFill>
            <a:srgbClr val="1A1F29"/>
          </a:solidFill>
          <a:ln/>
        </p:spPr>
      </p:sp>
      <p:sp>
        <p:nvSpPr>
          <p:cNvPr id="26" name="Text 23"/>
          <p:cNvSpPr/>
          <p:nvPr/>
        </p:nvSpPr>
        <p:spPr>
          <a:xfrm>
            <a:off x="1051560" y="3712464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the tests again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051560" y="4050792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再跑一遍全部测试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3300984" y="3767328"/>
            <a:ext cx="338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3593592" y="3639312"/>
            <a:ext cx="2432304" cy="713232"/>
          </a:xfrm>
          <a:prstGeom prst="roundRect">
            <a:avLst>
              <a:gd name="adj" fmla="val 7692"/>
            </a:avLst>
          </a:prstGeom>
          <a:solidFill>
            <a:srgbClr val="1A1F29"/>
          </a:solidFill>
          <a:ln/>
        </p:spPr>
      </p:sp>
      <p:sp>
        <p:nvSpPr>
          <p:cNvPr id="30" name="Text 27"/>
          <p:cNvSpPr/>
          <p:nvPr/>
        </p:nvSpPr>
        <p:spPr>
          <a:xfrm>
            <a:off x="3730752" y="3712464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the Docker image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3730752" y="4050792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 Docker 镜像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5980176" y="3767328"/>
            <a:ext cx="338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6272784" y="3639312"/>
            <a:ext cx="2432304" cy="713232"/>
          </a:xfrm>
          <a:prstGeom prst="roundRect">
            <a:avLst>
              <a:gd name="adj" fmla="val 7692"/>
            </a:avLst>
          </a:prstGeom>
          <a:solidFill>
            <a:srgbClr val="1A1F29"/>
          </a:solidFill>
          <a:ln/>
        </p:spPr>
      </p:sp>
      <p:sp>
        <p:nvSpPr>
          <p:cNvPr id="34" name="Text 31"/>
          <p:cNvSpPr/>
          <p:nvPr/>
        </p:nvSpPr>
        <p:spPr>
          <a:xfrm>
            <a:off x="6409944" y="3712464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deploys to DEV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409944" y="4050792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自动部署到 DEV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8659368" y="3767328"/>
            <a:ext cx="338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8951976" y="3639312"/>
            <a:ext cx="2432304" cy="713232"/>
          </a:xfrm>
          <a:prstGeom prst="roundRect">
            <a:avLst>
              <a:gd name="adj" fmla="val 7692"/>
            </a:avLst>
          </a:prstGeom>
          <a:solidFill>
            <a:srgbClr val="1A1F29"/>
          </a:solidFill>
          <a:ln/>
        </p:spPr>
      </p:sp>
      <p:sp>
        <p:nvSpPr>
          <p:cNvPr id="38" name="Text 35"/>
          <p:cNvSpPr/>
          <p:nvPr/>
        </p:nvSpPr>
        <p:spPr>
          <a:xfrm>
            <a:off x="9089136" y="3712464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 the DEV DB — Liquibase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9089136" y="4050792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Liquibase 更新 DEV 库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2834640" y="4535424"/>
            <a:ext cx="0" cy="365760"/>
          </a:xfrm>
          <a:prstGeom prst="line">
            <a:avLst/>
          </a:prstGeom>
          <a:noFill/>
          <a:ln w="19050">
            <a:solidFill>
              <a:srgbClr val="FFC53D"/>
            </a:solidFill>
            <a:prstDash val="dash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685800" y="4956048"/>
            <a:ext cx="4297680" cy="914400"/>
          </a:xfrm>
          <a:prstGeom prst="roundRect">
            <a:avLst>
              <a:gd name="adj" fmla="val 7000"/>
            </a:avLst>
          </a:prstGeom>
          <a:solidFill>
            <a:srgbClr val="0F1115"/>
          </a:solidFill>
          <a:ln w="15875">
            <a:solidFill>
              <a:srgbClr val="FFC53D"/>
            </a:solidFill>
            <a:prstDash val="dash"/>
          </a:ln>
        </p:spPr>
      </p:sp>
      <p:sp>
        <p:nvSpPr>
          <p:cNvPr id="42" name="Text 39"/>
          <p:cNvSpPr/>
          <p:nvPr/>
        </p:nvSpPr>
        <p:spPr>
          <a:xfrm>
            <a:off x="914400" y="5084064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MANUAL APPROVAL · 手动审批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pipeline waits — a person decides to promote · 流水线等待，由人决定是否晋级</a:t>
            </a:r>
            <a:endParaRPr lang="en-US" sz="1250" dirty="0"/>
          </a:p>
        </p:txBody>
      </p:sp>
      <p:sp>
        <p:nvSpPr>
          <p:cNvPr id="43" name="Text 40"/>
          <p:cNvSpPr/>
          <p:nvPr/>
        </p:nvSpPr>
        <p:spPr>
          <a:xfrm>
            <a:off x="5029200" y="515721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44" name="Shape 41"/>
          <p:cNvSpPr/>
          <p:nvPr/>
        </p:nvSpPr>
        <p:spPr>
          <a:xfrm>
            <a:off x="5532120" y="4956048"/>
            <a:ext cx="5971032" cy="914400"/>
          </a:xfrm>
          <a:prstGeom prst="roundRect">
            <a:avLst>
              <a:gd name="adj" fmla="val 7000"/>
            </a:avLst>
          </a:prstGeom>
          <a:solidFill>
            <a:srgbClr val="FFC53D"/>
          </a:solidFill>
          <a:ln/>
        </p:spPr>
      </p:sp>
      <p:sp>
        <p:nvSpPr>
          <p:cNvPr id="45" name="Text 42"/>
          <p:cNvSpPr/>
          <p:nvPr/>
        </p:nvSpPr>
        <p:spPr>
          <a:xfrm>
            <a:off x="5760720" y="5084064"/>
            <a:ext cx="5532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 — the same procedure · 生产环境，同样的流程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52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same image · deploy · Liquibase updates the PROD DB — no shortcuts · 同一镜像、部署、Liquibase 更新生产库——没有捷径</a:t>
            </a:r>
            <a:endParaRPr lang="en-US" sz="1250" dirty="0"/>
          </a:p>
        </p:txBody>
      </p:sp>
      <p:sp>
        <p:nvSpPr>
          <p:cNvPr id="46" name="Text 43"/>
          <p:cNvSpPr/>
          <p:nvPr/>
        </p:nvSpPr>
        <p:spPr>
          <a:xfrm>
            <a:off x="685800" y="6108192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Don't pile up versions: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merge small and promote often, one use case at a time — DEV and PROD must never drift a stack of releases apart.  ·  不要堆积版本：小步合并、及时晋级，一次一个用例——DEV 和 PROD 不能相差一摞版本。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 · 项目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first three tasks</a:t>
            </a:r>
            <a:pPr algn="l" indent="0" marL="0">
              <a:buNone/>
            </a:pPr>
            <a:r>
              <a:rPr lang="en-US" sz="2000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前三个任务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85800" y="1965960"/>
            <a:ext cx="10817352" cy="1234440"/>
          </a:xfrm>
          <a:prstGeom prst="roundRect">
            <a:avLst>
              <a:gd name="adj" fmla="val 5926"/>
            </a:avLst>
          </a:prstGeom>
          <a:solidFill>
            <a:srgbClr val="1A1F29"/>
          </a:solidFill>
          <a:ln/>
        </p:spPr>
      </p:sp>
      <p:sp>
        <p:nvSpPr>
          <p:cNvPr id="6" name="Text 3"/>
          <p:cNvSpPr/>
          <p:nvPr/>
        </p:nvSpPr>
        <p:spPr>
          <a:xfrm>
            <a:off x="960120" y="210312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0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2697480" y="2093976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checks out the project and runs it locally.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697480" y="269748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每个人签出项目，并在本地把它跑起来。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85800" y="3429000"/>
            <a:ext cx="10817352" cy="1234440"/>
          </a:xfrm>
          <a:prstGeom prst="roundRect">
            <a:avLst>
              <a:gd name="adj" fmla="val 5926"/>
            </a:avLst>
          </a:prstGeom>
          <a:solidFill>
            <a:srgbClr val="1A1F29"/>
          </a:solidFill>
          <a:ln/>
        </p:spPr>
      </p:sp>
      <p:sp>
        <p:nvSpPr>
          <p:cNvPr id="10" name="Text 7"/>
          <p:cNvSpPr/>
          <p:nvPr/>
        </p:nvSpPr>
        <p:spPr>
          <a:xfrm>
            <a:off x="960120" y="356616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2697480" y="3557016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person drives, the team observes: branch → change → merge → see it on DEV → publish to PROD.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2697480" y="416052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一人操作、全队观察：拉分支 → 修改 → 合并 → 在 DEV 上验证 → 发布到 PROD。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85800" y="4892040"/>
            <a:ext cx="10817352" cy="1234440"/>
          </a:xfrm>
          <a:prstGeom prst="roundRect">
            <a:avLst>
              <a:gd name="adj" fmla="val 5926"/>
            </a:avLst>
          </a:prstGeom>
          <a:solidFill>
            <a:srgbClr val="1A1F29"/>
          </a:solidFill>
          <a:ln/>
        </p:spPr>
      </p:sp>
      <p:sp>
        <p:nvSpPr>
          <p:cNvPr id="14" name="Text 11"/>
          <p:cNvSpPr/>
          <p:nvPr/>
        </p:nvSpPr>
        <p:spPr>
          <a:xfrm>
            <a:off x="960120" y="502920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2697480" y="5020056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repeats the whole flow — and PROD deployments are sequenced, never simultaneous.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2697480" y="562356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每个人都完整走一遍——PROD 部署必须排好顺序，绝不同时进行。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C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8A6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FINALE · 最终演示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106070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Presentations are about the topic — not the technology.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5800" y="452628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演示的重点是业务主题——而不是技术。</a:t>
            </a:r>
            <a:endParaRPr lang="en-US" sz="2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FINALE · 最终演示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presentation, in six parts</a:t>
            </a:r>
            <a:pPr algn="l" indent="0" marL="0">
              <a:buNone/>
            </a:pPr>
            <a:r>
              <a:rPr lang="en-US" sz="2000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演示的六个部分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85800" y="1874520"/>
            <a:ext cx="5294376" cy="1051560"/>
          </a:xfrm>
          <a:prstGeom prst="roundRect">
            <a:avLst>
              <a:gd name="adj" fmla="val 6957"/>
            </a:avLst>
          </a:prstGeom>
          <a:solidFill>
            <a:srgbClr val="1A1F29"/>
          </a:solidFill>
          <a:ln/>
        </p:spPr>
      </p:sp>
      <p:sp>
        <p:nvSpPr>
          <p:cNvPr id="6" name="Text 3"/>
          <p:cNvSpPr/>
          <p:nvPr/>
        </p:nvSpPr>
        <p:spPr>
          <a:xfrm>
            <a:off x="886968" y="1984248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554480" y="1984248"/>
            <a:ext cx="4197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team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554480" y="2514600"/>
            <a:ext cx="4197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介绍团队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08776" y="1874520"/>
            <a:ext cx="5294376" cy="1051560"/>
          </a:xfrm>
          <a:prstGeom prst="roundRect">
            <a:avLst>
              <a:gd name="adj" fmla="val 6957"/>
            </a:avLst>
          </a:prstGeom>
          <a:solidFill>
            <a:srgbClr val="1A1F29"/>
          </a:solidFill>
          <a:ln/>
        </p:spPr>
      </p:sp>
      <p:sp>
        <p:nvSpPr>
          <p:cNvPr id="10" name="Text 7"/>
          <p:cNvSpPr/>
          <p:nvPr/>
        </p:nvSpPr>
        <p:spPr>
          <a:xfrm>
            <a:off x="6409944" y="1984248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077456" y="1984248"/>
            <a:ext cx="4197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role of your sub-system in the platform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077456" y="2514600"/>
            <a:ext cx="4197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你的子系统在平台中的角色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85800" y="3127248"/>
            <a:ext cx="5294376" cy="1051560"/>
          </a:xfrm>
          <a:prstGeom prst="roundRect">
            <a:avLst>
              <a:gd name="adj" fmla="val 6957"/>
            </a:avLst>
          </a:prstGeom>
          <a:solidFill>
            <a:srgbClr val="1A1F29"/>
          </a:solidFill>
          <a:ln/>
        </p:spPr>
      </p:sp>
      <p:sp>
        <p:nvSpPr>
          <p:cNvPr id="14" name="Text 11"/>
          <p:cNvSpPr/>
          <p:nvPr/>
        </p:nvSpPr>
        <p:spPr>
          <a:xfrm>
            <a:off x="886968" y="3236976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1554480" y="3236976"/>
            <a:ext cx="4197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technology — what was mocked, what was built, test coverage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554480" y="3767328"/>
            <a:ext cx="4197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技术——模拟了什么、构建了什么、测试覆盖率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208776" y="3127248"/>
            <a:ext cx="5294376" cy="1051560"/>
          </a:xfrm>
          <a:prstGeom prst="roundRect">
            <a:avLst>
              <a:gd name="adj" fmla="val 6957"/>
            </a:avLst>
          </a:prstGeom>
          <a:solidFill>
            <a:srgbClr val="1A1F29"/>
          </a:solidFill>
          <a:ln/>
        </p:spPr>
      </p:sp>
      <p:sp>
        <p:nvSpPr>
          <p:cNvPr id="18" name="Text 15"/>
          <p:cNvSpPr/>
          <p:nvPr/>
        </p:nvSpPr>
        <p:spPr>
          <a:xfrm>
            <a:off x="6409944" y="3236976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7077456" y="3236976"/>
            <a:ext cx="4197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 use cases — what your system can do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077456" y="3767328"/>
            <a:ext cx="4197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支持的用例——你的系统能做什么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85800" y="4379976"/>
            <a:ext cx="5294376" cy="1051560"/>
          </a:xfrm>
          <a:prstGeom prst="roundRect">
            <a:avLst>
              <a:gd name="adj" fmla="val 6957"/>
            </a:avLst>
          </a:prstGeom>
          <a:solidFill>
            <a:srgbClr val="1A1F29"/>
          </a:solidFill>
          <a:ln/>
        </p:spPr>
      </p:sp>
      <p:sp>
        <p:nvSpPr>
          <p:cNvPr id="22" name="Text 19"/>
          <p:cNvSpPr/>
          <p:nvPr/>
        </p:nvSpPr>
        <p:spPr>
          <a:xfrm>
            <a:off x="886968" y="4489704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1554480" y="4489704"/>
            <a:ext cx="4197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slim process overview of the key use cases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554480" y="5020056"/>
            <a:ext cx="4197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关键用例的精简流程总览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208776" y="4379976"/>
            <a:ext cx="5294376" cy="1051560"/>
          </a:xfrm>
          <a:prstGeom prst="roundRect">
            <a:avLst>
              <a:gd name="adj" fmla="val 6957"/>
            </a:avLst>
          </a:prstGeom>
          <a:solidFill>
            <a:srgbClr val="1A1F29"/>
          </a:solidFill>
          <a:ln/>
        </p:spPr>
      </p:sp>
      <p:sp>
        <p:nvSpPr>
          <p:cNvPr id="26" name="Text 23"/>
          <p:cNvSpPr/>
          <p:nvPr/>
        </p:nvSpPr>
        <p:spPr>
          <a:xfrm>
            <a:off x="6409944" y="4489704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7077456" y="4489704"/>
            <a:ext cx="4197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— up to 3 flows, covering scenarios from the acceptance criteria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7077456" y="5020056"/>
            <a:ext cx="4197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现场演示——最多3条流程，覆盖验收标准中的不同场景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85800" y="58064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All teams use a similar — not identical — template. · 所有团队使用相似（而非相同）的模板。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DESIGN · 设计初衷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106070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IKEA: the parts come prepared — the real work of assembly is yours.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452628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就像宜家：零件已经备好——组装的真功夫，要靠你们自己。</a:t>
            </a:r>
            <a:endParaRPr lang="en-US" sz="2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DESIGN · 设计初衷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106070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was never about how many tokens you can burn — you get the input real engineers get: from business analysts, product managers, risk managers and architects.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452628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这从来不是比谁烧掉的 token 多——你们得到的输入，正是真实工程师从业务分析师、产品经理、风险经理和架构师那里得到的。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DESIGN · 设计初衷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106070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 is not one brilliant individual — not even one brilliant team — but 40+ people working as one organisation, in harmony.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452628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目标不是一个出色的个人，甚至不是一个出色的团队——而是四十多人像一个组织一样协调运转。</a:t>
            </a:r>
            <a:endParaRPr lang="en-US" sz="2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C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8A6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 · 平台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106070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the platform.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85800" y="452628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来认识这个平台。</a:t>
            </a:r>
            <a:endParaRPr lang="en-US" sz="2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 · 平台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106070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customer journey: apply for a credit card — and walk away with an active account and a card in the post.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85800" y="452628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一条完整的客户旅程：申请一张信用卡——最终拥有激活的账户，和一张寄到手中的卡。</a:t>
            </a:r>
            <a:endParaRPr lang="en-US" sz="2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 · 平台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9611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— who calls whom, and what is mocked</a:t>
            </a:r>
            <a:pPr algn="l" indent="0" marL="0">
              <a:buNone/>
            </a:pPr>
            <a:r>
              <a:rPr lang="en-US" sz="1500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谁调用谁、什么是模拟的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85800" y="1463040"/>
            <a:ext cx="10817352" cy="749808"/>
          </a:xfrm>
          <a:prstGeom prst="roundRect">
            <a:avLst>
              <a:gd name="adj" fmla="val 7317"/>
            </a:avLst>
          </a:prstGeom>
          <a:solidFill>
            <a:srgbClr val="FFC53D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536192"/>
            <a:ext cx="10360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 · ORCHESTRATOR 编排器</a:t>
            </a:r>
            <a:pPr indent="0" marL="0">
              <a:buNone/>
            </a:pPr>
            <a:r>
              <a:rPr lang="en-US" sz="1150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instructor-owned · the only entry point · the only caller · 讲师负责 · 唯一入口 · 唯一调用方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1865376"/>
            <a:ext cx="10360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 state machine · outputs enricher (limit/APR · agreementId · accountId · cardId) · customer registry · signing pages · applications read API · built-in mock of every step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85800" y="2304288"/>
            <a:ext cx="863010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processApplication — POST /api/v1/{domain}/execute · envelope (+ outputs) → 202 → callback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297619" y="2304288"/>
            <a:ext cx="12490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· open-case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0391242" y="2304288"/>
            <a:ext cx="12490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the feed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1173175" y="2596896"/>
            <a:ext cx="0" cy="402336"/>
          </a:xfrm>
          <a:prstGeom prst="line">
            <a:avLst/>
          </a:prstGeom>
          <a:noFill/>
          <a:ln w="19050">
            <a:solidFill>
              <a:srgbClr val="FFC53D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266798" y="2596896"/>
            <a:ext cx="0" cy="402336"/>
          </a:xfrm>
          <a:prstGeom prst="line">
            <a:avLst/>
          </a:prstGeom>
          <a:noFill/>
          <a:ln w="19050">
            <a:solidFill>
              <a:srgbClr val="FFC53D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3360420" y="2596896"/>
            <a:ext cx="0" cy="402336"/>
          </a:xfrm>
          <a:prstGeom prst="line">
            <a:avLst/>
          </a:prstGeom>
          <a:noFill/>
          <a:ln w="19050">
            <a:solidFill>
              <a:srgbClr val="FFC53D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454042" y="2596896"/>
            <a:ext cx="0" cy="402336"/>
          </a:xfrm>
          <a:prstGeom prst="line">
            <a:avLst/>
          </a:prstGeom>
          <a:noFill/>
          <a:ln w="19050">
            <a:solidFill>
              <a:srgbClr val="FFC53D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5547665" y="2596896"/>
            <a:ext cx="0" cy="402336"/>
          </a:xfrm>
          <a:prstGeom prst="line">
            <a:avLst/>
          </a:prstGeom>
          <a:noFill/>
          <a:ln w="19050">
            <a:solidFill>
              <a:srgbClr val="FFC53D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6641287" y="2596896"/>
            <a:ext cx="0" cy="402336"/>
          </a:xfrm>
          <a:prstGeom prst="line">
            <a:avLst/>
          </a:prstGeom>
          <a:noFill/>
          <a:ln w="19050">
            <a:solidFill>
              <a:srgbClr val="FFC53D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7734910" y="2596896"/>
            <a:ext cx="0" cy="402336"/>
          </a:xfrm>
          <a:prstGeom prst="line">
            <a:avLst/>
          </a:prstGeom>
          <a:noFill/>
          <a:ln w="19050">
            <a:solidFill>
              <a:srgbClr val="FFC53D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8828532" y="2596896"/>
            <a:ext cx="0" cy="402336"/>
          </a:xfrm>
          <a:prstGeom prst="line">
            <a:avLst/>
          </a:prstGeom>
          <a:noFill/>
          <a:ln w="19050">
            <a:solidFill>
              <a:srgbClr val="FFC53D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9922154" y="2596896"/>
            <a:ext cx="0" cy="402336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11015777" y="2596896"/>
            <a:ext cx="0" cy="402336"/>
          </a:xfrm>
          <a:prstGeom prst="line">
            <a:avLst/>
          </a:prstGeom>
          <a:noFill/>
          <a:ln w="15875">
            <a:solidFill>
              <a:srgbClr val="FFC53D"/>
            </a:solidFill>
            <a:prstDash val="dash"/>
            <a:headEnd type="triangle"/>
          </a:ln>
        </p:spPr>
      </p:sp>
      <p:sp>
        <p:nvSpPr>
          <p:cNvPr id="21" name="Shape 18"/>
          <p:cNvSpPr/>
          <p:nvPr/>
        </p:nvSpPr>
        <p:spPr>
          <a:xfrm>
            <a:off x="685800" y="3035808"/>
            <a:ext cx="974750" cy="1965960"/>
          </a:xfrm>
          <a:prstGeom prst="roundRect">
            <a:avLst>
              <a:gd name="adj" fmla="val 4690"/>
            </a:avLst>
          </a:prstGeom>
          <a:solidFill>
            <a:srgbClr val="1A1F29"/>
          </a:solidFill>
          <a:ln/>
        </p:spPr>
      </p:sp>
      <p:sp>
        <p:nvSpPr>
          <p:cNvPr id="22" name="Text 19"/>
          <p:cNvSpPr/>
          <p:nvPr/>
        </p:nvSpPr>
        <p:spPr>
          <a:xfrm>
            <a:off x="777240" y="3108960"/>
            <a:ext cx="7918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indent="0" marL="0">
              <a:buNone/>
            </a:pPr>
            <a:r>
              <a:rPr lang="en-US" sz="750" dirty="0">
                <a:solidFill>
                  <a:srgbClr val="9A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Rule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77240" y="3419856"/>
            <a:ext cx="79187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Verification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777240" y="4242816"/>
            <a:ext cx="7918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verify-application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777240" y="4681728"/>
            <a:ext cx="7918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申请校验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1779422" y="3035808"/>
            <a:ext cx="974750" cy="1965960"/>
          </a:xfrm>
          <a:prstGeom prst="roundRect">
            <a:avLst>
              <a:gd name="adj" fmla="val 4690"/>
            </a:avLst>
          </a:prstGeom>
          <a:solidFill>
            <a:srgbClr val="1A1F29"/>
          </a:solidFill>
          <a:ln/>
        </p:spPr>
      </p:sp>
      <p:sp>
        <p:nvSpPr>
          <p:cNvPr id="27" name="Text 24"/>
          <p:cNvSpPr/>
          <p:nvPr/>
        </p:nvSpPr>
        <p:spPr>
          <a:xfrm>
            <a:off x="1870862" y="3108960"/>
            <a:ext cx="7918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indent="0" marL="0">
              <a:buNone/>
            </a:pPr>
            <a:r>
              <a:rPr lang="en-US" sz="750" dirty="0">
                <a:solidFill>
                  <a:srgbClr val="9A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Rule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870862" y="3419856"/>
            <a:ext cx="79187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Policy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1870862" y="4242816"/>
            <a:ext cx="7918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check-policy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1870862" y="4681728"/>
            <a:ext cx="7918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准入政策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2873045" y="3035808"/>
            <a:ext cx="974750" cy="1965960"/>
          </a:xfrm>
          <a:prstGeom prst="roundRect">
            <a:avLst>
              <a:gd name="adj" fmla="val 4690"/>
            </a:avLst>
          </a:prstGeom>
          <a:solidFill>
            <a:srgbClr val="1A1F29"/>
          </a:solidFill>
          <a:ln/>
        </p:spPr>
      </p:sp>
      <p:sp>
        <p:nvSpPr>
          <p:cNvPr id="32" name="Text 29"/>
          <p:cNvSpPr/>
          <p:nvPr/>
        </p:nvSpPr>
        <p:spPr>
          <a:xfrm>
            <a:off x="2964485" y="3108960"/>
            <a:ext cx="7918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indent="0" marL="0">
              <a:buNone/>
            </a:pPr>
            <a:r>
              <a:rPr lang="en-US" sz="750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Integration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2964485" y="3419856"/>
            <a:ext cx="79187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(KYC)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2964485" y="4242816"/>
            <a:ext cx="7918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verify-identity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2964485" y="4681728"/>
            <a:ext cx="7918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身份核验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3966667" y="3035808"/>
            <a:ext cx="974750" cy="1965960"/>
          </a:xfrm>
          <a:prstGeom prst="roundRect">
            <a:avLst>
              <a:gd name="adj" fmla="val 4690"/>
            </a:avLst>
          </a:prstGeom>
          <a:solidFill>
            <a:srgbClr val="1A1F29"/>
          </a:solidFill>
          <a:ln/>
        </p:spPr>
      </p:sp>
      <p:sp>
        <p:nvSpPr>
          <p:cNvPr id="37" name="Text 34"/>
          <p:cNvSpPr/>
          <p:nvPr/>
        </p:nvSpPr>
        <p:spPr>
          <a:xfrm>
            <a:off x="4058107" y="3108960"/>
            <a:ext cx="7918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indent="0" marL="0">
              <a:buNone/>
            </a:pPr>
            <a:r>
              <a:rPr lang="en-US" sz="750" dirty="0">
                <a:solidFill>
                  <a:srgbClr val="9A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Rule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4058107" y="3419856"/>
            <a:ext cx="79187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&amp; AML Screening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4058107" y="4242816"/>
            <a:ext cx="7918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screen-applicant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4058107" y="4681728"/>
            <a:ext cx="7918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反洗钱筛查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5060290" y="3035808"/>
            <a:ext cx="974750" cy="1965960"/>
          </a:xfrm>
          <a:prstGeom prst="roundRect">
            <a:avLst>
              <a:gd name="adj" fmla="val 4690"/>
            </a:avLst>
          </a:prstGeom>
          <a:solidFill>
            <a:srgbClr val="1A1F29"/>
          </a:solidFill>
          <a:ln/>
        </p:spPr>
      </p:sp>
      <p:sp>
        <p:nvSpPr>
          <p:cNvPr id="42" name="Text 39"/>
          <p:cNvSpPr/>
          <p:nvPr/>
        </p:nvSpPr>
        <p:spPr>
          <a:xfrm>
            <a:off x="5151730" y="3108960"/>
            <a:ext cx="7918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pPr indent="0" marL="0">
              <a:buNone/>
            </a:pPr>
            <a:r>
              <a:rPr lang="en-US" sz="750" dirty="0">
                <a:solidFill>
                  <a:srgbClr val="9A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Rule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5151730" y="3419856"/>
            <a:ext cx="79187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Decisioning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5151730" y="4242816"/>
            <a:ext cx="7918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assess-credit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5151730" y="4681728"/>
            <a:ext cx="7918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信贷决策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6153912" y="3035808"/>
            <a:ext cx="974750" cy="1965960"/>
          </a:xfrm>
          <a:prstGeom prst="roundRect">
            <a:avLst>
              <a:gd name="adj" fmla="val 4690"/>
            </a:avLst>
          </a:prstGeom>
          <a:solidFill>
            <a:srgbClr val="1A1F29"/>
          </a:solidFill>
          <a:ln/>
        </p:spPr>
      </p:sp>
      <p:sp>
        <p:nvSpPr>
          <p:cNvPr id="47" name="Text 44"/>
          <p:cNvSpPr/>
          <p:nvPr/>
        </p:nvSpPr>
        <p:spPr>
          <a:xfrm>
            <a:off x="6245352" y="3108960"/>
            <a:ext cx="7918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pPr indent="0" marL="0">
              <a:buNone/>
            </a:pPr>
            <a:r>
              <a:rPr lang="en-US" sz="750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Integration</a:t>
            </a:r>
            <a:endParaRPr lang="en-US" sz="1300" dirty="0"/>
          </a:p>
        </p:txBody>
      </p:sp>
      <p:sp>
        <p:nvSpPr>
          <p:cNvPr id="48" name="Text 45"/>
          <p:cNvSpPr/>
          <p:nvPr/>
        </p:nvSpPr>
        <p:spPr>
          <a:xfrm>
            <a:off x="6245352" y="3419856"/>
            <a:ext cx="79187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Agreement Mgmt</a:t>
            </a:r>
            <a:endParaRPr lang="en-US" sz="1050" dirty="0"/>
          </a:p>
        </p:txBody>
      </p:sp>
      <p:sp>
        <p:nvSpPr>
          <p:cNvPr id="49" name="Text 46"/>
          <p:cNvSpPr/>
          <p:nvPr/>
        </p:nvSpPr>
        <p:spPr>
          <a:xfrm>
            <a:off x="6245352" y="4242816"/>
            <a:ext cx="7918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request-signature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6245352" y="4681728"/>
            <a:ext cx="7918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协议管理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7247534" y="3035808"/>
            <a:ext cx="974750" cy="1965960"/>
          </a:xfrm>
          <a:prstGeom prst="roundRect">
            <a:avLst>
              <a:gd name="adj" fmla="val 4690"/>
            </a:avLst>
          </a:prstGeom>
          <a:solidFill>
            <a:srgbClr val="1A1F29"/>
          </a:solidFill>
          <a:ln/>
        </p:spPr>
      </p:sp>
      <p:sp>
        <p:nvSpPr>
          <p:cNvPr id="52" name="Text 49"/>
          <p:cNvSpPr/>
          <p:nvPr/>
        </p:nvSpPr>
        <p:spPr>
          <a:xfrm>
            <a:off x="7338974" y="3108960"/>
            <a:ext cx="7918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pPr indent="0" marL="0">
              <a:buNone/>
            </a:pPr>
            <a:r>
              <a:rPr lang="en-US" sz="750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Integration</a:t>
            </a:r>
            <a:endParaRPr lang="en-US" sz="1300" dirty="0"/>
          </a:p>
        </p:txBody>
      </p:sp>
      <p:sp>
        <p:nvSpPr>
          <p:cNvPr id="53" name="Text 50"/>
          <p:cNvSpPr/>
          <p:nvPr/>
        </p:nvSpPr>
        <p:spPr>
          <a:xfrm>
            <a:off x="7338974" y="3419856"/>
            <a:ext cx="79187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Account Setup</a:t>
            </a:r>
            <a:endParaRPr lang="en-US" sz="1050" dirty="0"/>
          </a:p>
        </p:txBody>
      </p:sp>
      <p:sp>
        <p:nvSpPr>
          <p:cNvPr id="54" name="Text 51"/>
          <p:cNvSpPr/>
          <p:nvPr/>
        </p:nvSpPr>
        <p:spPr>
          <a:xfrm>
            <a:off x="7338974" y="4242816"/>
            <a:ext cx="7918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open-card-account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7338974" y="4681728"/>
            <a:ext cx="7918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卡账户开立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8341157" y="3035808"/>
            <a:ext cx="974750" cy="1965960"/>
          </a:xfrm>
          <a:prstGeom prst="roundRect">
            <a:avLst>
              <a:gd name="adj" fmla="val 4690"/>
            </a:avLst>
          </a:prstGeom>
          <a:solidFill>
            <a:srgbClr val="1A1F29"/>
          </a:solidFill>
          <a:ln/>
        </p:spPr>
      </p:sp>
      <p:sp>
        <p:nvSpPr>
          <p:cNvPr id="57" name="Text 54"/>
          <p:cNvSpPr/>
          <p:nvPr/>
        </p:nvSpPr>
        <p:spPr>
          <a:xfrm>
            <a:off x="8432597" y="3108960"/>
            <a:ext cx="7918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pPr indent="0" marL="0">
              <a:buNone/>
            </a:pPr>
            <a:r>
              <a:rPr lang="en-US" sz="750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Integration</a:t>
            </a:r>
            <a:endParaRPr lang="en-US" sz="1300" dirty="0"/>
          </a:p>
        </p:txBody>
      </p:sp>
      <p:sp>
        <p:nvSpPr>
          <p:cNvPr id="58" name="Text 55"/>
          <p:cNvSpPr/>
          <p:nvPr/>
        </p:nvSpPr>
        <p:spPr>
          <a:xfrm>
            <a:off x="8432597" y="3419856"/>
            <a:ext cx="79187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Issuing</a:t>
            </a:r>
            <a:endParaRPr lang="en-US" sz="1050" dirty="0"/>
          </a:p>
        </p:txBody>
      </p:sp>
      <p:sp>
        <p:nvSpPr>
          <p:cNvPr id="59" name="Text 56"/>
          <p:cNvSpPr/>
          <p:nvPr/>
        </p:nvSpPr>
        <p:spPr>
          <a:xfrm>
            <a:off x="8432597" y="4242816"/>
            <a:ext cx="7918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issue-card</a:t>
            </a:r>
            <a:endParaRPr lang="en-US" sz="800" dirty="0"/>
          </a:p>
        </p:txBody>
      </p:sp>
      <p:sp>
        <p:nvSpPr>
          <p:cNvPr id="60" name="Text 57"/>
          <p:cNvSpPr/>
          <p:nvPr/>
        </p:nvSpPr>
        <p:spPr>
          <a:xfrm>
            <a:off x="8432597" y="4681728"/>
            <a:ext cx="7918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发卡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9434779" y="3035808"/>
            <a:ext cx="974750" cy="1965960"/>
          </a:xfrm>
          <a:prstGeom prst="roundRect">
            <a:avLst>
              <a:gd name="adj" fmla="val 4690"/>
            </a:avLst>
          </a:prstGeom>
          <a:solidFill>
            <a:srgbClr val="1A1F2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9526219" y="3108960"/>
            <a:ext cx="7918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pPr indent="0" marL="0">
              <a:buNone/>
            </a:pPr>
            <a:r>
              <a:rPr lang="en-US" sz="750" dirty="0">
                <a:solidFill>
                  <a:srgbClr val="9A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Support</a:t>
            </a:r>
            <a:endParaRPr lang="en-US" sz="1300" dirty="0"/>
          </a:p>
        </p:txBody>
      </p:sp>
      <p:sp>
        <p:nvSpPr>
          <p:cNvPr id="63" name="Text 60"/>
          <p:cNvSpPr/>
          <p:nvPr/>
        </p:nvSpPr>
        <p:spPr>
          <a:xfrm>
            <a:off x="9526219" y="3419856"/>
            <a:ext cx="79187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Support</a:t>
            </a:r>
            <a:endParaRPr lang="en-US" sz="1050" dirty="0"/>
          </a:p>
        </p:txBody>
      </p:sp>
      <p:sp>
        <p:nvSpPr>
          <p:cNvPr id="64" name="Text 61"/>
          <p:cNvSpPr/>
          <p:nvPr/>
        </p:nvSpPr>
        <p:spPr>
          <a:xfrm>
            <a:off x="9526219" y="4242816"/>
            <a:ext cx="7918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open-case</a:t>
            </a:r>
            <a:endParaRPr lang="en-US" sz="800" dirty="0"/>
          </a:p>
        </p:txBody>
      </p:sp>
      <p:sp>
        <p:nvSpPr>
          <p:cNvPr id="65" name="Text 62"/>
          <p:cNvSpPr/>
          <p:nvPr/>
        </p:nvSpPr>
        <p:spPr>
          <a:xfrm>
            <a:off x="9526219" y="4681728"/>
            <a:ext cx="7918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客户服务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10528402" y="3035808"/>
            <a:ext cx="974750" cy="1965960"/>
          </a:xfrm>
          <a:prstGeom prst="roundRect">
            <a:avLst>
              <a:gd name="adj" fmla="val 4690"/>
            </a:avLst>
          </a:prstGeom>
          <a:solidFill>
            <a:srgbClr val="0F1115"/>
          </a:solidFill>
          <a:ln w="12700">
            <a:solidFill>
              <a:srgbClr val="FFC53D"/>
            </a:solidFill>
            <a:prstDash val="dash"/>
          </a:ln>
        </p:spPr>
      </p:sp>
      <p:sp>
        <p:nvSpPr>
          <p:cNvPr id="67" name="Text 64"/>
          <p:cNvSpPr/>
          <p:nvPr/>
        </p:nvSpPr>
        <p:spPr>
          <a:xfrm>
            <a:off x="10619842" y="3108960"/>
            <a:ext cx="7918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pPr indent="0" marL="0">
              <a:buNone/>
            </a:pPr>
            <a:r>
              <a:rPr lang="en-US" sz="750" dirty="0">
                <a:solidFill>
                  <a:srgbClr val="9A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Observer</a:t>
            </a:r>
            <a:endParaRPr lang="en-US" sz="1300" dirty="0"/>
          </a:p>
        </p:txBody>
      </p:sp>
      <p:sp>
        <p:nvSpPr>
          <p:cNvPr id="68" name="Text 65"/>
          <p:cNvSpPr/>
          <p:nvPr/>
        </p:nvSpPr>
        <p:spPr>
          <a:xfrm>
            <a:off x="10619842" y="3419856"/>
            <a:ext cx="79187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&amp; Reg. Analytics</a:t>
            </a:r>
            <a:endParaRPr lang="en-US" sz="1050" dirty="0"/>
          </a:p>
        </p:txBody>
      </p:sp>
      <p:sp>
        <p:nvSpPr>
          <p:cNvPr id="69" name="Text 66"/>
          <p:cNvSpPr/>
          <p:nvPr/>
        </p:nvSpPr>
        <p:spPr>
          <a:xfrm>
            <a:off x="10619842" y="4242816"/>
            <a:ext cx="7918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invoked</a:t>
            </a:r>
            <a:endParaRPr lang="en-US" sz="800" dirty="0"/>
          </a:p>
        </p:txBody>
      </p:sp>
      <p:sp>
        <p:nvSpPr>
          <p:cNvPr id="70" name="Text 67"/>
          <p:cNvSpPr/>
          <p:nvPr/>
        </p:nvSpPr>
        <p:spPr>
          <a:xfrm>
            <a:off x="10619842" y="4681728"/>
            <a:ext cx="7918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监管分析</a:t>
            </a:r>
            <a:endParaRPr lang="en-US" sz="900" dirty="0"/>
          </a:p>
        </p:txBody>
      </p:sp>
      <p:sp>
        <p:nvSpPr>
          <p:cNvPr id="71" name="Shape 68"/>
          <p:cNvSpPr/>
          <p:nvPr/>
        </p:nvSpPr>
        <p:spPr>
          <a:xfrm>
            <a:off x="3360420" y="5001768"/>
            <a:ext cx="0" cy="347472"/>
          </a:xfrm>
          <a:prstGeom prst="line">
            <a:avLst/>
          </a:prstGeom>
          <a:noFill/>
          <a:ln w="15875">
            <a:solidFill>
              <a:srgbClr val="B8860B"/>
            </a:solidFill>
            <a:prstDash val="solid"/>
            <a:tailEnd type="triangle"/>
          </a:ln>
        </p:spPr>
      </p:sp>
      <p:sp>
        <p:nvSpPr>
          <p:cNvPr id="72" name="Shape 69"/>
          <p:cNvSpPr/>
          <p:nvPr/>
        </p:nvSpPr>
        <p:spPr>
          <a:xfrm>
            <a:off x="2848356" y="5349240"/>
            <a:ext cx="1024128" cy="502920"/>
          </a:xfrm>
          <a:prstGeom prst="roundRect">
            <a:avLst>
              <a:gd name="adj" fmla="val 9091"/>
            </a:avLst>
          </a:prstGeom>
          <a:solidFill>
            <a:srgbClr val="B8860B"/>
          </a:solidFill>
          <a:ln/>
        </p:spPr>
      </p:sp>
      <p:sp>
        <p:nvSpPr>
          <p:cNvPr id="73" name="Text 70"/>
          <p:cNvSpPr/>
          <p:nvPr/>
        </p:nvSpPr>
        <p:spPr>
          <a:xfrm>
            <a:off x="2894076" y="5394960"/>
            <a:ext cx="932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mock: ID provider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6641287" y="5001768"/>
            <a:ext cx="0" cy="347472"/>
          </a:xfrm>
          <a:prstGeom prst="line">
            <a:avLst/>
          </a:prstGeom>
          <a:noFill/>
          <a:ln w="15875">
            <a:solidFill>
              <a:srgbClr val="B8860B"/>
            </a:solidFill>
            <a:prstDash val="solid"/>
            <a:tailEnd type="triangle"/>
          </a:ln>
        </p:spPr>
      </p:sp>
      <p:sp>
        <p:nvSpPr>
          <p:cNvPr id="75" name="Shape 72"/>
          <p:cNvSpPr/>
          <p:nvPr/>
        </p:nvSpPr>
        <p:spPr>
          <a:xfrm>
            <a:off x="6129223" y="5349240"/>
            <a:ext cx="1024128" cy="502920"/>
          </a:xfrm>
          <a:prstGeom prst="roundRect">
            <a:avLst>
              <a:gd name="adj" fmla="val 9091"/>
            </a:avLst>
          </a:prstGeom>
          <a:solidFill>
            <a:srgbClr val="B8860B"/>
          </a:solidFill>
          <a:ln/>
        </p:spPr>
      </p:sp>
      <p:sp>
        <p:nvSpPr>
          <p:cNvPr id="76" name="Text 73"/>
          <p:cNvSpPr/>
          <p:nvPr/>
        </p:nvSpPr>
        <p:spPr>
          <a:xfrm>
            <a:off x="6174943" y="5394960"/>
            <a:ext cx="932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mock: e-sign / doc store</a:t>
            </a:r>
            <a:endParaRPr lang="en-US" sz="800" dirty="0"/>
          </a:p>
        </p:txBody>
      </p:sp>
      <p:sp>
        <p:nvSpPr>
          <p:cNvPr id="77" name="Shape 74"/>
          <p:cNvSpPr/>
          <p:nvPr/>
        </p:nvSpPr>
        <p:spPr>
          <a:xfrm>
            <a:off x="7734910" y="5001768"/>
            <a:ext cx="0" cy="347472"/>
          </a:xfrm>
          <a:prstGeom prst="line">
            <a:avLst/>
          </a:prstGeom>
          <a:noFill/>
          <a:ln w="15875">
            <a:solidFill>
              <a:srgbClr val="B8860B"/>
            </a:solidFill>
            <a:prstDash val="solid"/>
            <a:tailEnd type="triangle"/>
          </a:ln>
        </p:spPr>
      </p:sp>
      <p:sp>
        <p:nvSpPr>
          <p:cNvPr id="78" name="Shape 75"/>
          <p:cNvSpPr/>
          <p:nvPr/>
        </p:nvSpPr>
        <p:spPr>
          <a:xfrm>
            <a:off x="7222846" y="5349240"/>
            <a:ext cx="1024128" cy="502920"/>
          </a:xfrm>
          <a:prstGeom prst="roundRect">
            <a:avLst>
              <a:gd name="adj" fmla="val 9091"/>
            </a:avLst>
          </a:prstGeom>
          <a:solidFill>
            <a:srgbClr val="B8860B"/>
          </a:solidFill>
          <a:ln/>
        </p:spPr>
      </p:sp>
      <p:sp>
        <p:nvSpPr>
          <p:cNvPr id="79" name="Text 76"/>
          <p:cNvSpPr/>
          <p:nvPr/>
        </p:nvSpPr>
        <p:spPr>
          <a:xfrm>
            <a:off x="7268566" y="5394960"/>
            <a:ext cx="932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mock: core banking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8828532" y="5001768"/>
            <a:ext cx="0" cy="347472"/>
          </a:xfrm>
          <a:prstGeom prst="line">
            <a:avLst/>
          </a:prstGeom>
          <a:noFill/>
          <a:ln w="15875">
            <a:solidFill>
              <a:srgbClr val="B8860B"/>
            </a:solidFill>
            <a:prstDash val="solid"/>
            <a:tailEnd type="triangle"/>
          </a:ln>
        </p:spPr>
      </p:sp>
      <p:sp>
        <p:nvSpPr>
          <p:cNvPr id="81" name="Shape 78"/>
          <p:cNvSpPr/>
          <p:nvPr/>
        </p:nvSpPr>
        <p:spPr>
          <a:xfrm>
            <a:off x="8316468" y="5349240"/>
            <a:ext cx="1024128" cy="502920"/>
          </a:xfrm>
          <a:prstGeom prst="roundRect">
            <a:avLst>
              <a:gd name="adj" fmla="val 9091"/>
            </a:avLst>
          </a:prstGeom>
          <a:solidFill>
            <a:srgbClr val="B8860B"/>
          </a:solidFill>
          <a:ln/>
        </p:spPr>
      </p:sp>
      <p:sp>
        <p:nvSpPr>
          <p:cNvPr id="82" name="Text 79"/>
          <p:cNvSpPr/>
          <p:nvPr/>
        </p:nvSpPr>
        <p:spPr>
          <a:xfrm>
            <a:off x="8362188" y="5394960"/>
            <a:ext cx="932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mock: card bureau</a:t>
            </a:r>
            <a:endParaRPr lang="en-US" sz="800" dirty="0"/>
          </a:p>
        </p:txBody>
      </p:sp>
      <p:sp>
        <p:nvSpPr>
          <p:cNvPr id="83" name="Text 80"/>
          <p:cNvSpPr/>
          <p:nvPr/>
        </p:nvSpPr>
        <p:spPr>
          <a:xfrm>
            <a:off x="685800" y="540410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each integration module builds and ships its own mock · 每个集成模块自带并交付自己的模拟依赖</a:t>
            </a:r>
            <a:endParaRPr lang="en-US" sz="900" dirty="0"/>
          </a:p>
        </p:txBody>
      </p:sp>
      <p:sp>
        <p:nvSpPr>
          <p:cNvPr id="84" name="Text 81"/>
          <p:cNvSpPr/>
          <p:nvPr/>
        </p:nvSpPr>
        <p:spPr>
          <a:xfrm>
            <a:off x="685800" y="617220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indent="0" marL="0">
              <a:buNone/>
            </a:pPr>
            <a:r>
              <a:rPr lang="en-US" sz="105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invoked by the orchestrator 由编排器调用      </a:t>
            </a:r>
            <a:pPr indent="0" marL="0">
              <a:buNone/>
            </a:pPr>
            <a:r>
              <a:rPr lang="en-US" sz="12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⇠⇢</a:t>
            </a:r>
            <a:pPr indent="0" marL="0">
              <a:buNone/>
            </a:pPr>
            <a:r>
              <a:rPr lang="en-US" sz="105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reads / observes 只读观察      </a:t>
            </a:r>
            <a:pPr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▮</a:t>
            </a:r>
            <a:pPr indent="0" marL="0">
              <a:buNone/>
            </a:pPr>
            <a:r>
              <a:rPr lang="en-US" sz="105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mocked downstream dependency 模拟的下游依赖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 · 平台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orchestrator sends each box</a:t>
            </a:r>
            <a:pPr algn="l" indent="0" marL="0">
              <a:buNone/>
            </a:pPr>
            <a:r>
              <a:rPr lang="en-US" sz="2000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编排器发给每个格子什么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85800" y="1737360"/>
            <a:ext cx="5294376" cy="1938528"/>
          </a:xfrm>
          <a:prstGeom prst="roundRect">
            <a:avLst>
              <a:gd name="adj" fmla="val 3774"/>
            </a:avLst>
          </a:prstGeom>
          <a:solidFill>
            <a:srgbClr val="1A1F29"/>
          </a:solidFill>
          <a:ln/>
        </p:spPr>
      </p:sp>
      <p:sp>
        <p:nvSpPr>
          <p:cNvPr id="6" name="Text 3"/>
          <p:cNvSpPr/>
          <p:nvPr/>
        </p:nvSpPr>
        <p:spPr>
          <a:xfrm>
            <a:off x="886968" y="1883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1–8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600200" y="1883664"/>
            <a:ext cx="4151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Application — via processApplication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86968" y="2340864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6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intake API per module: envelope { applicationId, correlationId, command, application, outputs } → 202 Accepted → decide off-thread → callback. Commands in journey order: verify-application → … → issue-card.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86968" y="3310128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 saga 模块共用同一个信封：应答 202，线下决策，再回调编排器。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208776" y="1737360"/>
            <a:ext cx="5294376" cy="1938528"/>
          </a:xfrm>
          <a:prstGeom prst="roundRect">
            <a:avLst>
              <a:gd name="adj" fmla="val 3774"/>
            </a:avLst>
          </a:prstGeom>
          <a:solidFill>
            <a:srgbClr val="1A1F29"/>
          </a:solidFill>
          <a:ln/>
        </p:spPr>
      </p:sp>
      <p:sp>
        <p:nvSpPr>
          <p:cNvPr id="11" name="Text 8"/>
          <p:cNvSpPr/>
          <p:nvPr/>
        </p:nvSpPr>
        <p:spPr>
          <a:xfrm>
            <a:off x="6409944" y="1883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123176" y="1883664"/>
            <a:ext cx="4151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…plus the contract, with sign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409944" y="2340864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6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Agreement Mgmt also serves the agreement itself: GET …/document returns the one-page PDF (byte-identical forever); the orchestrator-hosted signing page posts SIGN / DECLINE as signature-events.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409944" y="3310128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模块6还要提供协议 PDF 与签署事件接口；面向客户的页面属于模块00。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85800" y="3895344"/>
            <a:ext cx="5294376" cy="1938528"/>
          </a:xfrm>
          <a:prstGeom prst="roundRect">
            <a:avLst>
              <a:gd name="adj" fmla="val 3774"/>
            </a:avLst>
          </a:prstGeom>
          <a:solidFill>
            <a:srgbClr val="1A1F29"/>
          </a:solidFill>
          <a:ln/>
        </p:spPr>
      </p:sp>
      <p:sp>
        <p:nvSpPr>
          <p:cNvPr id="16" name="Text 13"/>
          <p:cNvSpPr/>
          <p:nvPr/>
        </p:nvSpPr>
        <p:spPr>
          <a:xfrm>
            <a:off x="886968" y="4041648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1600200" y="4041648"/>
            <a:ext cx="4151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Ticket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86968" y="4498848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6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saga step, but IS invoked: POST /support/execute, command open-case, with { category, description, channel }. The case lives for hours or days; ONE callback at closure — always completed.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886968" y="5468112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 saga 步骤，但会被调用：工单关闭时回调一次，结果永远是 completed。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208776" y="3895344"/>
            <a:ext cx="5294376" cy="1938528"/>
          </a:xfrm>
          <a:prstGeom prst="roundRect">
            <a:avLst>
              <a:gd name="adj" fmla="val 3774"/>
            </a:avLst>
          </a:prstGeom>
          <a:solidFill>
            <a:srgbClr val="1A1F29"/>
          </a:solidFill>
          <a:ln/>
        </p:spPr>
      </p:sp>
      <p:sp>
        <p:nvSpPr>
          <p:cNvPr id="21" name="Text 18"/>
          <p:cNvSpPr/>
          <p:nvPr/>
        </p:nvSpPr>
        <p:spPr>
          <a:xfrm>
            <a:off x="6409944" y="4041648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7123176" y="4041648"/>
            <a:ext cx="4151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— it comes and gets it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6409944" y="4498848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6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called directly. It reads the journey feed from the applications read API on its own schedule, stores snapshots, and answers every question from its own copies.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409944" y="5468112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从不被调用：按自己的节奏拉取旅程数据、存快照，用自己的副本回答一切。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685800" y="594360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Locked in api-contract.md — outcomes ride in outputs, statuses in the callback, reason codes per domain (VER_* · POL_* · KYC_* · SCR_* · CRE_* · AGR_* · ACC_* · CRD_*). · 契约已锁定在 api-contract.md。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 · 平台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00 on screen — Apply for a product</a:t>
            </a:r>
            <a:pPr indent="0" marL="0">
              <a:buNone/>
            </a:pPr>
            <a:r>
              <a:rPr lang="en-US" sz="1400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申请产品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the journey — step 0</a:t>
            </a:r>
            <a:pPr indent="0" marL="0">
              <a:buNone/>
            </a:pPr>
            <a:r>
              <a:rPr lang="en-US" sz="1150" i="1" dirty="0">
                <a:solidFill>
                  <a:srgbClr val="9A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the application form — module 00 owns the field list</a:t>
            </a:r>
            <a:endParaRPr lang="en-US" sz="1150" dirty="0"/>
          </a:p>
        </p:txBody>
      </p:sp>
      <p:pic>
        <p:nvPicPr>
          <p:cNvPr id="5" name="Image 0" descr="ov_unpacked/ppt/media/image-5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28800"/>
            <a:ext cx="6309360" cy="39684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69480" y="1828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FLOW · 流程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269480" y="2176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607808" y="2176272"/>
            <a:ext cx="3895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6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fills the one form — no module ever collects data itself.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269480" y="2752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607808" y="2752344"/>
            <a:ext cx="3895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6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Submit: the Application is stored, journey RECEIVED, reference app-1234 returned.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269480" y="33284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607808" y="3328416"/>
            <a:ext cx="3895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6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saga engine dispatches step 1 — verify-application — immediately.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269480" y="5175504"/>
            <a:ext cx="4233672" cy="1097280"/>
          </a:xfrm>
          <a:prstGeom prst="roundRect">
            <a:avLst>
              <a:gd name="adj" fmla="val 5000"/>
            </a:avLst>
          </a:prstGeom>
          <a:solidFill>
            <a:srgbClr val="1A1F29"/>
          </a:solidFill>
          <a:ln w="9525">
            <a:solidFill>
              <a:srgbClr val="FFC5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52360" y="52669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SERVICES INVOKED · 调用的服务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452360" y="557784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01 verification  </a:t>
            </a:r>
            <a:pPr indent="0" marL="0">
              <a:buNone/>
            </a:pPr>
            <a:r>
              <a:rPr lang="en-US" sz="950" dirty="0">
                <a:solidFill>
                  <a:srgbClr val="9A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dispatch, fired on submit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452360" y="588873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else  </a:t>
            </a:r>
            <a:pPr indent="0" marL="0">
              <a:buNone/>
            </a:pPr>
            <a:r>
              <a:rPr lang="en-US" sz="950" dirty="0">
                <a:solidFill>
                  <a:srgbClr val="9A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waits its turn in the saga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85800" y="598932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lives in module 00 — teams rely on it, they don't build it · 属于模块00：大家依赖它，但不用自己造它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 · 平台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00 on screen — Journey board</a:t>
            </a:r>
            <a:pPr indent="0" marL="0">
              <a:buNone/>
            </a:pPr>
            <a:r>
              <a:rPr lang="en-US" sz="1400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旅程看板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time — steps 1→8</a:t>
            </a:r>
            <a:pPr indent="0" marL="0">
              <a:buNone/>
            </a:pPr>
            <a:r>
              <a:rPr lang="en-US" sz="1150" i="1" dirty="0">
                <a:solidFill>
                  <a:srgbClr val="9A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every application, outcome at a glance</a:t>
            </a:r>
            <a:endParaRPr lang="en-US" sz="1150" dirty="0"/>
          </a:p>
        </p:txBody>
      </p:sp>
      <p:pic>
        <p:nvPicPr>
          <p:cNvPr id="5" name="Image 0" descr="ov_unpacked/ppt/media/image-6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28800"/>
            <a:ext cx="6309360" cy="39684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69480" y="1828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FLOW · 流程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269480" y="2176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607808" y="2176272"/>
            <a:ext cx="3895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6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board reads the orchestrator's own schema — applications + journey events, no hydration calls.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269480" y="2907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607808" y="2907792"/>
            <a:ext cx="3895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6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dispatch, 202 and callback appends an event; rows update live as the saga walks 1→8.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269480" y="3483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607808" y="3483864"/>
            <a:ext cx="3895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6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terminal state colours the outcome pill — COMPLETED · REFERRED · REJECTED.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269480" y="5175504"/>
            <a:ext cx="4233672" cy="1097280"/>
          </a:xfrm>
          <a:prstGeom prst="roundRect">
            <a:avLst>
              <a:gd name="adj" fmla="val 5000"/>
            </a:avLst>
          </a:prstGeom>
          <a:solidFill>
            <a:srgbClr val="1A1F29"/>
          </a:solidFill>
          <a:ln w="9525">
            <a:solidFill>
              <a:srgbClr val="FFC5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52360" y="52669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SERVICES INVOKED · 调用的服务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452360" y="557784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 </a:t>
            </a:r>
            <a:pPr indent="0" marL="0">
              <a:buNone/>
            </a:pPr>
            <a:r>
              <a:rPr lang="en-US" sz="950" dirty="0">
                <a:solidFill>
                  <a:srgbClr val="9A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drawn from module 00's own MySQL schema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452360" y="588873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 or real  </a:t>
            </a:r>
            <a:pPr indent="0" marL="0">
              <a:buNone/>
            </a:pPr>
            <a:r>
              <a:rPr lang="en-US" sz="950" dirty="0">
                <a:solidFill>
                  <a:srgbClr val="9A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board looks identical either way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85800" y="598932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lives in module 00 — teams rely on it, they don't build it · 属于模块00：大家依赖它，但不用自己造它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 · 平台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00 on screen — Journey detail + events</a:t>
            </a:r>
            <a:pPr indent="0" marL="0">
              <a:buNone/>
            </a:pPr>
            <a:r>
              <a:rPr lang="en-US" sz="1400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旅程详情与事件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every callback</a:t>
            </a:r>
            <a:pPr indent="0" marL="0">
              <a:buNone/>
            </a:pPr>
            <a:r>
              <a:rPr lang="en-US" sz="1150" i="1" dirty="0">
                <a:solidFill>
                  <a:srgbClr val="9A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the saga step-by-step, callback by callback</a:t>
            </a:r>
            <a:endParaRPr lang="en-US" sz="1150" dirty="0"/>
          </a:p>
        </p:txBody>
      </p:sp>
      <p:pic>
        <p:nvPicPr>
          <p:cNvPr id="5" name="Image 0" descr="ov_unpacked/ppt/media/image-7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28800"/>
            <a:ext cx="6309360" cy="39684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69480" y="1828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FLOW · 流程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269480" y="2176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607808" y="2176272"/>
            <a:ext cx="3895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6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step runs the same wire: dispatch → 202 Accepted → off-thread decision → callback.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269480" y="2752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607808" y="2752344"/>
            <a:ext cx="3895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6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callback advances the state machine and lands in the events feed — “my module never called back” shows up here first.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269480" y="3483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607808" y="3483864"/>
            <a:ext cx="3895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6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grow after steps 5–8 (limit/APR · agreementId · accountId · cardId); later steps read them from the envelope.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269480" y="5175504"/>
            <a:ext cx="4233672" cy="1097280"/>
          </a:xfrm>
          <a:prstGeom prst="roundRect">
            <a:avLst>
              <a:gd name="adj" fmla="val 5000"/>
            </a:avLst>
          </a:prstGeom>
          <a:solidFill>
            <a:srgbClr val="1A1F29"/>
          </a:solidFill>
          <a:ln w="9525">
            <a:solidFill>
              <a:srgbClr val="FFC5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52360" y="52669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SERVICES INVOKED · 调用的服务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452360" y="557784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01…08 in order  </a:t>
            </a:r>
            <a:pPr indent="0" marL="0">
              <a:buNone/>
            </a:pPr>
            <a:r>
              <a:rPr lang="en-US" sz="950" dirty="0">
                <a:solidFill>
                  <a:srgbClr val="9A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each: processApplication → 202 → callback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452360" y="588873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per-step flip  </a:t>
            </a:r>
            <a:pPr indent="0" marL="0">
              <a:buNone/>
            </a:pPr>
            <a:r>
              <a:rPr lang="en-US" sz="950" dirty="0">
                <a:solidFill>
                  <a:srgbClr val="9A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 until that team goes live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85800" y="598932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lives in module 00 — teams rely on it, they don't build it · 属于模块00：大家依赖它，但不用自己造它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 · 平台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00 on screen — Customer registry</a:t>
            </a:r>
            <a:pPr indent="0" marL="0">
              <a:buNone/>
            </a:pPr>
            <a:r>
              <a:rPr lang="en-US" sz="1400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客户名册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once, at COMPLETED</a:t>
            </a:r>
            <a:pPr indent="0" marL="0">
              <a:buNone/>
            </a:pPr>
            <a:r>
              <a:rPr lang="en-US" sz="1150" i="1" dirty="0">
                <a:solidFill>
                  <a:srgbClr val="9A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appended at journey completion — module 2 reads it</a:t>
            </a:r>
            <a:endParaRPr lang="en-US" sz="1150" dirty="0"/>
          </a:p>
        </p:txBody>
      </p:sp>
      <p:pic>
        <p:nvPicPr>
          <p:cNvPr id="5" name="Image 0" descr="ov_unpacked/ppt/media/image-8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28800"/>
            <a:ext cx="6309360" cy="39684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69480" y="1828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FLOW · 流程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269480" y="2176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607808" y="2176272"/>
            <a:ext cx="3895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6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journey reaches COMPLETED — only then is the customer appended and the customerId minted.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269480" y="2752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607808" y="2752344"/>
            <a:ext cx="3895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6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journey-completed notification writes the cardId back, so the account record links here.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269480" y="33284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607808" y="3328416"/>
            <a:ext cx="3895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6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LATER application meets this list at step 2 — the one-card-per-customer rule.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269480" y="4864608"/>
            <a:ext cx="4233672" cy="1408176"/>
          </a:xfrm>
          <a:prstGeom prst="roundRect">
            <a:avLst>
              <a:gd name="adj" fmla="val 3896"/>
            </a:avLst>
          </a:prstGeom>
          <a:solidFill>
            <a:srgbClr val="1A1F29"/>
          </a:solidFill>
          <a:ln w="9525">
            <a:solidFill>
              <a:srgbClr val="FFC5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52360" y="49560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SERVICES INVOKED · 调用的服务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452360" y="526694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by 00 only  </a:t>
            </a:r>
            <a:pPr indent="0" marL="0">
              <a:buNone/>
            </a:pPr>
            <a:r>
              <a:rPr lang="en-US" sz="950" dirty="0">
                <a:solidFill>
                  <a:srgbClr val="9A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journey completion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452360" y="557784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by → 02 policy  </a:t>
            </a:r>
            <a:pPr indent="0" marL="0">
              <a:buNone/>
            </a:pPr>
            <a:r>
              <a:rPr lang="en-US" sz="950" dirty="0">
                <a:solidFill>
                  <a:srgbClr val="9A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— one card per customer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452360" y="588873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write-back → 07 account  </a:t>
            </a:r>
            <a:pPr indent="0" marL="0">
              <a:buNone/>
            </a:pPr>
            <a:r>
              <a:rPr lang="en-US" sz="950" dirty="0">
                <a:solidFill>
                  <a:srgbClr val="9A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journey-completed carries the cardId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85800" y="598932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lives in module 00 — teams rely on it, they don't build it · 属于模块00：大家依赖它，但不用自己造它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 · 平台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00 on screen — Signing page</a:t>
            </a:r>
            <a:pPr indent="0" marL="0">
              <a:buNone/>
            </a:pPr>
            <a:r>
              <a:rPr lang="en-US" sz="1400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签署页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step 6 — journey parked</a:t>
            </a:r>
            <a:pPr indent="0" marL="0">
              <a:buNone/>
            </a:pPr>
            <a:r>
              <a:rPr lang="en-US" sz="1150" i="1" dirty="0">
                <a:solidFill>
                  <a:srgbClr val="9A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customer signs — the PDF is proxied from module 6</a:t>
            </a:r>
            <a:endParaRPr lang="en-US" sz="1150" dirty="0"/>
          </a:p>
        </p:txBody>
      </p:sp>
      <p:pic>
        <p:nvPicPr>
          <p:cNvPr id="5" name="Image 0" descr="ov_unpacked/ppt/media/image-9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28800"/>
            <a:ext cx="6309360" cy="39684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69480" y="1828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FLOW · 流程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269480" y="2176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607808" y="2176272"/>
            <a:ext cx="3895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6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request-signature makes the agreement PENDING — the journey parks and waits.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269480" y="2752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607808" y="2752344"/>
            <a:ext cx="3895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6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PDF is fetched from module 6 and proxied server-side — no CORS, no direct module access.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269480" y="33284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607808" y="3328416"/>
            <a:ext cx="3895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6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/ DECLINE posts a signature-event — idempotent, accepted only from PENDING.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269480" y="3904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607808" y="3904488"/>
            <a:ext cx="3895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6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 calls back → the journey resumes with step 7, open-card-account.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269480" y="5175504"/>
            <a:ext cx="4233672" cy="1097280"/>
          </a:xfrm>
          <a:prstGeom prst="roundRect">
            <a:avLst>
              <a:gd name="adj" fmla="val 5000"/>
            </a:avLst>
          </a:prstGeom>
          <a:solidFill>
            <a:srgbClr val="1A1F29"/>
          </a:solidFill>
          <a:ln w="9525">
            <a:solidFill>
              <a:srgbClr val="FFC53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52360" y="52669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SERVICES INVOKED · 调用的服务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452360" y="557784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06 agreement  </a:t>
            </a:r>
            <a:pPr indent="0" marL="0">
              <a:buNone/>
            </a:pPr>
            <a:r>
              <a:rPr lang="en-US" sz="950" dirty="0">
                <a:solidFill>
                  <a:srgbClr val="9A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/cases/{id}/document — proxy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7452360" y="588873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06 agreement  </a:t>
            </a:r>
            <a:pPr indent="0" marL="0">
              <a:buNone/>
            </a:pPr>
            <a:r>
              <a:rPr lang="en-US" sz="950" dirty="0">
                <a:solidFill>
                  <a:srgbClr val="9A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/cases/{id}/signature-events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85800" y="598932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lives in module 00 — teams rely on it, they don't build it · 属于模块00：大家依赖它，但不用自己造它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 · 平台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00 on screen — My agreement</a:t>
            </a:r>
            <a:pPr indent="0" marL="0">
              <a:buNone/>
            </a:pPr>
            <a:r>
              <a:rPr lang="en-US" sz="1400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我的协议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 onwards — forever</a:t>
            </a:r>
            <a:pPr indent="0" marL="0">
              <a:buNone/>
            </a:pPr>
            <a:r>
              <a:rPr lang="en-US" sz="1150" i="1" dirty="0">
                <a:solidFill>
                  <a:srgbClr val="9A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always viewable, actions depend on state</a:t>
            </a:r>
            <a:endParaRPr lang="en-US" sz="1150" dirty="0"/>
          </a:p>
        </p:txBody>
      </p:sp>
      <p:pic>
        <p:nvPicPr>
          <p:cNvPr id="5" name="Image 0" descr="ov_unpacked/ppt/media/image-10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28800"/>
            <a:ext cx="6309360" cy="39684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69480" y="1828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FLOW · 流程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269480" y="2176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607808" y="2176272"/>
            <a:ext cx="3895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6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from the moment the document exists — and forever, even after the journey ends.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269480" y="2752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607808" y="2752344"/>
            <a:ext cx="3895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6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the byte-identical stored PDF, never a regeneration — years later you can prove what was signed.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269480" y="3483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607808" y="3483864"/>
            <a:ext cx="3895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6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Buttons follow state: PENDING → sign / decline · SIGNED → download only · DECLINED / EXPIRED → view + status.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269480" y="5175504"/>
            <a:ext cx="4233672" cy="1097280"/>
          </a:xfrm>
          <a:prstGeom prst="roundRect">
            <a:avLst>
              <a:gd name="adj" fmla="val 5000"/>
            </a:avLst>
          </a:prstGeom>
          <a:solidFill>
            <a:srgbClr val="1A1F29"/>
          </a:solidFill>
          <a:ln w="9525">
            <a:solidFill>
              <a:srgbClr val="FFC5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52360" y="52669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SERVICES INVOKED · 调用的服务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452360" y="557784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06 agreement  </a:t>
            </a:r>
            <a:pPr indent="0" marL="0">
              <a:buNone/>
            </a:pPr>
            <a:r>
              <a:rPr lang="en-US" sz="950" dirty="0">
                <a:solidFill>
                  <a:srgbClr val="9A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document — the stored blob, proxied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452360" y="588873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else  </a:t>
            </a:r>
            <a:pPr indent="0" marL="0">
              <a:buNone/>
            </a:pPr>
            <a:r>
              <a:rPr lang="en-US" sz="950" dirty="0">
                <a:solidFill>
                  <a:srgbClr val="9A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other module is involved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85800" y="598932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lives in module 00 — teams rely on it, they don't build it · 属于模块00：大家依赖它，但不用自己造它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 · 平台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each box — </a:t>
            </a:r>
            <a:pPr indent="0" marL="0">
              <a:buNone/>
            </a:pPr>
            <a:r>
              <a:rPr lang="en-US" sz="22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Application Verification · 02 Customer Policy</a:t>
            </a:r>
            <a:pPr indent="0" marL="0">
              <a:buNone/>
            </a:pPr>
            <a:r>
              <a:rPr lang="en-US" sz="1400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模块内部</a:t>
            </a:r>
            <a:endParaRPr lang="en-US" sz="2200" dirty="0"/>
          </a:p>
        </p:txBody>
      </p:sp>
      <p:pic>
        <p:nvPicPr>
          <p:cNvPr id="4" name="Image 0" descr="ov_unpacked/ppt/media/image-11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8196" y="1572768"/>
            <a:ext cx="9052560" cy="2462231"/>
          </a:xfrm>
          <a:prstGeom prst="rect">
            <a:avLst/>
          </a:prstGeom>
        </p:spPr>
      </p:pic>
      <p:pic>
        <p:nvPicPr>
          <p:cNvPr id="5" name="Image 1" descr="ov_unpacked/ppt/media/image-11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196" y="4160520"/>
            <a:ext cx="9052560" cy="246223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5800" y="6638544"/>
            <a:ext cx="10817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orchestrator → module + internal rules → versioned config → mocked downstream (dashed) · 编排器 → 模块与规则 → 版本化配置 → 模拟下游（虚线）</a:t>
            </a:r>
            <a:endParaRPr lang="en-US" sz="8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 · 平台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each box — </a:t>
            </a:r>
            <a:pPr indent="0" marL="0">
              <a:buNone/>
            </a:pPr>
            <a:r>
              <a:rPr lang="en-US" sz="22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Identity (KYC) · 04 Fraud &amp; AML Screening</a:t>
            </a:r>
            <a:pPr indent="0" marL="0">
              <a:buNone/>
            </a:pPr>
            <a:r>
              <a:rPr lang="en-US" sz="1400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模块内部</a:t>
            </a:r>
            <a:endParaRPr lang="en-US" sz="2200" dirty="0"/>
          </a:p>
        </p:txBody>
      </p:sp>
      <p:pic>
        <p:nvPicPr>
          <p:cNvPr id="4" name="Image 0" descr="ov_unpacked/ppt/media/image-12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8196" y="1572768"/>
            <a:ext cx="9052560" cy="2462231"/>
          </a:xfrm>
          <a:prstGeom prst="rect">
            <a:avLst/>
          </a:prstGeom>
        </p:spPr>
      </p:pic>
      <p:pic>
        <p:nvPicPr>
          <p:cNvPr id="5" name="Image 1" descr="ov_unpacked/ppt/media/image-12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196" y="4160520"/>
            <a:ext cx="9052560" cy="2462231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 · 平台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each box — </a:t>
            </a:r>
            <a:pPr indent="0" marL="0">
              <a:buNone/>
            </a:pPr>
            <a:r>
              <a:rPr lang="en-US" sz="22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Credit Decisioning · 06 Agreement Mgmt</a:t>
            </a:r>
            <a:pPr indent="0" marL="0">
              <a:buNone/>
            </a:pPr>
            <a:r>
              <a:rPr lang="en-US" sz="1400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模块内部</a:t>
            </a:r>
            <a:endParaRPr lang="en-US" sz="2200" dirty="0"/>
          </a:p>
        </p:txBody>
      </p:sp>
      <p:pic>
        <p:nvPicPr>
          <p:cNvPr id="4" name="Image 0" descr="ov_unpacked/ppt/media/image-13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8196" y="1572768"/>
            <a:ext cx="9052560" cy="2462231"/>
          </a:xfrm>
          <a:prstGeom prst="rect">
            <a:avLst/>
          </a:prstGeom>
        </p:spPr>
      </p:pic>
      <p:pic>
        <p:nvPicPr>
          <p:cNvPr id="5" name="Image 1" descr="ov_unpacked/ppt/media/image-13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196" y="4160520"/>
            <a:ext cx="9052560" cy="2462231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 · 平台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each box — </a:t>
            </a:r>
            <a:pPr indent="0" marL="0">
              <a:buNone/>
            </a:pPr>
            <a:r>
              <a:rPr lang="en-US" sz="22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Card Account Setup · 08 Card Issuing</a:t>
            </a:r>
            <a:pPr indent="0" marL="0">
              <a:buNone/>
            </a:pPr>
            <a:r>
              <a:rPr lang="en-US" sz="1400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模块内部</a:t>
            </a:r>
            <a:endParaRPr lang="en-US" sz="2200" dirty="0"/>
          </a:p>
        </p:txBody>
      </p:sp>
      <p:pic>
        <p:nvPicPr>
          <p:cNvPr id="4" name="Image 0" descr="ov_unpacked/ppt/media/image-14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8196" y="1572768"/>
            <a:ext cx="9052560" cy="2462231"/>
          </a:xfrm>
          <a:prstGeom prst="rect">
            <a:avLst/>
          </a:prstGeom>
        </p:spPr>
      </p:pic>
      <p:pic>
        <p:nvPicPr>
          <p:cNvPr id="5" name="Image 1" descr="ov_unpacked/ppt/media/image-14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196" y="4160520"/>
            <a:ext cx="9052560" cy="2462231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 · 平台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each box — </a:t>
            </a:r>
            <a:pPr indent="0" marL="0">
              <a:buNone/>
            </a:pPr>
            <a:r>
              <a:rPr lang="en-US" sz="22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Customer Support · 10 Portfolio &amp; Reg. Analytics</a:t>
            </a:r>
            <a:pPr indent="0" marL="0">
              <a:buNone/>
            </a:pPr>
            <a:r>
              <a:rPr lang="en-US" sz="1400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模块内部</a:t>
            </a:r>
            <a:endParaRPr lang="en-US" sz="2200" dirty="0"/>
          </a:p>
        </p:txBody>
      </p:sp>
      <p:pic>
        <p:nvPicPr>
          <p:cNvPr id="4" name="Image 0" descr="ov_unpacked/ppt/media/image-15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8196" y="1572768"/>
            <a:ext cx="9052560" cy="2462231"/>
          </a:xfrm>
          <a:prstGeom prst="rect">
            <a:avLst/>
          </a:prstGeom>
        </p:spPr>
      </p:pic>
      <p:pic>
        <p:nvPicPr>
          <p:cNvPr id="5" name="Image 1" descr="ov_unpacked/ppt/media/image-15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196" y="4160520"/>
            <a:ext cx="9052560" cy="2462231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 · 平台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machine isn't sure — a specialist reviews the case</a:t>
            </a:r>
            <a:pPr indent="0" marL="0">
              <a:buNone/>
            </a:pPr>
            <a:r>
              <a:rPr lang="en-US" sz="1350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机器拿不准时，由专员复核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" y="1353312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modules 02–05 only — Customer Policy · Identity (KYC) · Screening · Credit Decisioning · 仅限模块02–05</a:t>
            </a:r>
            <a:endParaRPr lang="en-US" sz="1100" dirty="0"/>
          </a:p>
        </p:txBody>
      </p:sp>
      <p:pic>
        <p:nvPicPr>
          <p:cNvPr id="5" name="Image 0" descr="ov_unpacked/ppt/media/image-16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" y="1783080"/>
            <a:ext cx="10424160" cy="221770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420624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1A1F29"/>
          </a:solidFill>
          <a:ln/>
        </p:spPr>
      </p:sp>
      <p:sp>
        <p:nvSpPr>
          <p:cNvPr id="7" name="Text 4"/>
          <p:cNvSpPr/>
          <p:nvPr/>
        </p:nvSpPr>
        <p:spPr>
          <a:xfrm>
            <a:off x="886968" y="4334256"/>
            <a:ext cx="3163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ways in</a:t>
            </a:r>
            <a:pPr indent="0" marL="0">
              <a:buNone/>
            </a:pPr>
            <a:r>
              <a:rPr lang="en-US" sz="1000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两条进入路径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86968" y="4663440"/>
            <a:ext cx="316382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6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rules land on REVIEW / REFER — no clean yes or no. Or nothing is wrong at all: every X-th application is force-flagged (…_SAMPLED_FOR_REVIEW) so the queue gets traffic in every demo — QA sampling, like a real bank.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572000" y="420624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1A1F29"/>
          </a:solidFill>
          <a:ln/>
        </p:spPr>
      </p:sp>
      <p:sp>
        <p:nvSpPr>
          <p:cNvPr id="10" name="Text 7"/>
          <p:cNvSpPr/>
          <p:nvPr/>
        </p:nvSpPr>
        <p:spPr>
          <a:xfrm>
            <a:off x="4773168" y="4334256"/>
            <a:ext cx="3163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specialist's rule</a:t>
            </a:r>
            <a:pPr indent="0" marL="0">
              <a:buNone/>
            </a:pPr>
            <a:r>
              <a:rPr lang="en-US" sz="1000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专员的规则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773168" y="4663440"/>
            <a:ext cx="316382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6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review never replaces the machine: the module always computes and shows its own decision — rules fired, values seen, score, reason codes. The person sees the case AND the workings, and makes only the FINAL call.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8458200" y="420624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1A1F29"/>
          </a:solidFill>
          <a:ln/>
        </p:spPr>
      </p:sp>
      <p:sp>
        <p:nvSpPr>
          <p:cNvPr id="13" name="Text 10"/>
          <p:cNvSpPr/>
          <p:nvPr/>
        </p:nvSpPr>
        <p:spPr>
          <a:xfrm>
            <a:off x="8659368" y="4334256"/>
            <a:ext cx="3163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ways out</a:t>
            </a:r>
            <a:pPr indent="0" marL="0">
              <a:buNone/>
            </a:pPr>
            <a:r>
              <a:rPr lang="en-US" sz="1000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两个出口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659368" y="4663440"/>
            <a:ext cx="316382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6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it → callback local-manual — the journey RESUMES as if the step passed. Refer it up → callback application-manual — the journey ends REFERRED. Either way the orchestrator never sees the queue.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85800" y="617220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Elena Petrova walks this path live: screening flags her high-risk residence, the specialist clears it, her journey completes. · Elena 现场走通这条路：筛查标记 → 专员放行 → 旅程完成。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 · 平台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one box alone — the orchestrator as a sidecar</a:t>
            </a:r>
            <a:pPr indent="0" marL="0">
              <a:buNone/>
            </a:pPr>
            <a:r>
              <a:rPr lang="en-US" sz="1400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单独构建你的格子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6CB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You never need the other nine modules running: a tiny orchestrator simulator plays module 00's part — same wire, same envelopes. · 你不需要其他九个模块在跑：一个小小的编排器模拟器扮演模块00——同一条线、同样的信封。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85800" y="1993392"/>
            <a:ext cx="1081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A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laptop · docker compose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51560" y="2331720"/>
            <a:ext cx="4297680" cy="2331720"/>
          </a:xfrm>
          <a:prstGeom prst="roundRect">
            <a:avLst>
              <a:gd name="adj" fmla="val 3137"/>
            </a:avLst>
          </a:prstGeom>
          <a:solidFill>
            <a:srgbClr val="1A1F29"/>
          </a:solidFill>
          <a:ln w="19050">
            <a:solidFill>
              <a:srgbClr val="FFC5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246888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YOUR MODULE 你的模块</a:t>
            </a:r>
            <a:endParaRPr lang="en-US" sz="1400" dirty="0"/>
          </a:p>
          <a:p>
            <a:pPr indent="0" marL="0">
              <a:buNone/>
            </a:pPr>
            <a:r>
              <a:rPr lang="en-US" sz="950" i="1" dirty="0">
                <a:solidFill>
                  <a:srgbClr val="9A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real box under test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310896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6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— processApplication · cases · override · /health · /info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6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rules / integration — your actual work, plus your own downstream mocks</a:t>
            </a:r>
            <a:endParaRPr lang="en-US" sz="9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950" dirty="0">
                <a:solidFill>
                  <a:srgbClr val="C6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(own schema) + admin UI — Liquibase migrations · React board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39712" y="2331720"/>
            <a:ext cx="4297680" cy="2331720"/>
          </a:xfrm>
          <a:prstGeom prst="roundRect">
            <a:avLst>
              <a:gd name="adj" fmla="val 3137"/>
            </a:avLst>
          </a:prstGeom>
          <a:solidFill>
            <a:srgbClr val="FFC53D"/>
          </a:solidFill>
          <a:ln/>
        </p:spPr>
      </p:sp>
      <p:sp>
        <p:nvSpPr>
          <p:cNvPr id="10" name="Text 8"/>
          <p:cNvSpPr/>
          <p:nvPr/>
        </p:nvSpPr>
        <p:spPr>
          <a:xfrm>
            <a:off x="7068312" y="246888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ORCHESTRATOR SIM 编排器模拟器</a:t>
            </a:r>
            <a:endParaRPr lang="en-US" sz="1400" dirty="0"/>
          </a:p>
          <a:p>
            <a:pPr indent="0" marL="0">
              <a:buNone/>
            </a:pPr>
            <a:r>
              <a:rPr lang="en-US" sz="950" i="1" dirty="0">
                <a:solidFill>
                  <a:srgbClr val="6B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sidecar container — plays module 00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068312" y="310896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 seeded processApplication envelopes — the ten cast applications, replayable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GET /applications/{id} so payload hydration works</a:t>
            </a:r>
            <a:endParaRPr lang="en-US" sz="9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9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Receives your 202s + callbacks, logs them, checks the contract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58968" y="2834640"/>
            <a:ext cx="1271016" cy="0"/>
          </a:xfrm>
          <a:prstGeom prst="line">
            <a:avLst/>
          </a:prstGeom>
          <a:noFill/>
          <a:ln w="19050">
            <a:solidFill>
              <a:srgbClr val="FFC53D"/>
            </a:solidFill>
            <a:prstDash val="solid"/>
            <a:headEnd type="triangle"/>
          </a:ln>
        </p:spPr>
      </p:sp>
      <p:sp>
        <p:nvSpPr>
          <p:cNvPr id="13" name="Text 11"/>
          <p:cNvSpPr/>
          <p:nvPr/>
        </p:nvSpPr>
        <p:spPr>
          <a:xfrm>
            <a:off x="5276088" y="2532888"/>
            <a:ext cx="1636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processApplication (envelope)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58968" y="3520440"/>
            <a:ext cx="1271016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276088" y="3218688"/>
            <a:ext cx="1636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 · then callback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458968" y="4206240"/>
            <a:ext cx="1271016" cy="0"/>
          </a:xfrm>
          <a:prstGeom prst="line">
            <a:avLst/>
          </a:prstGeom>
          <a:noFill/>
          <a:ln w="15875">
            <a:solidFill>
              <a:srgbClr val="9AA1AD"/>
            </a:solidFill>
            <a:prstDash val="dash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5276088" y="3904488"/>
            <a:ext cx="1636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A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/applications/{id}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85800" y="50292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1A1F29"/>
          </a:solidFill>
          <a:ln/>
        </p:spPr>
      </p:sp>
      <p:sp>
        <p:nvSpPr>
          <p:cNvPr id="19" name="Text 17"/>
          <p:cNvSpPr/>
          <p:nvPr/>
        </p:nvSpPr>
        <p:spPr>
          <a:xfrm>
            <a:off x="886968" y="5138928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wire as production</a:t>
            </a:r>
            <a:pPr indent="0" marL="0">
              <a:buNone/>
            </a:pPr>
            <a:r>
              <a:rPr lang="en-US" sz="950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与生产同一条线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86968" y="5449824"/>
            <a:ext cx="316382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6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Envelopes, 202s, callbacks, hydration GET — nothing in your module knows it is talking to a stand-in.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0" y="50292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1A1F29"/>
          </a:solidFill>
          <a:ln/>
        </p:spPr>
      </p:sp>
      <p:sp>
        <p:nvSpPr>
          <p:cNvPr id="22" name="Text 20"/>
          <p:cNvSpPr/>
          <p:nvPr/>
        </p:nvSpPr>
        <p:spPr>
          <a:xfrm>
            <a:off x="4773168" y="5138928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Seeded scenarios</a:t>
            </a:r>
            <a:pPr indent="0" marL="0">
              <a:buNone/>
            </a:pPr>
            <a:r>
              <a:rPr lang="en-US" sz="950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内置十个剧本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73168" y="5449824"/>
            <a:ext cx="316382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6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replays the ten cast applicants (Maria, Daniel, Marek…) deterministically — happy path, referrals and rejections on demand, offline.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458200" y="50292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1A1F29"/>
          </a:solidFill>
          <a:ln/>
        </p:spPr>
      </p:sp>
      <p:sp>
        <p:nvSpPr>
          <p:cNvPr id="25" name="Text 23"/>
          <p:cNvSpPr/>
          <p:nvPr/>
        </p:nvSpPr>
        <p:spPr>
          <a:xfrm>
            <a:off x="8659368" y="5138928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Go-live is a config flip</a:t>
            </a:r>
            <a:pPr indent="0" marL="0">
              <a:buNone/>
            </a:pPr>
            <a:r>
              <a:rPr lang="en-US" sz="950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上线只改一个配置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659368" y="5449824"/>
            <a:ext cx="316382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6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the base URL at the real module 00 and pass its contract self-check — the sidecar retires, your box slots in unchanged.</a:t>
            </a:r>
            <a:endParaRPr lang="en-US" sz="9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 · 平台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106070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team owns one module — one repo, one box on the map, one chapter of the same story.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85800" y="452628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每个团队负责一个模块——一个仓库、地图上的一个格子、同一个故事中的一章。</a:t>
            </a:r>
            <a:endParaRPr lang="en-US" sz="23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 · 平台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106070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journey already runs as a mock — your job is to replace your box with the real thing.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85800" y="452628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整条旅程已经可以用模拟系统跑通——你们的任务，就是用真实系统换掉属于你的那个格子。</a:t>
            </a:r>
            <a:endParaRPr lang="en-US" sz="23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 · 平台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not starting from scratch</a:t>
            </a:r>
            <a:pPr algn="l" indent="0" marL="0">
              <a:buNone/>
            </a:pPr>
            <a:r>
              <a:rPr lang="en-US" sz="2000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你们不是从零开始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85800" y="16916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Last week we united everything you used in this course into one base template repository. · 上周，我们把课程中用到的所有技术整合成一个基础模板仓库。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85800" y="269748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A1F29"/>
          </a:solidFill>
          <a:ln/>
        </p:spPr>
      </p:sp>
      <p:sp>
        <p:nvSpPr>
          <p:cNvPr id="7" name="Text 4"/>
          <p:cNvSpPr/>
          <p:nvPr/>
        </p:nvSpPr>
        <p:spPr>
          <a:xfrm>
            <a:off x="905256" y="2843784"/>
            <a:ext cx="2167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backend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05256" y="3264408"/>
            <a:ext cx="2167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575304" y="269748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A1F29"/>
          </a:solidFill>
          <a:ln/>
        </p:spPr>
      </p:sp>
      <p:sp>
        <p:nvSpPr>
          <p:cNvPr id="10" name="Text 7"/>
          <p:cNvSpPr/>
          <p:nvPr/>
        </p:nvSpPr>
        <p:spPr>
          <a:xfrm>
            <a:off x="3794760" y="2843784"/>
            <a:ext cx="2167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frontend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3794760" y="3264408"/>
            <a:ext cx="2167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64808" y="269748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A1F29"/>
          </a:solidFill>
          <a:ln/>
        </p:spPr>
      </p:sp>
      <p:sp>
        <p:nvSpPr>
          <p:cNvPr id="13" name="Text 10"/>
          <p:cNvSpPr/>
          <p:nvPr/>
        </p:nvSpPr>
        <p:spPr>
          <a:xfrm>
            <a:off x="6684264" y="2843784"/>
            <a:ext cx="2167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6684264" y="3264408"/>
            <a:ext cx="2167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9354312" y="269748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A1F29"/>
          </a:solidFill>
          <a:ln/>
        </p:spPr>
      </p:sp>
      <p:sp>
        <p:nvSpPr>
          <p:cNvPr id="16" name="Text 13"/>
          <p:cNvSpPr/>
          <p:nvPr/>
        </p:nvSpPr>
        <p:spPr>
          <a:xfrm>
            <a:off x="9573768" y="2843784"/>
            <a:ext cx="2167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Liquibase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9573768" y="3264408"/>
            <a:ext cx="2167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数据库版本管理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85800" y="39776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A1F29"/>
          </a:solidFill>
          <a:ln/>
        </p:spPr>
      </p:sp>
      <p:sp>
        <p:nvSpPr>
          <p:cNvPr id="19" name="Text 16"/>
          <p:cNvSpPr/>
          <p:nvPr/>
        </p:nvSpPr>
        <p:spPr>
          <a:xfrm>
            <a:off x="905256" y="4123944"/>
            <a:ext cx="2167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+ compose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905256" y="4544568"/>
            <a:ext cx="2167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容器化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3575304" y="39776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A1F29"/>
          </a:solidFill>
          <a:ln/>
        </p:spPr>
      </p:sp>
      <p:sp>
        <p:nvSpPr>
          <p:cNvPr id="22" name="Text 19"/>
          <p:cNvSpPr/>
          <p:nvPr/>
        </p:nvSpPr>
        <p:spPr>
          <a:xfrm>
            <a:off x="3794760" y="4123944"/>
            <a:ext cx="2167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3794760" y="4544568"/>
            <a:ext cx="2167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CI/CD 流水线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464808" y="39776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A1F29"/>
          </a:solidFill>
          <a:ln/>
        </p:spPr>
      </p:sp>
      <p:sp>
        <p:nvSpPr>
          <p:cNvPr id="25" name="Text 22"/>
          <p:cNvSpPr/>
          <p:nvPr/>
        </p:nvSpPr>
        <p:spPr>
          <a:xfrm>
            <a:off x="6684264" y="4123944"/>
            <a:ext cx="2167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1550" dirty="0"/>
          </a:p>
        </p:txBody>
      </p:sp>
      <p:sp>
        <p:nvSpPr>
          <p:cNvPr id="26" name="Text 23"/>
          <p:cNvSpPr/>
          <p:nvPr/>
        </p:nvSpPr>
        <p:spPr>
          <a:xfrm>
            <a:off x="6684264" y="4544568"/>
            <a:ext cx="2167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9354312" y="39776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A1F29"/>
          </a:solidFill>
          <a:ln/>
        </p:spPr>
      </p:sp>
      <p:sp>
        <p:nvSpPr>
          <p:cNvPr id="28" name="Text 25"/>
          <p:cNvSpPr/>
          <p:nvPr/>
        </p:nvSpPr>
        <p:spPr>
          <a:xfrm>
            <a:off x="9573768" y="4123944"/>
            <a:ext cx="2167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</a:t>
            </a:r>
            <a:endParaRPr lang="en-US" sz="1550" dirty="0"/>
          </a:p>
        </p:txBody>
      </p:sp>
      <p:sp>
        <p:nvSpPr>
          <p:cNvPr id="29" name="Text 26"/>
          <p:cNvSpPr/>
          <p:nvPr/>
        </p:nvSpPr>
        <p:spPr>
          <a:xfrm>
            <a:off x="9573768" y="4544568"/>
            <a:ext cx="2167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代码仓库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685800" y="53949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C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real working environment — engineers rarely begin with an empty folder. · 这就是真实的工作环境——工程师很少从一个空文件夹开始。</a:t>
            </a:r>
            <a:endParaRPr lang="en-US" sz="13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C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8A6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GO · 出发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828800"/>
            <a:ext cx="10607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a bank.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685800" y="44348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我们一起，建一家银行。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58064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6A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Up next: your team's project brief · 接下来：各队项目简报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2026-07-26T16:17:54Z</dcterms:created>
  <dcterms:modified xsi:type="dcterms:W3CDTF">2026-07-26T16:17:54Z</dcterms:modified>
</cp:coreProperties>
</file>